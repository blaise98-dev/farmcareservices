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Jean Claude Bikorimana, one of the project partners at Action Family Tech, and this is FarmCare: AI and IoT for climate-smart dairy farming in Rwanda. The picture is our full system architecture. Everything in this deck is marked as live, prototype, planned, or not yet measured, because we would rather show you an honest gap than an unsupported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every glass of milk is a farmer fighting the odds. Mastitis, rejected milk and missed heat windows drain income every day. The status quo is the real competitor: paper records and calling the vet once a cow is visibly sick. Agrotag gives records and tags; Difarm gives single-purpose monitoring; imported systems do everything at prices no smallholder can pay. FarmCare connects the whole chain on low-cost local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FarmCare is three low-cost devices and one platform. The dashboard is live online. All three devices run in a working cowshed in Kanyinya, Nyarugenge, and stream live readings into it, as the demo video shows. We place ourselves at TRL 6, a working application: the platform runs live online and the devices run in a real cowshed. TRL 7, proof of application, needs results from a pilot. The AI models are the next build, and moving to a real pilot is what this support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challenge is about climate-smart agriculture, and FarmCare touches all three pillars. Adaptation: the barn monitor already switches fans and spray when heat crosses 30 degrees, which protects yield as barns warm. Mitigation: our gas sensors track ammonia, CO2 and methane-type gases from manure and urine; they are not yet calibrated to parts per million. Biogas monitoring is planned. Productivity: more milk per cow, rather than more cows, lowers emissions per litre, a hypothesis our pilot will test. The AI emission early warning and NDC reporting are planned,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precise about the word AI. What runs today is statistical, not machine learning: each cow gets a risk score from clinical vital-sign ranges plus how far her readings drift from her own 14-day average, for example 2.7 standard deviations. Alongside it run veterinary thresholds, RFID identity, ultrasonic milk measurement and automatic pump, fan and spray control. The four models in the table are designed, and the data pipeline that feeds them is live, but none is trained yet, because training needs labelled farm data: heats confirmed by insemination outcome, milk confirmed by collection-centre tests, and vet diagnoses.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reading in the right-hand column comes from our demo video, recorded in the Kanyinya cowshed. One known issue: the collar’s temperature probe reads about 32 degrees, below a cow’s core of about 38.5, so it flags hypothermia; we are improving its placement. What we cannot yet give you is a detection accuracy or false-alarm rate on real cows over time; that needs the pilot. Our TRL 6 evidence is the live platform plus the devices running in a working cowshed, shown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run both journeys live, as in the demo video. Journey A: open Cow Health and show Kibumba flagged At Risk, with the reasons and her live location. Journey B: scan a tag, pour milk into the container, watch the litres rise, and press Record Milk. Keep the demo video open in another tab in case the connection drops. Do not open the Herd Analytics activity chart: its activity values are placeholders, not sensor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one pilot farm, the cowshed in Kanyinya, Nyarugenge, and four registered users, one for each role: administrator, farmer, veterinarian and technician. Nobody pays yet. We keep the four categories the panel asked for separate, so nothing intended is read as achieved. We have no impact numbers; what we have is a measurement design the platform already supports. Numeric targets will be agreed with the pilot cooperative and reported whether results are good or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revenue streams: kits priced close to the cost of low-cost ESP32 parts, a monthly subscription aimed at cooperatives and commercial farms, and institutional contracts with processors such as Inyange and Mukamira, NGOs, banks and insurers. Selling through cooperatives and institutions keeps the cost of reaching each farmer low. FarmCare itself has earned nothing yet; the company’s RWF 3 million turnover last year came from informal side projects: AI consultancy, IoT design and technical support for other clients. None of it came from FarmCare, and it helped fund the prototype. How we priced the kit: the Milking Station parts (ESP32, RFID reader, ultrasonic sensor, TDS and temperature probes, container, enclosure, power) cost about RWF 77,000 in Kigali, plus assembly, so about RWF 100,000. The Barn Monitor parts (ESP32, temperature and gas sensors, load cell, tank sensor, pump, fan, relays, spray line, display, power) cost about RWF 195,000, plus installation, so about RWF 250,000. Each collar (NodeMCU, temperature, pulse, motion and GPS sensors, battery, strap) costs about RWF 68,000, so about RWF 85,000. A five-cow farm with one station, one barn monitor and two collars pays about RWF 520,000, spread over cooperative or SACCO instalments; cooperatives can share one Milking Station at the collection point. The subscription is 3% of the milk each farm sells through its cooperative, deducted at the collection centre the way cooperatives already deduct fees. A farm selling 600 litres a month at about RWF 400 per litre pays about RWF 7,200; in dry months it pays nothing, and no farm pays more than RWF 10,000 a month. The Milking Station measures the litres, so the fee rests on our own data. We chose 3% rather than 5 or 10% because farm margins are thin; we can raise it once the pilot proves the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project partners, all co-owners, covering the three areas the panel asked about. Technical development: Blaise, Eric and Enock. Agricultural and climate validation: Egide. Field operations: Jean Claude and Elina. Our honest gap is veterinary validation, and we name it. We have no signed partners yet. Q and A owners: AI and software, Blaise; hardware, Eric; machine learning and data security, Enock; climate, Egide; farmers and sales, Elina; strategy and partners, Jean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is commodity ESP32 and NodeMCU parts available across Africa, and the platform already supports many farms and regions. What changes per country is data, language, telecom access, regulation and the anchor partner. Each new country starts with a local cooperative or institutional partner, the same model as in Rwanda.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this support pays for the production run, the first cooperative pilot and the dataset that trains our first models. Then hand over to the Q and A owners listed on the team slide. If we do not have a number,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armCare Dark">
    <p:bg>
      <p:bgPr>
        <a:solidFill>
          <a:srgbClr val="1B3B2F"/>
        </a:solidFill>
      </p:bgPr>
    </p:bg>
    <p:spTree>
      <p:nvGrpSpPr>
        <p:cNvPr id="1" name=""/>
        <p:cNvGrpSpPr/>
        <p:nvPr/>
      </p:nvGrpSpPr>
      <p:grpSpPr>
        <a:xfrm>
          <a:off x="0" y="0"/>
          <a:ext cx="0" cy="0"/>
          <a:chOff x="0" y="0"/>
          <a:chExt cx="0" cy="0"/>
        </a:xfrm>
      </p:grpSpPr>
      <p:sp>
        <p:nvSpPr>
          <p:cNvPr id="2" name="Text 0"/>
          <p:cNvSpPr/>
          <p:nvPr/>
        </p:nvSpPr>
        <p:spPr>
          <a:xfrm>
            <a:off x="548640" y="6455664"/>
            <a:ext cx="9875520" cy="237744"/>
          </a:xfrm>
          <a:prstGeom prst="rect">
            <a:avLst/>
          </a:prstGeom>
          <a:noFill/>
          <a:ln/>
        </p:spPr>
        <p:txBody>
          <a:bodyPr wrap="square" lIns="0" tIns="0" rIns="0" bIns="0" rtlCol="0" anchor="ctr"/>
          <a:lstStyle/>
          <a:p>
            <a:pPr indent="0" marL="0">
              <a:buNone/>
            </a:pPr>
            <a:r>
              <a:rPr lang="en-US" sz="1000" dirty="0">
                <a:solidFill>
                  <a:srgbClr val="AFC4B5"/>
                </a:solidFill>
                <a:latin typeface="Calibri" pitchFamily="34" charset="0"/>
                <a:ea typeface="Calibri" pitchFamily="34" charset="-122"/>
                <a:cs typeface="Calibri" pitchFamily="34" charset="-120"/>
              </a:rPr>
              <a:t>ACTION FAMILY TECH LTD  ·  https://farmcareservices.com/  ·  bikorimanajeanclaude12@gmail.com  ·  +250 786 144 292</a:t>
            </a:r>
            <a:endParaRPr lang="en-US" sz="100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armCare Light">
    <p:bg>
      <p:bgPr>
        <a:solidFill>
          <a:srgbClr val="F3F7F1"/>
        </a:solidFill>
      </p:bgPr>
    </p:bg>
    <p:spTree>
      <p:nvGrpSpPr>
        <p:cNvPr id="1" name=""/>
        <p:cNvGrpSpPr/>
        <p:nvPr/>
      </p:nvGrpSpPr>
      <p:grpSpPr>
        <a:xfrm>
          <a:off x="0" y="0"/>
          <a:ext cx="0" cy="0"/>
          <a:chOff x="0" y="0"/>
          <a:chExt cx="0" cy="0"/>
        </a:xfrm>
      </p:grpSpPr>
      <p:sp>
        <p:nvSpPr>
          <p:cNvPr id="2" name="Text 0"/>
          <p:cNvSpPr/>
          <p:nvPr/>
        </p:nvSpPr>
        <p:spPr>
          <a:xfrm>
            <a:off x="548640" y="6455664"/>
            <a:ext cx="9875520" cy="237744"/>
          </a:xfrm>
          <a:prstGeom prst="rect">
            <a:avLst/>
          </a:prstGeom>
          <a:noFill/>
          <a:ln/>
        </p:spPr>
        <p:txBody>
          <a:bodyPr wrap="square" lIns="0" tIns="0" rIns="0" bIns="0" rtlCol="0" anchor="ctr"/>
          <a:lstStyle/>
          <a:p>
            <a:pPr indent="0" marL="0">
              <a:buNone/>
            </a:pPr>
            <a:r>
              <a:rPr lang="en-US" sz="1000" dirty="0">
                <a:solidFill>
                  <a:srgbClr val="5C6B60"/>
                </a:solidFill>
                <a:latin typeface="Calibri" pitchFamily="34" charset="0"/>
                <a:ea typeface="Calibri" pitchFamily="34" charset="-122"/>
                <a:cs typeface="Calibri" pitchFamily="34" charset="-120"/>
              </a:rPr>
              <a:t>ACTION FAMILY TECH LTD  ·  https://farmcareservices.com/  ·  bikorimanajeanclaude12@gmail.com  ·  +250 786 144 292</a:t>
            </a:r>
            <a:endParaRPr lang="en-US" sz="100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armCare Cover">
    <p:bg>
      <p:bgPr>
        <a:solidFill>
          <a:srgbClr val="1B3B2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7.png"/><Relationship Id="rId9" Type="http://schemas.openxmlformats.org/officeDocument/2006/relationships/image" Target="../media/image-3-7.png"/><Relationship Id="rId10" Type="http://schemas.openxmlformats.org/officeDocument/2006/relationships/image" Target="../media/image-3-7.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drive/folders/1cXWoP43vA5QlikAjmc9I1_E-MFnjQMVk" TargetMode="External"/><Relationship Id="rId1" Type="http://schemas.openxmlformats.org/officeDocument/2006/relationships/image" Target="../media/image-7-1.jpg"/><Relationship Id="rId2" Type="http://schemas.openxmlformats.org/officeDocument/2006/relationships/image" Target="../media/image-7-2.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0" y="0"/>
            <a:ext cx="6705295" cy="6858000"/>
          </a:xfrm>
          <a:prstGeom prst="rect">
            <a:avLst/>
          </a:prstGeom>
          <a:solidFill>
            <a:srgbClr val="F3F7F1"/>
          </a:solidFill>
          <a:ln w="12700">
            <a:solidFill>
              <a:srgbClr val="F3F7F1"/>
            </a:solidFill>
            <a:prstDash val="solid"/>
          </a:ln>
        </p:spPr>
      </p:sp>
      <p:pic>
        <p:nvPicPr>
          <p:cNvPr id="3" name="Image 0" descr="FarmCare system architecture: smart cow sensors, environment sensors, automated control, central controller, milking system, cloud database, AI analytics, dashboard and SMS alerts">    </p:cNvPr>
          <p:cNvPicPr>
            <a:picLocks noChangeAspect="1"/>
          </p:cNvPicPr>
          <p:nvPr/>
        </p:nvPicPr>
        <p:blipFill>
          <a:blip r:embed="rId1"/>
          <a:stretch>
            <a:fillRect/>
          </a:stretch>
        </p:blipFill>
        <p:spPr>
          <a:xfrm>
            <a:off x="5779008" y="566928"/>
            <a:ext cx="6126480" cy="4997196"/>
          </a:xfrm>
          <a:prstGeom prst="rect">
            <a:avLst/>
          </a:prstGeom>
          <a:effectLst>
            <a:outerShdw sx="100000" sy="100000" kx="0" ky="0" algn="bl" rotWithShape="0" blurRad="76200" dist="25400" dir="5400000">
              <a:srgbClr val="000000">
                <a:alpha val="12000"/>
              </a:srgbClr>
            </a:outerShdw>
          </a:effectLst>
        </p:spPr>
      </p:pic>
      <p:sp>
        <p:nvSpPr>
          <p:cNvPr id="4" name="Text 1"/>
          <p:cNvSpPr txBox="1"/>
          <p:nvPr/>
        </p:nvSpPr>
        <p:spPr>
          <a:xfrm>
            <a:off x="5779008" y="5715000"/>
            <a:ext cx="6126480" cy="274320"/>
          </a:xfrm>
          <a:prstGeom prst="rect">
            <a:avLst/>
          </a:prstGeom>
          <a:noFill/>
          <a:ln/>
        </p:spPr>
        <p:txBody>
          <a:bodyPr wrap="square" lIns="0" tIns="0" rIns="0" bIns="0" rtlCol="0" anchor="t"/>
          <a:lstStyle/>
          <a:p>
            <a:pPr algn="ctr" indent="0" marL="0">
              <a:buNone/>
            </a:pPr>
            <a:r>
              <a:rPr lang="en-US" sz="1100" i="1" dirty="0">
                <a:solidFill>
                  <a:srgbClr val="5C6B60"/>
                </a:solidFill>
                <a:latin typeface="Calibri" pitchFamily="34" charset="0"/>
                <a:ea typeface="Calibri" pitchFamily="34" charset="-122"/>
                <a:cs typeface="Calibri" pitchFamily="34" charset="-120"/>
              </a:rPr>
              <a:t>FarmCare system architecture: sensors, control, cloud, AI and alerts</a:t>
            </a:r>
            <a:endParaRPr lang="en-US" sz="1100" dirty="0"/>
          </a:p>
        </p:txBody>
      </p:sp>
      <p:sp>
        <p:nvSpPr>
          <p:cNvPr id="5" name="Text 2"/>
          <p:cNvSpPr txBox="1"/>
          <p:nvPr/>
        </p:nvSpPr>
        <p:spPr>
          <a:xfrm>
            <a:off x="548640" y="1051560"/>
            <a:ext cx="4572000" cy="274320"/>
          </a:xfrm>
          <a:prstGeom prst="rect">
            <a:avLst/>
          </a:prstGeom>
          <a:noFill/>
          <a:ln/>
        </p:spPr>
        <p:txBody>
          <a:bodyPr wrap="square" lIns="0" tIns="0" rIns="0" bIns="0" rtlCol="0" anchor="t"/>
          <a:lstStyle/>
          <a:p>
            <a:pPr indent="0" marL="0">
              <a:buNone/>
            </a:pPr>
            <a:r>
              <a:rPr lang="en-US" sz="1200" b="1" spc="300" kern="0" dirty="0">
                <a:solidFill>
                  <a:srgbClr val="E07A3E"/>
                </a:solidFill>
                <a:latin typeface="Calibri" pitchFamily="34" charset="0"/>
                <a:ea typeface="Calibri" pitchFamily="34" charset="-122"/>
                <a:cs typeface="Calibri" pitchFamily="34" charset="-120"/>
              </a:rPr>
              <a:t>ACTION FAMILY TECH LTD.</a:t>
            </a:r>
            <a:endParaRPr lang="en-US" sz="1200" dirty="0"/>
          </a:p>
        </p:txBody>
      </p:sp>
      <p:sp>
        <p:nvSpPr>
          <p:cNvPr id="6" name="Text 3"/>
          <p:cNvSpPr txBox="1"/>
          <p:nvPr/>
        </p:nvSpPr>
        <p:spPr>
          <a:xfrm>
            <a:off x="548640" y="1417320"/>
            <a:ext cx="475488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FarmCare</a:t>
            </a:r>
            <a:endParaRPr lang="en-US" sz="5400" dirty="0"/>
          </a:p>
        </p:txBody>
      </p:sp>
      <p:sp>
        <p:nvSpPr>
          <p:cNvPr id="7" name="Text 4"/>
          <p:cNvSpPr txBox="1"/>
          <p:nvPr/>
        </p:nvSpPr>
        <p:spPr>
          <a:xfrm>
            <a:off x="548640" y="2423160"/>
            <a:ext cx="4754880" cy="411480"/>
          </a:xfrm>
          <a:prstGeom prst="rect">
            <a:avLst/>
          </a:prstGeom>
          <a:noFill/>
          <a:ln/>
        </p:spPr>
        <p:txBody>
          <a:bodyPr wrap="square" lIns="0" tIns="0" rIns="0" bIns="0" rtlCol="0" anchor="t"/>
          <a:lstStyle/>
          <a:p>
            <a:pPr indent="0" marL="0">
              <a:buNone/>
            </a:pPr>
            <a:r>
              <a:rPr lang="en-US" sz="1900" i="1" dirty="0">
                <a:solidFill>
                  <a:srgbClr val="CFE0D4"/>
                </a:solidFill>
                <a:latin typeface="Cambria" pitchFamily="34" charset="0"/>
                <a:ea typeface="Cambria" pitchFamily="34" charset="-122"/>
                <a:cs typeface="Cambria" pitchFamily="34" charset="-120"/>
              </a:rPr>
              <a:t>AI and IoT for climate-smart dairy farming</a:t>
            </a:r>
            <a:endParaRPr lang="en-US" sz="1900" dirty="0"/>
          </a:p>
        </p:txBody>
      </p:sp>
      <p:sp>
        <p:nvSpPr>
          <p:cNvPr id="8" name="Text 5"/>
          <p:cNvSpPr txBox="1"/>
          <p:nvPr/>
        </p:nvSpPr>
        <p:spPr>
          <a:xfrm>
            <a:off x="548640" y="3017520"/>
            <a:ext cx="4572000" cy="1371600"/>
          </a:xfrm>
          <a:prstGeom prst="rect">
            <a:avLst/>
          </a:prstGeom>
          <a:noFill/>
          <a:ln/>
        </p:spPr>
        <p:txBody>
          <a:bodyPr wrap="square" lIns="0" tIns="0" rIns="0" bIns="0" rtlCol="0" anchor="t"/>
          <a:lstStyle/>
          <a:p>
            <a:pPr indent="0" marL="0">
              <a:lnSpc>
                <a:spcPct val="115000"/>
              </a:lnSpc>
              <a:buNone/>
            </a:pPr>
            <a:r>
              <a:rPr lang="en-US" sz="1400" dirty="0">
                <a:solidFill>
                  <a:srgbClr val="CFE0D4"/>
                </a:solidFill>
                <a:latin typeface="Calibri" pitchFamily="34" charset="0"/>
                <a:ea typeface="Calibri" pitchFamily="34" charset="-122"/>
                <a:cs typeface="Calibri" pitchFamily="34" charset="-120"/>
              </a:rPr>
              <a:t>A Milking Station, a Barn Monitor and a Health Collar feed one cloud dashboard, turning everyday farm activity into real-time decisions that protect cows, milk and the climate.</a:t>
            </a:r>
            <a:endParaRPr lang="en-US" sz="1400" dirty="0"/>
          </a:p>
        </p:txBody>
      </p:sp>
      <p:sp>
        <p:nvSpPr>
          <p:cNvPr id="9" name="Text 6"/>
          <p:cNvSpPr txBox="1"/>
          <p:nvPr/>
        </p:nvSpPr>
        <p:spPr>
          <a:xfrm>
            <a:off x="548640" y="5074920"/>
            <a:ext cx="4754880" cy="274320"/>
          </a:xfrm>
          <a:prstGeom prst="rect">
            <a:avLst/>
          </a:prstGeom>
          <a:noFill/>
          <a:ln/>
        </p:spPr>
        <p:txBody>
          <a:bodyPr wrap="square" lIns="0" tIns="0" rIns="0" bIns="0" rtlCol="0" anchor="t"/>
          <a:lstStyle/>
          <a:p>
            <a:pPr indent="0" marL="0">
              <a:buNone/>
            </a:pPr>
            <a:r>
              <a:rPr lang="en-US" sz="1200" i="1" dirty="0">
                <a:solidFill>
                  <a:srgbClr val="E07A3E"/>
                </a:solidFill>
                <a:latin typeface="Calibri" pitchFamily="34" charset="0"/>
                <a:ea typeface="Calibri" pitchFamily="34" charset="-122"/>
                <a:cs typeface="Calibri" pitchFamily="34" charset="-120"/>
              </a:rPr>
              <a:t>Innovate Africa Challenge III · AI for climate-smart agriculture</a:t>
            </a:r>
            <a:endParaRPr lang="en-US" sz="1200" dirty="0"/>
          </a:p>
        </p:txBody>
      </p:sp>
      <p:sp>
        <p:nvSpPr>
          <p:cNvPr id="10" name="Text 7"/>
          <p:cNvSpPr txBox="1"/>
          <p:nvPr/>
        </p:nvSpPr>
        <p:spPr>
          <a:xfrm>
            <a:off x="548640" y="5486400"/>
            <a:ext cx="475488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Bikorimana Jean Claude · IT Specialist &amp; Coordination</a:t>
            </a:r>
            <a:endParaRPr lang="en-US" sz="1400" dirty="0"/>
          </a:p>
        </p:txBody>
      </p:sp>
      <p:sp>
        <p:nvSpPr>
          <p:cNvPr id="11" name="Text 8"/>
          <p:cNvSpPr txBox="1"/>
          <p:nvPr/>
        </p:nvSpPr>
        <p:spPr>
          <a:xfrm>
            <a:off x="548640" y="5806440"/>
            <a:ext cx="4754880" cy="50292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bikorimanajeanclaude12@gmail.com · +250 786 144 292</a:t>
            </a:r>
            <a:endParaRPr lang="en-US" sz="1150" dirty="0"/>
          </a:p>
          <a:p>
            <a:pPr indent="0" marL="0">
              <a:buNone/>
            </a:pPr>
            <a:r>
              <a:rPr lang="en-US" sz="1150" dirty="0">
                <a:solidFill>
                  <a:srgbClr val="CFE0D4"/>
                </a:solidFill>
                <a:latin typeface="Calibri" pitchFamily="34" charset="0"/>
                <a:ea typeface="Calibri" pitchFamily="34" charset="-122"/>
                <a:cs typeface="Calibri" pitchFamily="34" charset="-120"/>
              </a:rPr>
              <a:t>https://farmcareservices.com/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C7602A"/>
                </a:solidFill>
                <a:latin typeface="Calibri" pitchFamily="34" charset="0"/>
                <a:ea typeface="Calibri" pitchFamily="34" charset="-122"/>
                <a:cs typeface="Calibri" pitchFamily="34" charset="-120"/>
              </a:rPr>
              <a:t>01 · AGRICULTURAL PROBLEM &amp; ALTERNATIVES</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1F2A22"/>
                </a:solidFill>
                <a:latin typeface="Cambria" pitchFamily="34" charset="0"/>
                <a:ea typeface="Cambria" pitchFamily="34" charset="-122"/>
                <a:cs typeface="Cambria" pitchFamily="34" charset="-120"/>
              </a:rPr>
              <a:t>Sick cows, rejected milk, missed pregnancies</a:t>
            </a:r>
            <a:endParaRPr lang="en-US" sz="2800" dirty="0"/>
          </a:p>
        </p:txBody>
      </p:sp>
      <p:sp>
        <p:nvSpPr>
          <p:cNvPr id="4" name="Shape 2"/>
          <p:cNvSpPr/>
          <p:nvPr/>
        </p:nvSpPr>
        <p:spPr>
          <a:xfrm>
            <a:off x="548640" y="1417320"/>
            <a:ext cx="2651760"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572768"/>
            <a:ext cx="457200" cy="457200"/>
          </a:xfrm>
          <a:prstGeom prst="ellipse">
            <a:avLst/>
          </a:prstGeom>
          <a:solidFill>
            <a:srgbClr val="E07A3E"/>
          </a:solidFill>
          <a:ln w="12700">
            <a:solidFill>
              <a:srgbClr val="E07A3E"/>
            </a:solidFill>
            <a:prstDash val="solid"/>
          </a:ln>
        </p:spPr>
      </p:sp>
      <p:pic>
        <p:nvPicPr>
          <p:cNvPr id="6" name="Image 0" descr="/home/nin2207257138/farmcare-render/build/icons/paw.png">    </p:cNvPr>
          <p:cNvPicPr>
            <a:picLocks noChangeAspect="1"/>
          </p:cNvPicPr>
          <p:nvPr/>
        </p:nvPicPr>
        <p:blipFill>
          <a:blip r:embed="rId1"/>
          <a:stretch>
            <a:fillRect/>
          </a:stretch>
        </p:blipFill>
        <p:spPr>
          <a:xfrm>
            <a:off x="841248" y="1682496"/>
            <a:ext cx="237744" cy="237744"/>
          </a:xfrm>
          <a:prstGeom prst="rect">
            <a:avLst/>
          </a:prstGeom>
        </p:spPr>
      </p:pic>
      <p:sp>
        <p:nvSpPr>
          <p:cNvPr id="7" name="Text 4"/>
          <p:cNvSpPr txBox="1"/>
          <p:nvPr/>
        </p:nvSpPr>
        <p:spPr>
          <a:xfrm>
            <a:off x="1325880" y="1572768"/>
            <a:ext cx="1783080" cy="457200"/>
          </a:xfrm>
          <a:prstGeom prst="rect">
            <a:avLst/>
          </a:prstGeom>
          <a:noFill/>
          <a:ln/>
        </p:spPr>
        <p:txBody>
          <a:bodyPr wrap="square" lIns="0" tIns="0" rIns="0" bIns="0" rtlCol="0" anchor="t"/>
          <a:lstStyle/>
          <a:p>
            <a:pPr indent="0" marL="0">
              <a:buNone/>
            </a:pPr>
            <a:r>
              <a:rPr lang="en-US" sz="2400" b="1" dirty="0">
                <a:solidFill>
                  <a:srgbClr val="1B3B2F"/>
                </a:solidFill>
                <a:latin typeface="Cambria" pitchFamily="34" charset="0"/>
                <a:ea typeface="Cambria" pitchFamily="34" charset="-122"/>
                <a:cs typeface="Cambria" pitchFamily="34" charset="-120"/>
              </a:rPr>
              <a:t>1.45–1.73M</a:t>
            </a:r>
            <a:endParaRPr lang="en-US" sz="2400" dirty="0"/>
          </a:p>
        </p:txBody>
      </p:sp>
      <p:sp>
        <p:nvSpPr>
          <p:cNvPr id="8" name="Text 5"/>
          <p:cNvSpPr txBox="1"/>
          <p:nvPr/>
        </p:nvSpPr>
        <p:spPr>
          <a:xfrm>
            <a:off x="731520" y="2148840"/>
            <a:ext cx="2331720" cy="566928"/>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cattle across Rwanda’s dairy belt</a:t>
            </a:r>
            <a:endParaRPr lang="en-US" sz="1150" dirty="0"/>
          </a:p>
        </p:txBody>
      </p:sp>
      <p:sp>
        <p:nvSpPr>
          <p:cNvPr id="9" name="Shape 6"/>
          <p:cNvSpPr/>
          <p:nvPr/>
        </p:nvSpPr>
        <p:spPr>
          <a:xfrm>
            <a:off x="3360420" y="1417320"/>
            <a:ext cx="2651760"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543300" y="1572768"/>
            <a:ext cx="457200" cy="457200"/>
          </a:xfrm>
          <a:prstGeom prst="ellipse">
            <a:avLst/>
          </a:prstGeom>
          <a:solidFill>
            <a:srgbClr val="E07A3E"/>
          </a:solidFill>
          <a:ln w="12700">
            <a:solidFill>
              <a:srgbClr val="E07A3E"/>
            </a:solidFill>
            <a:prstDash val="solid"/>
          </a:ln>
        </p:spPr>
      </p:sp>
      <p:pic>
        <p:nvPicPr>
          <p:cNvPr id="11" name="Image 1" descr="/home/nin2207257138/farmcare-render/build/icons/alert.png">    </p:cNvPr>
          <p:cNvPicPr>
            <a:picLocks noChangeAspect="1"/>
          </p:cNvPicPr>
          <p:nvPr/>
        </p:nvPicPr>
        <p:blipFill>
          <a:blip r:embed="rId2"/>
          <a:stretch>
            <a:fillRect/>
          </a:stretch>
        </p:blipFill>
        <p:spPr>
          <a:xfrm>
            <a:off x="3653028" y="1682496"/>
            <a:ext cx="237744" cy="237744"/>
          </a:xfrm>
          <a:prstGeom prst="rect">
            <a:avLst/>
          </a:prstGeom>
        </p:spPr>
      </p:pic>
      <p:sp>
        <p:nvSpPr>
          <p:cNvPr id="12" name="Text 8"/>
          <p:cNvSpPr txBox="1"/>
          <p:nvPr/>
        </p:nvSpPr>
        <p:spPr>
          <a:xfrm>
            <a:off x="4137660" y="1572768"/>
            <a:ext cx="1783080" cy="457200"/>
          </a:xfrm>
          <a:prstGeom prst="rect">
            <a:avLst/>
          </a:prstGeom>
          <a:noFill/>
          <a:ln/>
        </p:spPr>
        <p:txBody>
          <a:bodyPr wrap="square" lIns="0" tIns="0" rIns="0" bIns="0" rtlCol="0" anchor="t"/>
          <a:lstStyle/>
          <a:p>
            <a:pPr indent="0" marL="0">
              <a:buNone/>
            </a:pPr>
            <a:r>
              <a:rPr lang="en-US" sz="2400" b="1" dirty="0">
                <a:solidFill>
                  <a:srgbClr val="1B3B2F"/>
                </a:solidFill>
                <a:latin typeface="Cambria" pitchFamily="34" charset="0"/>
                <a:ea typeface="Cambria" pitchFamily="34" charset="-122"/>
                <a:cs typeface="Cambria" pitchFamily="34" charset="-120"/>
              </a:rPr>
              <a:t>60–67%</a:t>
            </a:r>
            <a:endParaRPr lang="en-US" sz="2400" dirty="0"/>
          </a:p>
        </p:txBody>
      </p:sp>
      <p:sp>
        <p:nvSpPr>
          <p:cNvPr id="13" name="Text 9"/>
          <p:cNvSpPr txBox="1"/>
          <p:nvPr/>
        </p:nvSpPr>
        <p:spPr>
          <a:xfrm>
            <a:off x="3543300" y="2148840"/>
            <a:ext cx="2331720" cy="566928"/>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of dairy cows have clinical or subclinical mastitis</a:t>
            </a:r>
            <a:endParaRPr lang="en-US" sz="1150" dirty="0"/>
          </a:p>
        </p:txBody>
      </p:sp>
      <p:sp>
        <p:nvSpPr>
          <p:cNvPr id="14" name="Shape 10"/>
          <p:cNvSpPr/>
          <p:nvPr/>
        </p:nvSpPr>
        <p:spPr>
          <a:xfrm>
            <a:off x="6172200" y="1417320"/>
            <a:ext cx="2651760"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6355080" y="1572768"/>
            <a:ext cx="457200" cy="457200"/>
          </a:xfrm>
          <a:prstGeom prst="ellipse">
            <a:avLst/>
          </a:prstGeom>
          <a:solidFill>
            <a:srgbClr val="E07A3E"/>
          </a:solidFill>
          <a:ln w="12700">
            <a:solidFill>
              <a:srgbClr val="E07A3E"/>
            </a:solidFill>
            <a:prstDash val="solid"/>
          </a:ln>
        </p:spPr>
      </p:sp>
      <p:pic>
        <p:nvPicPr>
          <p:cNvPr id="16" name="Image 2" descr="/home/nin2207257138/farmcare-render/build/icons/tint.png">    </p:cNvPr>
          <p:cNvPicPr>
            <a:picLocks noChangeAspect="1"/>
          </p:cNvPicPr>
          <p:nvPr/>
        </p:nvPicPr>
        <p:blipFill>
          <a:blip r:embed="rId3"/>
          <a:stretch>
            <a:fillRect/>
          </a:stretch>
        </p:blipFill>
        <p:spPr>
          <a:xfrm>
            <a:off x="6464808" y="1682496"/>
            <a:ext cx="237744" cy="237744"/>
          </a:xfrm>
          <a:prstGeom prst="rect">
            <a:avLst/>
          </a:prstGeom>
        </p:spPr>
      </p:pic>
      <p:sp>
        <p:nvSpPr>
          <p:cNvPr id="17" name="Text 12"/>
          <p:cNvSpPr txBox="1"/>
          <p:nvPr/>
        </p:nvSpPr>
        <p:spPr>
          <a:xfrm>
            <a:off x="6949440" y="1572768"/>
            <a:ext cx="1783080" cy="457200"/>
          </a:xfrm>
          <a:prstGeom prst="rect">
            <a:avLst/>
          </a:prstGeom>
          <a:noFill/>
          <a:ln/>
        </p:spPr>
        <p:txBody>
          <a:bodyPr wrap="square" lIns="0" tIns="0" rIns="0" bIns="0" rtlCol="0" anchor="t"/>
          <a:lstStyle/>
          <a:p>
            <a:pPr indent="0" marL="0">
              <a:buNone/>
            </a:pPr>
            <a:r>
              <a:rPr lang="en-US" sz="2400" b="1" dirty="0">
                <a:solidFill>
                  <a:srgbClr val="1B3B2F"/>
                </a:solidFill>
                <a:latin typeface="Cambria" pitchFamily="34" charset="0"/>
                <a:ea typeface="Cambria" pitchFamily="34" charset="-122"/>
                <a:cs typeface="Cambria" pitchFamily="34" charset="-120"/>
              </a:rPr>
              <a:t>60%</a:t>
            </a:r>
            <a:endParaRPr lang="en-US" sz="2400" dirty="0"/>
          </a:p>
        </p:txBody>
      </p:sp>
      <p:sp>
        <p:nvSpPr>
          <p:cNvPr id="18" name="Text 13"/>
          <p:cNvSpPr txBox="1"/>
          <p:nvPr/>
        </p:nvSpPr>
        <p:spPr>
          <a:xfrm>
            <a:off x="6355080" y="2148840"/>
            <a:ext cx="2331720" cy="566928"/>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of milk rejected at collection centres in parts of the North and West</a:t>
            </a:r>
            <a:endParaRPr lang="en-US" sz="1150" dirty="0"/>
          </a:p>
        </p:txBody>
      </p:sp>
      <p:sp>
        <p:nvSpPr>
          <p:cNvPr id="19" name="Shape 14"/>
          <p:cNvSpPr/>
          <p:nvPr/>
        </p:nvSpPr>
        <p:spPr>
          <a:xfrm>
            <a:off x="8983980" y="1417320"/>
            <a:ext cx="2651760"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9166860" y="1572768"/>
            <a:ext cx="457200" cy="457200"/>
          </a:xfrm>
          <a:prstGeom prst="ellipse">
            <a:avLst/>
          </a:prstGeom>
          <a:solidFill>
            <a:srgbClr val="E07A3E"/>
          </a:solidFill>
          <a:ln w="12700">
            <a:solidFill>
              <a:srgbClr val="E07A3E"/>
            </a:solidFill>
            <a:prstDash val="solid"/>
          </a:ln>
        </p:spPr>
      </p:sp>
      <p:pic>
        <p:nvPicPr>
          <p:cNvPr id="21" name="Image 3" descr="/home/nin2207257138/farmcare-render/build/icons/heartbeat.png">    </p:cNvPr>
          <p:cNvPicPr>
            <a:picLocks noChangeAspect="1"/>
          </p:cNvPicPr>
          <p:nvPr/>
        </p:nvPicPr>
        <p:blipFill>
          <a:blip r:embed="rId4"/>
          <a:stretch>
            <a:fillRect/>
          </a:stretch>
        </p:blipFill>
        <p:spPr>
          <a:xfrm>
            <a:off x="9276588" y="1682496"/>
            <a:ext cx="237744" cy="237744"/>
          </a:xfrm>
          <a:prstGeom prst="rect">
            <a:avLst/>
          </a:prstGeom>
        </p:spPr>
      </p:pic>
      <p:sp>
        <p:nvSpPr>
          <p:cNvPr id="22" name="Text 16"/>
          <p:cNvSpPr txBox="1"/>
          <p:nvPr/>
        </p:nvSpPr>
        <p:spPr>
          <a:xfrm>
            <a:off x="9761220" y="1572768"/>
            <a:ext cx="1783080" cy="457200"/>
          </a:xfrm>
          <a:prstGeom prst="rect">
            <a:avLst/>
          </a:prstGeom>
          <a:noFill/>
          <a:ln/>
        </p:spPr>
        <p:txBody>
          <a:bodyPr wrap="square" lIns="0" tIns="0" rIns="0" bIns="0" rtlCol="0" anchor="t"/>
          <a:lstStyle/>
          <a:p>
            <a:pPr indent="0" marL="0">
              <a:buNone/>
            </a:pPr>
            <a:r>
              <a:rPr lang="en-US" sz="2400" b="1" dirty="0">
                <a:solidFill>
                  <a:srgbClr val="1B3B2F"/>
                </a:solidFill>
                <a:latin typeface="Cambria" pitchFamily="34" charset="0"/>
                <a:ea typeface="Cambria" pitchFamily="34" charset="-122"/>
                <a:cs typeface="Cambria" pitchFamily="34" charset="-120"/>
              </a:rPr>
              <a:t>33–50%</a:t>
            </a:r>
            <a:endParaRPr lang="en-US" sz="2400" dirty="0"/>
          </a:p>
        </p:txBody>
      </p:sp>
      <p:sp>
        <p:nvSpPr>
          <p:cNvPr id="23" name="Text 17"/>
          <p:cNvSpPr txBox="1"/>
          <p:nvPr/>
        </p:nvSpPr>
        <p:spPr>
          <a:xfrm>
            <a:off x="9166860" y="2148840"/>
            <a:ext cx="2331720" cy="566928"/>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insemination success: over half of cows miss pregnancy</a:t>
            </a:r>
            <a:endParaRPr lang="en-US" sz="1150" dirty="0"/>
          </a:p>
        </p:txBody>
      </p:sp>
      <p:sp>
        <p:nvSpPr>
          <p:cNvPr id="24" name="Text 18"/>
          <p:cNvSpPr txBox="1"/>
          <p:nvPr/>
        </p:nvSpPr>
        <p:spPr>
          <a:xfrm>
            <a:off x="548640" y="2926080"/>
            <a:ext cx="11064240" cy="502920"/>
          </a:xfrm>
          <a:prstGeom prst="rect">
            <a:avLst/>
          </a:prstGeom>
          <a:noFill/>
          <a:ln/>
        </p:spPr>
        <p:txBody>
          <a:bodyPr wrap="square" lIns="0" tIns="0" rIns="0" bIns="0" rtlCol="0" anchor="t"/>
          <a:lstStyle/>
          <a:p>
            <a:pPr indent="0" marL="0">
              <a:buNone/>
            </a:pPr>
            <a:r>
              <a:rPr lang="en-US" sz="1300" b="1" dirty="0">
                <a:solidFill>
                  <a:srgbClr val="1F2A22"/>
                </a:solidFill>
                <a:latin typeface="Calibri" pitchFamily="34" charset="0"/>
                <a:ea typeface="Calibri" pitchFamily="34" charset="-122"/>
                <a:cs typeface="Calibri" pitchFamily="34" charset="-120"/>
              </a:rPr>
              <a:t>Who is affected: </a:t>
            </a:r>
            <a:pPr indent="0" marL="0">
              <a:buNone/>
            </a:pPr>
            <a:r>
              <a:rPr lang="en-US" sz="1300" dirty="0">
                <a:solidFill>
                  <a:srgbClr val="5C6B60"/>
                </a:solidFill>
                <a:latin typeface="Calibri" pitchFamily="34" charset="0"/>
                <a:ea typeface="Calibri" pitchFamily="34" charset="-122"/>
                <a:cs typeface="Calibri" pitchFamily="34" charset="-120"/>
              </a:rPr>
              <a:t>zero-grazing farmers with 1–10 cows in the Eastern Province (Nyagatare, Gatsibo) and the Northern Province (Gicumbi, Burera, Musanze), and the cooperatives and collection centres that absorb rejected milk.</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64240" cy="914400"/>
        </p:xfrm>
        <a:graphic>
          <a:graphicData uri="http://schemas.openxmlformats.org/drawingml/2006/table">
            <a:tbl>
              <a:tblPr/>
              <a:tblGrid>
                <a:gridCol w="2468880"/>
                <a:gridCol w="3840480"/>
                <a:gridCol w="475488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Alternative</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1B3B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offers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1B3B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misses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1B3B2F"/>
                    </a:solidFill>
                  </a:tcPr>
                </a:tc>
              </a:tr>
              <a:tr h="384048">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Paper records, vet call-outs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Low cost; the status quo</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No sensing: problems found after symptoms; over 95% keep no digital records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Agrotag</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Record keeping and traceability tags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No reproduction, feed or live sensing</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r>
              <a:tr h="384048">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Difarm</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Single-purpose monitoring tools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No link between farm data and collection-centre quality</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Imported precision systems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Full sensing and automation</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50" dirty="0">
                          <a:solidFill>
                            <a:srgbClr val="1F2A22"/>
                          </a:solidFill>
                          <a:latin typeface="Calibri" pitchFamily="34" charset="0"/>
                          <a:ea typeface="Calibri" pitchFamily="34" charset="-122"/>
                          <a:cs typeface="Calibri" pitchFamily="34" charset="-120"/>
                        </a:rPr>
                        <a:t>Priced and built for large commercial farms</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r>
              <a:tr h="384048">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FarmCare</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CFE0D4"/>
                    </a:solidFill>
                  </a:tcPr>
                </a:tc>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Breeding, health, feed, milk quality and barn climate in one platform</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CFE0D4"/>
                    </a:solidFill>
                  </a:tcPr>
                </a:tc>
                <a:tc>
                  <a:txBody>
                    <a:bodyPr/>
                    <a:lstStyle/>
                    <a:p>
                      <a:pPr indent="0" marL="0">
                        <a:buNone/>
                      </a:pPr>
                      <a:r>
                        <a:rPr lang="en-US" sz="1150" b="1" dirty="0">
                          <a:solidFill>
                            <a:srgbClr val="1F2A22"/>
                          </a:solidFill>
                          <a:latin typeface="Calibri" pitchFamily="34" charset="0"/>
                          <a:ea typeface="Calibri" pitchFamily="34" charset="-122"/>
                          <a:cs typeface="Calibri" pitchFamily="34" charset="-120"/>
                        </a:rPr>
                        <a:t>Links farm data to collection-centre quality and farmer income</a:t>
                      </a:r>
                      <a:endParaRPr lang="en-US" sz="115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CFE0D4"/>
                    </a:solidFill>
                  </a:tcPr>
                </a:tc>
              </a:tr>
            </a:tbl>
          </a:graphicData>
        </a:graphic>
      </p:graphicFrame>
      <p:sp>
        <p:nvSpPr>
          <p:cNvPr id="26" name="Text 19"/>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000" i="1" dirty="0">
                <a:solidFill>
                  <a:srgbClr val="5C6B60"/>
                </a:solidFill>
                <a:latin typeface="Calibri" pitchFamily="34" charset="0"/>
                <a:ea typeface="Calibri" pitchFamily="34" charset="-122"/>
                <a:cs typeface="Calibri" pitchFamily="34" charset="-120"/>
              </a:rPr>
              <a:t>Sources: MINAGRI Annual Report 2024/25; RAB and MINAGRI dairy sector data; competitors’ public product information; our own farmer surveys through field visits. Several team members are dairy farmers.</a:t>
            </a:r>
            <a:endParaRPr lang="en-US" sz="100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E07A3E"/>
                </a:solidFill>
                <a:latin typeface="Calibri" pitchFamily="34" charset="0"/>
                <a:ea typeface="Calibri" pitchFamily="34" charset="-122"/>
                <a:cs typeface="Calibri" pitchFamily="34" charset="-120"/>
              </a:rPr>
              <a:t>02 · SOLUTION OVERVIEW</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One platform. Three connected devices.</a:t>
            </a:r>
            <a:endParaRPr lang="en-US" sz="2800" dirty="0"/>
          </a:p>
        </p:txBody>
      </p:sp>
      <p:sp>
        <p:nvSpPr>
          <p:cNvPr id="4" name="Text 2"/>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400" dirty="0">
                <a:solidFill>
                  <a:srgbClr val="CFE0D4"/>
                </a:solidFill>
                <a:latin typeface="Calibri" pitchFamily="34" charset="0"/>
                <a:ea typeface="Calibri" pitchFamily="34" charset="-122"/>
                <a:cs typeface="Calibri" pitchFamily="34" charset="-120"/>
              </a:rPr>
              <a:t>FarmCare pairs wearable and barn sensors with a cloud dashboard and AI analytics, turning everyday dairy-farm activity into real-time decisions.</a:t>
            </a:r>
            <a:endParaRPr lang="en-US" sz="1400" dirty="0"/>
          </a:p>
        </p:txBody>
      </p:sp>
      <p:sp>
        <p:nvSpPr>
          <p:cNvPr id="5" name="Shape 3"/>
          <p:cNvSpPr/>
          <p:nvPr/>
        </p:nvSpPr>
        <p:spPr>
          <a:xfrm>
            <a:off x="548640" y="1874520"/>
            <a:ext cx="3520440" cy="2880360"/>
          </a:xfrm>
          <a:prstGeom prst="roundRect">
            <a:avLst>
              <a:gd name="adj" fmla="val 2540"/>
            </a:avLst>
          </a:prstGeom>
          <a:solidFill>
            <a:srgbClr val="11241C"/>
          </a:solidFill>
          <a:ln w="12700">
            <a:solidFill>
              <a:srgbClr val="11241C"/>
            </a:solidFill>
            <a:prstDash val="solid"/>
          </a:ln>
        </p:spPr>
      </p:sp>
      <p:pic>
        <p:nvPicPr>
          <p:cNvPr id="6" name="Image 0" descr="Smart milk collection container">    </p:cNvPr>
          <p:cNvPicPr>
            <a:picLocks noChangeAspect="1"/>
          </p:cNvPicPr>
          <p:nvPr/>
        </p:nvPicPr>
        <p:blipFill>
          <a:blip r:embed="rId1"/>
          <a:stretch>
            <a:fillRect/>
          </a:stretch>
        </p:blipFill>
        <p:spPr>
          <a:xfrm>
            <a:off x="548640" y="1874520"/>
            <a:ext cx="3520440" cy="1188720"/>
          </a:xfrm>
          <a:prstGeom prst="rect">
            <a:avLst/>
          </a:prstGeom>
        </p:spPr>
      </p:pic>
      <p:sp>
        <p:nvSpPr>
          <p:cNvPr id="7" name="Shape 4"/>
          <p:cNvSpPr/>
          <p:nvPr/>
        </p:nvSpPr>
        <p:spPr>
          <a:xfrm>
            <a:off x="777240" y="3200400"/>
            <a:ext cx="457200" cy="457200"/>
          </a:xfrm>
          <a:prstGeom prst="ellipse">
            <a:avLst/>
          </a:prstGeom>
          <a:solidFill>
            <a:srgbClr val="E07A3E"/>
          </a:solidFill>
          <a:ln w="12700">
            <a:solidFill>
              <a:srgbClr val="E07A3E"/>
            </a:solidFill>
            <a:prstDash val="solid"/>
          </a:ln>
        </p:spPr>
      </p:sp>
      <p:pic>
        <p:nvPicPr>
          <p:cNvPr id="8" name="Image 1" descr="/home/nin2207257138/farmcare-render/build/icons/tint.png">    </p:cNvPr>
          <p:cNvPicPr>
            <a:picLocks noChangeAspect="1"/>
          </p:cNvPicPr>
          <p:nvPr/>
        </p:nvPicPr>
        <p:blipFill>
          <a:blip r:embed="rId2"/>
          <a:stretch>
            <a:fillRect/>
          </a:stretch>
        </p:blipFill>
        <p:spPr>
          <a:xfrm>
            <a:off x="886968" y="3310128"/>
            <a:ext cx="237744" cy="237744"/>
          </a:xfrm>
          <a:prstGeom prst="rect">
            <a:avLst/>
          </a:prstGeom>
        </p:spPr>
      </p:pic>
      <p:sp>
        <p:nvSpPr>
          <p:cNvPr id="9" name="Text 5"/>
          <p:cNvSpPr txBox="1"/>
          <p:nvPr/>
        </p:nvSpPr>
        <p:spPr>
          <a:xfrm>
            <a:off x="1353312" y="3255264"/>
            <a:ext cx="2560320" cy="3657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Milking Station</a:t>
            </a:r>
            <a:endParaRPr lang="en-US" sz="1500" dirty="0"/>
          </a:p>
        </p:txBody>
      </p:sp>
      <p:sp>
        <p:nvSpPr>
          <p:cNvPr id="10" name="Text 6"/>
          <p:cNvSpPr txBox="1"/>
          <p:nvPr/>
        </p:nvSpPr>
        <p:spPr>
          <a:xfrm>
            <a:off x="777240" y="3730752"/>
            <a:ext cx="3063240" cy="621792"/>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RFID identifies the cow; an ultrasonic sensor in the milk container measures litres; TDS and temperature probes check quality.</a:t>
            </a:r>
            <a:endParaRPr lang="en-US" sz="1150" dirty="0"/>
          </a:p>
        </p:txBody>
      </p:sp>
      <p:sp>
        <p:nvSpPr>
          <p:cNvPr id="11" name="Shape 7"/>
          <p:cNvSpPr/>
          <p:nvPr/>
        </p:nvSpPr>
        <p:spPr>
          <a:xfrm>
            <a:off x="777240" y="4370832"/>
            <a:ext cx="2377440" cy="310896"/>
          </a:xfrm>
          <a:prstGeom prst="roundRect">
            <a:avLst>
              <a:gd name="adj" fmla="val 50000"/>
            </a:avLst>
          </a:prstGeom>
          <a:solidFill>
            <a:srgbClr val="E07A3E"/>
          </a:solidFill>
          <a:ln w="12700">
            <a:solidFill>
              <a:srgbClr val="E07A3E"/>
            </a:solidFill>
            <a:prstDash val="solid"/>
          </a:ln>
        </p:spPr>
      </p:sp>
      <p:sp>
        <p:nvSpPr>
          <p:cNvPr id="12" name="Text 8"/>
          <p:cNvSpPr txBox="1"/>
          <p:nvPr/>
        </p:nvSpPr>
        <p:spPr>
          <a:xfrm>
            <a:off x="777240" y="4370832"/>
            <a:ext cx="237744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RUNNING IN THE COWSHED</a:t>
            </a:r>
            <a:endParaRPr lang="en-US" sz="950" dirty="0"/>
          </a:p>
        </p:txBody>
      </p:sp>
      <p:sp>
        <p:nvSpPr>
          <p:cNvPr id="13" name="Shape 9"/>
          <p:cNvSpPr/>
          <p:nvPr/>
        </p:nvSpPr>
        <p:spPr>
          <a:xfrm>
            <a:off x="4343400" y="1874520"/>
            <a:ext cx="3520440" cy="2880360"/>
          </a:xfrm>
          <a:prstGeom prst="roundRect">
            <a:avLst>
              <a:gd name="adj" fmla="val 2540"/>
            </a:avLst>
          </a:prstGeom>
          <a:solidFill>
            <a:srgbClr val="11241C"/>
          </a:solidFill>
          <a:ln w="12700">
            <a:solidFill>
              <a:srgbClr val="11241C"/>
            </a:solidFill>
            <a:prstDash val="solid"/>
          </a:ln>
        </p:spPr>
      </p:sp>
      <p:pic>
        <p:nvPicPr>
          <p:cNvPr id="14" name="Image 2" descr="Barn monitor rig in the cowshed">    </p:cNvPr>
          <p:cNvPicPr>
            <a:picLocks noChangeAspect="1"/>
          </p:cNvPicPr>
          <p:nvPr/>
        </p:nvPicPr>
        <p:blipFill>
          <a:blip r:embed="rId3"/>
          <a:stretch>
            <a:fillRect/>
          </a:stretch>
        </p:blipFill>
        <p:spPr>
          <a:xfrm>
            <a:off x="4343400" y="1874520"/>
            <a:ext cx="3520440" cy="1188720"/>
          </a:xfrm>
          <a:prstGeom prst="rect">
            <a:avLst/>
          </a:prstGeom>
        </p:spPr>
      </p:pic>
      <p:sp>
        <p:nvSpPr>
          <p:cNvPr id="15" name="Shape 10"/>
          <p:cNvSpPr/>
          <p:nvPr/>
        </p:nvSpPr>
        <p:spPr>
          <a:xfrm>
            <a:off x="4572000" y="3200400"/>
            <a:ext cx="457200" cy="457200"/>
          </a:xfrm>
          <a:prstGeom prst="ellipse">
            <a:avLst/>
          </a:prstGeom>
          <a:solidFill>
            <a:srgbClr val="E07A3E"/>
          </a:solidFill>
          <a:ln w="12700">
            <a:solidFill>
              <a:srgbClr val="E07A3E"/>
            </a:solidFill>
            <a:prstDash val="solid"/>
          </a:ln>
        </p:spPr>
      </p:sp>
      <p:pic>
        <p:nvPicPr>
          <p:cNvPr id="16" name="Image 3" descr="/home/nin2207257138/farmcare-render/build/icons/gauge.png">    </p:cNvPr>
          <p:cNvPicPr>
            <a:picLocks noChangeAspect="1"/>
          </p:cNvPicPr>
          <p:nvPr/>
        </p:nvPicPr>
        <p:blipFill>
          <a:blip r:embed="rId4"/>
          <a:stretch>
            <a:fillRect/>
          </a:stretch>
        </p:blipFill>
        <p:spPr>
          <a:xfrm>
            <a:off x="4681728" y="3310128"/>
            <a:ext cx="237744" cy="237744"/>
          </a:xfrm>
          <a:prstGeom prst="rect">
            <a:avLst/>
          </a:prstGeom>
        </p:spPr>
      </p:pic>
      <p:sp>
        <p:nvSpPr>
          <p:cNvPr id="17" name="Text 11"/>
          <p:cNvSpPr txBox="1"/>
          <p:nvPr/>
        </p:nvSpPr>
        <p:spPr>
          <a:xfrm>
            <a:off x="5148072" y="3255264"/>
            <a:ext cx="2560320" cy="3657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Barn Monitor</a:t>
            </a:r>
            <a:endParaRPr lang="en-US" sz="1500" dirty="0"/>
          </a:p>
        </p:txBody>
      </p:sp>
      <p:sp>
        <p:nvSpPr>
          <p:cNvPr id="18" name="Text 12"/>
          <p:cNvSpPr txBox="1"/>
          <p:nvPr/>
        </p:nvSpPr>
        <p:spPr>
          <a:xfrm>
            <a:off x="4572000" y="3730752"/>
            <a:ext cx="3063240" cy="621792"/>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Reads heat, humidity, two gas sensors, water-tank level and feed weight; runs pump, fan, water spray and buzzer.</a:t>
            </a:r>
            <a:endParaRPr lang="en-US" sz="1150" dirty="0"/>
          </a:p>
        </p:txBody>
      </p:sp>
      <p:sp>
        <p:nvSpPr>
          <p:cNvPr id="19" name="Shape 13"/>
          <p:cNvSpPr/>
          <p:nvPr/>
        </p:nvSpPr>
        <p:spPr>
          <a:xfrm>
            <a:off x="4572000" y="4370832"/>
            <a:ext cx="2377440" cy="310896"/>
          </a:xfrm>
          <a:prstGeom prst="roundRect">
            <a:avLst>
              <a:gd name="adj" fmla="val 50000"/>
            </a:avLst>
          </a:prstGeom>
          <a:solidFill>
            <a:srgbClr val="E07A3E"/>
          </a:solidFill>
          <a:ln w="12700">
            <a:solidFill>
              <a:srgbClr val="E07A3E"/>
            </a:solidFill>
            <a:prstDash val="solid"/>
          </a:ln>
        </p:spPr>
      </p:sp>
      <p:sp>
        <p:nvSpPr>
          <p:cNvPr id="20" name="Text 14"/>
          <p:cNvSpPr txBox="1"/>
          <p:nvPr/>
        </p:nvSpPr>
        <p:spPr>
          <a:xfrm>
            <a:off x="4572000" y="4370832"/>
            <a:ext cx="237744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RUNNING IN THE COWSHED</a:t>
            </a:r>
            <a:endParaRPr lang="en-US" sz="950" dirty="0"/>
          </a:p>
        </p:txBody>
      </p:sp>
      <p:sp>
        <p:nvSpPr>
          <p:cNvPr id="21" name="Shape 15"/>
          <p:cNvSpPr/>
          <p:nvPr/>
        </p:nvSpPr>
        <p:spPr>
          <a:xfrm>
            <a:off x="8138160" y="1874520"/>
            <a:ext cx="3520440" cy="2880360"/>
          </a:xfrm>
          <a:prstGeom prst="roundRect">
            <a:avLst>
              <a:gd name="adj" fmla="val 2540"/>
            </a:avLst>
          </a:prstGeom>
          <a:solidFill>
            <a:srgbClr val="11241C"/>
          </a:solidFill>
          <a:ln w="12700">
            <a:solidFill>
              <a:srgbClr val="11241C"/>
            </a:solidFill>
            <a:prstDash val="solid"/>
          </a:ln>
        </p:spPr>
      </p:sp>
      <p:pic>
        <p:nvPicPr>
          <p:cNvPr id="22" name="Image 4" descr="Health collar worn by a dairy cow">    </p:cNvPr>
          <p:cNvPicPr>
            <a:picLocks noChangeAspect="1"/>
          </p:cNvPicPr>
          <p:nvPr/>
        </p:nvPicPr>
        <p:blipFill>
          <a:blip r:embed="rId5"/>
          <a:stretch>
            <a:fillRect/>
          </a:stretch>
        </p:blipFill>
        <p:spPr>
          <a:xfrm>
            <a:off x="8138160" y="1874520"/>
            <a:ext cx="3520440" cy="1188720"/>
          </a:xfrm>
          <a:prstGeom prst="rect">
            <a:avLst/>
          </a:prstGeom>
        </p:spPr>
      </p:pic>
      <p:sp>
        <p:nvSpPr>
          <p:cNvPr id="23" name="Shape 16"/>
          <p:cNvSpPr/>
          <p:nvPr/>
        </p:nvSpPr>
        <p:spPr>
          <a:xfrm>
            <a:off x="8366760" y="3200400"/>
            <a:ext cx="457200" cy="457200"/>
          </a:xfrm>
          <a:prstGeom prst="ellipse">
            <a:avLst/>
          </a:prstGeom>
          <a:solidFill>
            <a:srgbClr val="E07A3E"/>
          </a:solidFill>
          <a:ln w="12700">
            <a:solidFill>
              <a:srgbClr val="E07A3E"/>
            </a:solidFill>
            <a:prstDash val="solid"/>
          </a:ln>
        </p:spPr>
      </p:sp>
      <p:pic>
        <p:nvPicPr>
          <p:cNvPr id="24" name="Image 5" descr="/home/nin2207257138/farmcare-render/build/icons/heartbeat.png">    </p:cNvPr>
          <p:cNvPicPr>
            <a:picLocks noChangeAspect="1"/>
          </p:cNvPicPr>
          <p:nvPr/>
        </p:nvPicPr>
        <p:blipFill>
          <a:blip r:embed="rId6"/>
          <a:stretch>
            <a:fillRect/>
          </a:stretch>
        </p:blipFill>
        <p:spPr>
          <a:xfrm>
            <a:off x="8476488" y="3310128"/>
            <a:ext cx="237744" cy="237744"/>
          </a:xfrm>
          <a:prstGeom prst="rect">
            <a:avLst/>
          </a:prstGeom>
        </p:spPr>
      </p:pic>
      <p:sp>
        <p:nvSpPr>
          <p:cNvPr id="25" name="Text 17"/>
          <p:cNvSpPr txBox="1"/>
          <p:nvPr/>
        </p:nvSpPr>
        <p:spPr>
          <a:xfrm>
            <a:off x="8942832" y="3255264"/>
            <a:ext cx="2560320" cy="3657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Health Collar</a:t>
            </a:r>
            <a:endParaRPr lang="en-US" sz="1500" dirty="0"/>
          </a:p>
        </p:txBody>
      </p:sp>
      <p:sp>
        <p:nvSpPr>
          <p:cNvPr id="26" name="Text 18"/>
          <p:cNvSpPr txBox="1"/>
          <p:nvPr/>
        </p:nvSpPr>
        <p:spPr>
          <a:xfrm>
            <a:off x="8366760" y="3730752"/>
            <a:ext cx="3063240" cy="621792"/>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Worn by the cow: body temperature, heart rate, SpO2, motion and live GPS location.</a:t>
            </a:r>
            <a:endParaRPr lang="en-US" sz="1150" dirty="0"/>
          </a:p>
        </p:txBody>
      </p:sp>
      <p:sp>
        <p:nvSpPr>
          <p:cNvPr id="27" name="Shape 19"/>
          <p:cNvSpPr/>
          <p:nvPr/>
        </p:nvSpPr>
        <p:spPr>
          <a:xfrm>
            <a:off x="8366760" y="4370832"/>
            <a:ext cx="2377440" cy="310896"/>
          </a:xfrm>
          <a:prstGeom prst="roundRect">
            <a:avLst>
              <a:gd name="adj" fmla="val 50000"/>
            </a:avLst>
          </a:prstGeom>
          <a:solidFill>
            <a:srgbClr val="E07A3E"/>
          </a:solidFill>
          <a:ln w="12700">
            <a:solidFill>
              <a:srgbClr val="E07A3E"/>
            </a:solidFill>
            <a:prstDash val="solid"/>
          </a:ln>
        </p:spPr>
      </p:sp>
      <p:sp>
        <p:nvSpPr>
          <p:cNvPr id="28" name="Text 20"/>
          <p:cNvSpPr txBox="1"/>
          <p:nvPr/>
        </p:nvSpPr>
        <p:spPr>
          <a:xfrm>
            <a:off x="8366760" y="4370832"/>
            <a:ext cx="237744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RUNNING IN THE COWSHED</a:t>
            </a:r>
            <a:endParaRPr lang="en-US" sz="950" dirty="0"/>
          </a:p>
        </p:txBody>
      </p:sp>
      <p:sp>
        <p:nvSpPr>
          <p:cNvPr id="29" name="Shape 21"/>
          <p:cNvSpPr/>
          <p:nvPr/>
        </p:nvSpPr>
        <p:spPr>
          <a:xfrm>
            <a:off x="548640" y="4983480"/>
            <a:ext cx="384048" cy="384048"/>
          </a:xfrm>
          <a:prstGeom prst="ellipse">
            <a:avLst/>
          </a:prstGeom>
          <a:solidFill>
            <a:srgbClr val="E07A3E"/>
          </a:solidFill>
          <a:ln w="12700">
            <a:solidFill>
              <a:srgbClr val="E07A3E"/>
            </a:solidFill>
            <a:prstDash val="solid"/>
          </a:ln>
        </p:spPr>
      </p:sp>
      <p:pic>
        <p:nvPicPr>
          <p:cNvPr id="30" name="Image 6" descr="/home/nin2207257138/farmcare-render/build/icons/check.png">    </p:cNvPr>
          <p:cNvPicPr>
            <a:picLocks noChangeAspect="1"/>
          </p:cNvPicPr>
          <p:nvPr/>
        </p:nvPicPr>
        <p:blipFill>
          <a:blip r:embed="rId7"/>
          <a:stretch>
            <a:fillRect/>
          </a:stretch>
        </p:blipFill>
        <p:spPr>
          <a:xfrm>
            <a:off x="640812" y="5075652"/>
            <a:ext cx="199705" cy="199705"/>
          </a:xfrm>
          <a:prstGeom prst="rect">
            <a:avLst/>
          </a:prstGeom>
        </p:spPr>
      </p:pic>
      <p:sp>
        <p:nvSpPr>
          <p:cNvPr id="31" name="Text 22"/>
          <p:cNvSpPr txBox="1"/>
          <p:nvPr/>
        </p:nvSpPr>
        <p:spPr>
          <a:xfrm>
            <a:off x="1051560" y="4956048"/>
            <a:ext cx="219456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Web platform live</a:t>
            </a:r>
            <a:endParaRPr lang="en-US" sz="1350" dirty="0"/>
          </a:p>
        </p:txBody>
      </p:sp>
      <p:sp>
        <p:nvSpPr>
          <p:cNvPr id="32" name="Text 23"/>
          <p:cNvSpPr txBox="1"/>
          <p:nvPr/>
        </p:nvSpPr>
        <p:spPr>
          <a:xfrm>
            <a:off x="1051560" y="5266944"/>
            <a:ext cx="2194560" cy="64008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Health, milking and barn dashboards at farmcareservices.com/app</a:t>
            </a:r>
            <a:endParaRPr lang="en-US" sz="1150" dirty="0"/>
          </a:p>
        </p:txBody>
      </p:sp>
      <p:sp>
        <p:nvSpPr>
          <p:cNvPr id="33" name="Shape 24"/>
          <p:cNvSpPr/>
          <p:nvPr/>
        </p:nvSpPr>
        <p:spPr>
          <a:xfrm>
            <a:off x="3360420" y="4983480"/>
            <a:ext cx="384048" cy="384048"/>
          </a:xfrm>
          <a:prstGeom prst="ellipse">
            <a:avLst/>
          </a:prstGeom>
          <a:solidFill>
            <a:srgbClr val="E07A3E"/>
          </a:solidFill>
          <a:ln w="12700">
            <a:solidFill>
              <a:srgbClr val="E07A3E"/>
            </a:solidFill>
            <a:prstDash val="solid"/>
          </a:ln>
        </p:spPr>
      </p:sp>
      <p:pic>
        <p:nvPicPr>
          <p:cNvPr id="34" name="Image 7" descr="/home/nin2207257138/farmcare-render/build/icons/check.png">    </p:cNvPr>
          <p:cNvPicPr>
            <a:picLocks noChangeAspect="1"/>
          </p:cNvPicPr>
          <p:nvPr/>
        </p:nvPicPr>
        <p:blipFill>
          <a:blip r:embed="rId8"/>
          <a:stretch>
            <a:fillRect/>
          </a:stretch>
        </p:blipFill>
        <p:spPr>
          <a:xfrm>
            <a:off x="3452592" y="5075652"/>
            <a:ext cx="199705" cy="199705"/>
          </a:xfrm>
          <a:prstGeom prst="rect">
            <a:avLst/>
          </a:prstGeom>
        </p:spPr>
      </p:pic>
      <p:sp>
        <p:nvSpPr>
          <p:cNvPr id="35" name="Text 25"/>
          <p:cNvSpPr txBox="1"/>
          <p:nvPr/>
        </p:nvSpPr>
        <p:spPr>
          <a:xfrm>
            <a:off x="3863340" y="4956048"/>
            <a:ext cx="219456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Per-cow risk scoring</a:t>
            </a:r>
            <a:endParaRPr lang="en-US" sz="1350" dirty="0"/>
          </a:p>
        </p:txBody>
      </p:sp>
      <p:sp>
        <p:nvSpPr>
          <p:cNvPr id="36" name="Text 26"/>
          <p:cNvSpPr txBox="1"/>
          <p:nvPr/>
        </p:nvSpPr>
        <p:spPr>
          <a:xfrm>
            <a:off x="3863340" y="5266944"/>
            <a:ext cx="2194560" cy="64008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Each cow scored against her own 14-day baseline</a:t>
            </a:r>
            <a:endParaRPr lang="en-US" sz="1150" dirty="0"/>
          </a:p>
        </p:txBody>
      </p:sp>
      <p:sp>
        <p:nvSpPr>
          <p:cNvPr id="37" name="Shape 27"/>
          <p:cNvSpPr/>
          <p:nvPr/>
        </p:nvSpPr>
        <p:spPr>
          <a:xfrm>
            <a:off x="6172200" y="4983480"/>
            <a:ext cx="384048" cy="384048"/>
          </a:xfrm>
          <a:prstGeom prst="ellipse">
            <a:avLst/>
          </a:prstGeom>
          <a:solidFill>
            <a:srgbClr val="E07A3E"/>
          </a:solidFill>
          <a:ln w="12700">
            <a:solidFill>
              <a:srgbClr val="E07A3E"/>
            </a:solidFill>
            <a:prstDash val="solid"/>
          </a:ln>
        </p:spPr>
      </p:sp>
      <p:pic>
        <p:nvPicPr>
          <p:cNvPr id="38" name="Image 8" descr="/home/nin2207257138/farmcare-render/build/icons/check.png">    </p:cNvPr>
          <p:cNvPicPr>
            <a:picLocks noChangeAspect="1"/>
          </p:cNvPicPr>
          <p:nvPr/>
        </p:nvPicPr>
        <p:blipFill>
          <a:blip r:embed="rId9"/>
          <a:stretch>
            <a:fillRect/>
          </a:stretch>
        </p:blipFill>
        <p:spPr>
          <a:xfrm>
            <a:off x="6264372" y="5075652"/>
            <a:ext cx="199705" cy="199705"/>
          </a:xfrm>
          <a:prstGeom prst="rect">
            <a:avLst/>
          </a:prstGeom>
        </p:spPr>
      </p:pic>
      <p:sp>
        <p:nvSpPr>
          <p:cNvPr id="39" name="Text 28"/>
          <p:cNvSpPr txBox="1"/>
          <p:nvPr/>
        </p:nvSpPr>
        <p:spPr>
          <a:xfrm>
            <a:off x="6675120" y="4956048"/>
            <a:ext cx="219456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Field-tested</a:t>
            </a:r>
            <a:endParaRPr lang="en-US" sz="1350" dirty="0"/>
          </a:p>
        </p:txBody>
      </p:sp>
      <p:sp>
        <p:nvSpPr>
          <p:cNvPr id="40" name="Text 29"/>
          <p:cNvSpPr txBox="1"/>
          <p:nvPr/>
        </p:nvSpPr>
        <p:spPr>
          <a:xfrm>
            <a:off x="6675120" y="5266944"/>
            <a:ext cx="2194560" cy="64008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All three devices in a cowshed in Kanyinya, Nyarugenge</a:t>
            </a:r>
            <a:endParaRPr lang="en-US" sz="1150" dirty="0"/>
          </a:p>
        </p:txBody>
      </p:sp>
      <p:sp>
        <p:nvSpPr>
          <p:cNvPr id="41" name="Shape 30"/>
          <p:cNvSpPr/>
          <p:nvPr/>
        </p:nvSpPr>
        <p:spPr>
          <a:xfrm>
            <a:off x="8983980" y="4983480"/>
            <a:ext cx="384048" cy="384048"/>
          </a:xfrm>
          <a:prstGeom prst="ellipse">
            <a:avLst/>
          </a:prstGeom>
          <a:solidFill>
            <a:srgbClr val="E07A3E"/>
          </a:solidFill>
          <a:ln w="12700">
            <a:solidFill>
              <a:srgbClr val="E07A3E"/>
            </a:solidFill>
            <a:prstDash val="solid"/>
          </a:ln>
        </p:spPr>
      </p:sp>
      <p:pic>
        <p:nvPicPr>
          <p:cNvPr id="42" name="Image 9" descr="/home/nin2207257138/farmcare-render/build/icons/check.png">    </p:cNvPr>
          <p:cNvPicPr>
            <a:picLocks noChangeAspect="1"/>
          </p:cNvPicPr>
          <p:nvPr/>
        </p:nvPicPr>
        <p:blipFill>
          <a:blip r:embed="rId10"/>
          <a:stretch>
            <a:fillRect/>
          </a:stretch>
        </p:blipFill>
        <p:spPr>
          <a:xfrm>
            <a:off x="9076152" y="5075652"/>
            <a:ext cx="199705" cy="199705"/>
          </a:xfrm>
          <a:prstGeom prst="rect">
            <a:avLst/>
          </a:prstGeom>
        </p:spPr>
      </p:pic>
      <p:sp>
        <p:nvSpPr>
          <p:cNvPr id="43" name="Text 31"/>
          <p:cNvSpPr txBox="1"/>
          <p:nvPr/>
        </p:nvSpPr>
        <p:spPr>
          <a:xfrm>
            <a:off x="9486900" y="4956048"/>
            <a:ext cx="219456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Stage: TRL 6</a:t>
            </a:r>
            <a:endParaRPr lang="en-US" sz="1350" dirty="0"/>
          </a:p>
        </p:txBody>
      </p:sp>
      <p:sp>
        <p:nvSpPr>
          <p:cNvPr id="44" name="Text 32"/>
          <p:cNvSpPr txBox="1"/>
          <p:nvPr/>
        </p:nvSpPr>
        <p:spPr>
          <a:xfrm>
            <a:off x="9486900" y="5266944"/>
            <a:ext cx="2194560" cy="64008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Working application; demo video shows every module</a:t>
            </a:r>
            <a:endParaRPr lang="en-US" sz="11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E07A3E"/>
                </a:solidFill>
                <a:latin typeface="Calibri" pitchFamily="34" charset="0"/>
                <a:ea typeface="Calibri" pitchFamily="34" charset="-122"/>
                <a:cs typeface="Calibri" pitchFamily="34" charset="-120"/>
              </a:rPr>
              <a:t>03 · CLIMATE IMPACT</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Climate-smart dairy: adapt, cut emissions, produce more</a:t>
            </a:r>
            <a:endParaRPr lang="en-US" sz="2800" dirty="0"/>
          </a:p>
        </p:txBody>
      </p:sp>
      <p:sp>
        <p:nvSpPr>
          <p:cNvPr id="4" name="Shape 2"/>
          <p:cNvSpPr/>
          <p:nvPr/>
        </p:nvSpPr>
        <p:spPr>
          <a:xfrm>
            <a:off x="548640" y="1463040"/>
            <a:ext cx="3017520" cy="4526280"/>
          </a:xfrm>
          <a:prstGeom prst="roundRect">
            <a:avLst>
              <a:gd name="adj" fmla="val 2424"/>
            </a:avLst>
          </a:prstGeom>
          <a:solidFill>
            <a:srgbClr val="11241C"/>
          </a:solidFill>
          <a:ln w="12700">
            <a:solidFill>
              <a:srgbClr val="11241C"/>
            </a:solidFill>
            <a:prstDash val="solid"/>
          </a:ln>
        </p:spPr>
      </p:sp>
      <p:sp>
        <p:nvSpPr>
          <p:cNvPr id="5" name="Shape 3"/>
          <p:cNvSpPr/>
          <p:nvPr/>
        </p:nvSpPr>
        <p:spPr>
          <a:xfrm>
            <a:off x="822960" y="1737360"/>
            <a:ext cx="640080" cy="640080"/>
          </a:xfrm>
          <a:prstGeom prst="ellipse">
            <a:avLst/>
          </a:prstGeom>
          <a:solidFill>
            <a:srgbClr val="E07A3E"/>
          </a:solidFill>
          <a:ln w="12700">
            <a:solidFill>
              <a:srgbClr val="E07A3E"/>
            </a:solidFill>
            <a:prstDash val="solid"/>
          </a:ln>
        </p:spPr>
      </p:sp>
      <p:pic>
        <p:nvPicPr>
          <p:cNvPr id="6" name="Image 0" descr="/home/nin2207257138/farmcare-render/build/icons/globe.png">    </p:cNvPr>
          <p:cNvPicPr>
            <a:picLocks noChangeAspect="1"/>
          </p:cNvPicPr>
          <p:nvPr/>
        </p:nvPicPr>
        <p:blipFill>
          <a:blip r:embed="rId1"/>
          <a:stretch>
            <a:fillRect/>
          </a:stretch>
        </p:blipFill>
        <p:spPr>
          <a:xfrm>
            <a:off x="976579" y="1890979"/>
            <a:ext cx="332842" cy="332842"/>
          </a:xfrm>
          <a:prstGeom prst="rect">
            <a:avLst/>
          </a:prstGeom>
        </p:spPr>
      </p:pic>
      <p:sp>
        <p:nvSpPr>
          <p:cNvPr id="7" name="Text 4"/>
          <p:cNvSpPr txBox="1"/>
          <p:nvPr/>
        </p:nvSpPr>
        <p:spPr>
          <a:xfrm>
            <a:off x="822960" y="2514600"/>
            <a:ext cx="2560320" cy="777240"/>
          </a:xfrm>
          <a:prstGeom prst="rect">
            <a:avLst/>
          </a:prstGeom>
          <a:noFill/>
          <a:ln/>
        </p:spPr>
        <p:txBody>
          <a:bodyPr wrap="square" lIns="0" tIns="0" rIns="0" bIns="0" rtlCol="0" anchor="t"/>
          <a:lstStyle/>
          <a:p>
            <a:pPr indent="0" marL="0">
              <a:buNone/>
            </a:pPr>
            <a:r>
              <a:rPr lang="en-US" sz="4800" b="1" dirty="0">
                <a:solidFill>
                  <a:srgbClr val="E07A3E"/>
                </a:solidFill>
                <a:latin typeface="Cambria" pitchFamily="34" charset="0"/>
                <a:ea typeface="Cambria" pitchFamily="34" charset="-122"/>
                <a:cs typeface="Cambria" pitchFamily="34" charset="-120"/>
              </a:rPr>
              <a:t>14.5%</a:t>
            </a:r>
            <a:endParaRPr lang="en-US" sz="4800" dirty="0"/>
          </a:p>
        </p:txBody>
      </p:sp>
      <p:sp>
        <p:nvSpPr>
          <p:cNvPr id="8" name="Text 5"/>
          <p:cNvSpPr txBox="1"/>
          <p:nvPr/>
        </p:nvSpPr>
        <p:spPr>
          <a:xfrm>
            <a:off x="822960" y="3337560"/>
            <a:ext cx="2514600" cy="731520"/>
          </a:xfrm>
          <a:prstGeom prst="rect">
            <a:avLst/>
          </a:prstGeom>
          <a:noFill/>
          <a:ln/>
        </p:spPr>
        <p:txBody>
          <a:bodyPr wrap="square" lIns="0" tIns="0" rIns="0" bIns="0" rtlCol="0" anchor="t"/>
          <a:lstStyle/>
          <a:p>
            <a:pPr indent="0" marL="0">
              <a:buNone/>
            </a:pPr>
            <a:r>
              <a:rPr lang="en-US" sz="1300" dirty="0">
                <a:solidFill>
                  <a:srgbClr val="CFE0D4"/>
                </a:solidFill>
                <a:latin typeface="Calibri" pitchFamily="34" charset="0"/>
                <a:ea typeface="Calibri" pitchFamily="34" charset="-122"/>
                <a:cs typeface="Calibri" pitchFamily="34" charset="-120"/>
              </a:rPr>
              <a:t>of global greenhouse-gas emissions come from livestock (FAO).</a:t>
            </a:r>
            <a:endParaRPr lang="en-US" sz="1300" dirty="0"/>
          </a:p>
        </p:txBody>
      </p:sp>
      <p:sp>
        <p:nvSpPr>
          <p:cNvPr id="9" name="Text 6"/>
          <p:cNvSpPr txBox="1"/>
          <p:nvPr/>
        </p:nvSpPr>
        <p:spPr>
          <a:xfrm>
            <a:off x="822960" y="4114800"/>
            <a:ext cx="2514600" cy="1097280"/>
          </a:xfrm>
          <a:prstGeom prst="rect">
            <a:avLst/>
          </a:prstGeom>
          <a:noFill/>
          <a:ln/>
        </p:spPr>
        <p:txBody>
          <a:bodyPr wrap="square" lIns="0" tIns="0" rIns="0" bIns="0" rtlCol="0" anchor="t"/>
          <a:lstStyle/>
          <a:p>
            <a:pPr indent="0" marL="0">
              <a:buNone/>
            </a:pPr>
            <a:r>
              <a:rPr lang="en-US" sz="1150" dirty="0">
                <a:solidFill>
                  <a:srgbClr val="AFC4B5"/>
                </a:solidFill>
                <a:latin typeface="Calibri" pitchFamily="34" charset="0"/>
                <a:ea typeface="Calibri" pitchFamily="34" charset="-122"/>
                <a:cs typeface="Calibri" pitchFamily="34" charset="-120"/>
              </a:rPr>
              <a:t>Rwanda’s Nationally Determined Contribution under the Paris Agreement targets livestock emissions, while hotter barns cut milk yields.</a:t>
            </a:r>
            <a:endParaRPr lang="en-US" sz="1150" dirty="0"/>
          </a:p>
        </p:txBody>
      </p:sp>
      <p:sp>
        <p:nvSpPr>
          <p:cNvPr id="10" name="Text 7"/>
          <p:cNvSpPr txBox="1"/>
          <p:nvPr/>
        </p:nvSpPr>
        <p:spPr>
          <a:xfrm>
            <a:off x="822960" y="5349240"/>
            <a:ext cx="251460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CH₄ · N₂O · CO₂ · NH₃</a:t>
            </a:r>
            <a:endParaRPr lang="en-US" sz="1300" dirty="0"/>
          </a:p>
        </p:txBody>
      </p:sp>
      <p:sp>
        <p:nvSpPr>
          <p:cNvPr id="11" name="Shape 8"/>
          <p:cNvSpPr/>
          <p:nvPr/>
        </p:nvSpPr>
        <p:spPr>
          <a:xfrm>
            <a:off x="3794760" y="1463040"/>
            <a:ext cx="7863840" cy="1033272"/>
          </a:xfrm>
          <a:prstGeom prst="roundRect">
            <a:avLst>
              <a:gd name="adj" fmla="val 7080"/>
            </a:avLst>
          </a:prstGeom>
          <a:solidFill>
            <a:srgbClr val="11241C"/>
          </a:solidFill>
          <a:ln w="12700">
            <a:solidFill>
              <a:srgbClr val="11241C"/>
            </a:solidFill>
            <a:prstDash val="solid"/>
          </a:ln>
        </p:spPr>
      </p:sp>
      <p:sp>
        <p:nvSpPr>
          <p:cNvPr id="12" name="Shape 9"/>
          <p:cNvSpPr/>
          <p:nvPr/>
        </p:nvSpPr>
        <p:spPr>
          <a:xfrm>
            <a:off x="4023360" y="1700784"/>
            <a:ext cx="548640" cy="548640"/>
          </a:xfrm>
          <a:prstGeom prst="ellipse">
            <a:avLst/>
          </a:prstGeom>
          <a:solidFill>
            <a:srgbClr val="E07A3E"/>
          </a:solidFill>
          <a:ln w="12700">
            <a:solidFill>
              <a:srgbClr val="E07A3E"/>
            </a:solidFill>
            <a:prstDash val="solid"/>
          </a:ln>
        </p:spPr>
      </p:sp>
      <p:pic>
        <p:nvPicPr>
          <p:cNvPr id="13" name="Image 1" descr="/home/nin2207257138/farmcare-render/build/icons/thermo.png">    </p:cNvPr>
          <p:cNvPicPr>
            <a:picLocks noChangeAspect="1"/>
          </p:cNvPicPr>
          <p:nvPr/>
        </p:nvPicPr>
        <p:blipFill>
          <a:blip r:embed="rId2"/>
          <a:stretch>
            <a:fillRect/>
          </a:stretch>
        </p:blipFill>
        <p:spPr>
          <a:xfrm>
            <a:off x="4155034" y="1832458"/>
            <a:ext cx="285293" cy="285293"/>
          </a:xfrm>
          <a:prstGeom prst="rect">
            <a:avLst/>
          </a:prstGeom>
        </p:spPr>
      </p:pic>
      <p:sp>
        <p:nvSpPr>
          <p:cNvPr id="14" name="Text 10"/>
          <p:cNvSpPr txBox="1"/>
          <p:nvPr/>
        </p:nvSpPr>
        <p:spPr>
          <a:xfrm>
            <a:off x="4754880" y="1572768"/>
            <a:ext cx="466344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Adapt · heat stress</a:t>
            </a:r>
            <a:endParaRPr lang="en-US" sz="1400" dirty="0"/>
          </a:p>
        </p:txBody>
      </p:sp>
      <p:sp>
        <p:nvSpPr>
          <p:cNvPr id="15" name="Text 11"/>
          <p:cNvSpPr txBox="1"/>
          <p:nvPr/>
        </p:nvSpPr>
        <p:spPr>
          <a:xfrm>
            <a:off x="4754880" y="1874520"/>
            <a:ext cx="4526280" cy="566928"/>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Barn Monitor reads heat and humidity every 10 seconds and switches fans and water spray by itself; the demo shows the spray turning on in the cowshed.</a:t>
            </a:r>
            <a:endParaRPr lang="en-US" sz="1150" dirty="0"/>
          </a:p>
        </p:txBody>
      </p:sp>
      <p:sp>
        <p:nvSpPr>
          <p:cNvPr id="16" name="Shape 12"/>
          <p:cNvSpPr/>
          <p:nvPr/>
        </p:nvSpPr>
        <p:spPr>
          <a:xfrm>
            <a:off x="9418320" y="1810512"/>
            <a:ext cx="2103120" cy="310896"/>
          </a:xfrm>
          <a:prstGeom prst="roundRect">
            <a:avLst>
              <a:gd name="adj" fmla="val 50000"/>
            </a:avLst>
          </a:prstGeom>
          <a:solidFill>
            <a:srgbClr val="E07A3E"/>
          </a:solidFill>
          <a:ln w="12700">
            <a:solidFill>
              <a:srgbClr val="E07A3E"/>
            </a:solidFill>
            <a:prstDash val="solid"/>
          </a:ln>
        </p:spPr>
      </p:sp>
      <p:sp>
        <p:nvSpPr>
          <p:cNvPr id="17" name="Text 13"/>
          <p:cNvSpPr txBox="1"/>
          <p:nvPr/>
        </p:nvSpPr>
        <p:spPr>
          <a:xfrm>
            <a:off x="9418320" y="1810512"/>
            <a:ext cx="210312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WORKING IN THE COWSHED</a:t>
            </a:r>
            <a:endParaRPr lang="en-US" sz="950" dirty="0"/>
          </a:p>
        </p:txBody>
      </p:sp>
      <p:sp>
        <p:nvSpPr>
          <p:cNvPr id="18" name="Shape 14"/>
          <p:cNvSpPr/>
          <p:nvPr/>
        </p:nvSpPr>
        <p:spPr>
          <a:xfrm>
            <a:off x="3794760" y="2610612"/>
            <a:ext cx="7863840" cy="1033272"/>
          </a:xfrm>
          <a:prstGeom prst="roundRect">
            <a:avLst>
              <a:gd name="adj" fmla="val 7080"/>
            </a:avLst>
          </a:prstGeom>
          <a:solidFill>
            <a:srgbClr val="11241C"/>
          </a:solidFill>
          <a:ln w="12700">
            <a:solidFill>
              <a:srgbClr val="11241C"/>
            </a:solidFill>
            <a:prstDash val="solid"/>
          </a:ln>
        </p:spPr>
      </p:sp>
      <p:sp>
        <p:nvSpPr>
          <p:cNvPr id="19" name="Shape 15"/>
          <p:cNvSpPr/>
          <p:nvPr/>
        </p:nvSpPr>
        <p:spPr>
          <a:xfrm>
            <a:off x="4023360" y="2848356"/>
            <a:ext cx="548640" cy="548640"/>
          </a:xfrm>
          <a:prstGeom prst="ellipse">
            <a:avLst/>
          </a:prstGeom>
          <a:solidFill>
            <a:srgbClr val="E07A3E"/>
          </a:solidFill>
          <a:ln w="12700">
            <a:solidFill>
              <a:srgbClr val="E07A3E"/>
            </a:solidFill>
            <a:prstDash val="solid"/>
          </a:ln>
        </p:spPr>
      </p:sp>
      <p:pic>
        <p:nvPicPr>
          <p:cNvPr id="20" name="Image 2" descr="/home/nin2207257138/farmcare-render/build/icons/wind.png">    </p:cNvPr>
          <p:cNvPicPr>
            <a:picLocks noChangeAspect="1"/>
          </p:cNvPicPr>
          <p:nvPr/>
        </p:nvPicPr>
        <p:blipFill>
          <a:blip r:embed="rId3"/>
          <a:stretch>
            <a:fillRect/>
          </a:stretch>
        </p:blipFill>
        <p:spPr>
          <a:xfrm>
            <a:off x="4155034" y="2980030"/>
            <a:ext cx="285293" cy="285293"/>
          </a:xfrm>
          <a:prstGeom prst="rect">
            <a:avLst/>
          </a:prstGeom>
        </p:spPr>
      </p:pic>
      <p:sp>
        <p:nvSpPr>
          <p:cNvPr id="21" name="Text 16"/>
          <p:cNvSpPr txBox="1"/>
          <p:nvPr/>
        </p:nvSpPr>
        <p:spPr>
          <a:xfrm>
            <a:off x="4754880" y="2720340"/>
            <a:ext cx="466344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Mitigate · manure gases</a:t>
            </a:r>
            <a:endParaRPr lang="en-US" sz="1400" dirty="0"/>
          </a:p>
        </p:txBody>
      </p:sp>
      <p:sp>
        <p:nvSpPr>
          <p:cNvPr id="22" name="Text 17"/>
          <p:cNvSpPr txBox="1"/>
          <p:nvPr/>
        </p:nvSpPr>
        <p:spPr>
          <a:xfrm>
            <a:off x="4754880" y="3022092"/>
            <a:ext cx="4526280" cy="566928"/>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MQ-135 and MQ-5 sensors read ammonia, CO₂ and methane-type gases from manure and urine live in the cowshed (4–7% of range), flagging build-up early.</a:t>
            </a:r>
            <a:endParaRPr lang="en-US" sz="1150" dirty="0"/>
          </a:p>
        </p:txBody>
      </p:sp>
      <p:sp>
        <p:nvSpPr>
          <p:cNvPr id="23" name="Shape 18"/>
          <p:cNvSpPr/>
          <p:nvPr/>
        </p:nvSpPr>
        <p:spPr>
          <a:xfrm>
            <a:off x="9418320" y="2958084"/>
            <a:ext cx="2103120" cy="310896"/>
          </a:xfrm>
          <a:prstGeom prst="roundRect">
            <a:avLst>
              <a:gd name="adj" fmla="val 50000"/>
            </a:avLst>
          </a:prstGeom>
          <a:solidFill>
            <a:srgbClr val="E07A3E"/>
          </a:solidFill>
          <a:ln w="12700">
            <a:solidFill>
              <a:srgbClr val="E07A3E"/>
            </a:solidFill>
            <a:prstDash val="solid"/>
          </a:ln>
        </p:spPr>
      </p:sp>
      <p:sp>
        <p:nvSpPr>
          <p:cNvPr id="24" name="Text 19"/>
          <p:cNvSpPr txBox="1"/>
          <p:nvPr/>
        </p:nvSpPr>
        <p:spPr>
          <a:xfrm>
            <a:off x="9418320" y="2958084"/>
            <a:ext cx="210312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LIVE · UNCALIBRATED</a:t>
            </a:r>
            <a:endParaRPr lang="en-US" sz="950" dirty="0"/>
          </a:p>
        </p:txBody>
      </p:sp>
      <p:sp>
        <p:nvSpPr>
          <p:cNvPr id="25" name="Shape 20"/>
          <p:cNvSpPr/>
          <p:nvPr/>
        </p:nvSpPr>
        <p:spPr>
          <a:xfrm>
            <a:off x="3794760" y="3758184"/>
            <a:ext cx="7863840" cy="1033272"/>
          </a:xfrm>
          <a:prstGeom prst="roundRect">
            <a:avLst>
              <a:gd name="adj" fmla="val 7080"/>
            </a:avLst>
          </a:prstGeom>
          <a:solidFill>
            <a:srgbClr val="11241C"/>
          </a:solidFill>
          <a:ln w="12700">
            <a:solidFill>
              <a:srgbClr val="11241C"/>
            </a:solidFill>
            <a:prstDash val="solid"/>
          </a:ln>
        </p:spPr>
      </p:sp>
      <p:sp>
        <p:nvSpPr>
          <p:cNvPr id="26" name="Shape 21"/>
          <p:cNvSpPr/>
          <p:nvPr/>
        </p:nvSpPr>
        <p:spPr>
          <a:xfrm>
            <a:off x="4023360" y="3995928"/>
            <a:ext cx="548640" cy="548640"/>
          </a:xfrm>
          <a:prstGeom prst="ellipse">
            <a:avLst/>
          </a:prstGeom>
          <a:solidFill>
            <a:srgbClr val="E07A3E"/>
          </a:solidFill>
          <a:ln w="12700">
            <a:solidFill>
              <a:srgbClr val="E07A3E"/>
            </a:solidFill>
            <a:prstDash val="solid"/>
          </a:ln>
        </p:spPr>
      </p:sp>
      <p:pic>
        <p:nvPicPr>
          <p:cNvPr id="27" name="Image 3" descr="/home/nin2207257138/farmcare-render/build/icons/recycle.png">    </p:cNvPr>
          <p:cNvPicPr>
            <a:picLocks noChangeAspect="1"/>
          </p:cNvPicPr>
          <p:nvPr/>
        </p:nvPicPr>
        <p:blipFill>
          <a:blip r:embed="rId4"/>
          <a:stretch>
            <a:fillRect/>
          </a:stretch>
        </p:blipFill>
        <p:spPr>
          <a:xfrm>
            <a:off x="4155034" y="4127602"/>
            <a:ext cx="285293" cy="285293"/>
          </a:xfrm>
          <a:prstGeom prst="rect">
            <a:avLst/>
          </a:prstGeom>
        </p:spPr>
      </p:pic>
      <p:sp>
        <p:nvSpPr>
          <p:cNvPr id="28" name="Text 22"/>
          <p:cNvSpPr txBox="1"/>
          <p:nvPr/>
        </p:nvSpPr>
        <p:spPr>
          <a:xfrm>
            <a:off x="4754880" y="3867912"/>
            <a:ext cx="466344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Mitigate · biogas</a:t>
            </a:r>
            <a:endParaRPr lang="en-US" sz="1400" dirty="0"/>
          </a:p>
        </p:txBody>
      </p:sp>
      <p:sp>
        <p:nvSpPr>
          <p:cNvPr id="29" name="Text 23"/>
          <p:cNvSpPr txBox="1"/>
          <p:nvPr/>
        </p:nvSpPr>
        <p:spPr>
          <a:xfrm>
            <a:off x="4754880" y="4169664"/>
            <a:ext cx="4526280" cy="566928"/>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Next: feed captured manure to biogas digesters, with pressure and temperature sensors to optimise methane capture into clean energy.</a:t>
            </a:r>
            <a:endParaRPr lang="en-US" sz="1150" dirty="0"/>
          </a:p>
        </p:txBody>
      </p:sp>
      <p:sp>
        <p:nvSpPr>
          <p:cNvPr id="30" name="Shape 24"/>
          <p:cNvSpPr/>
          <p:nvPr/>
        </p:nvSpPr>
        <p:spPr>
          <a:xfrm>
            <a:off x="9418320" y="4105656"/>
            <a:ext cx="2103120" cy="310896"/>
          </a:xfrm>
          <a:prstGeom prst="roundRect">
            <a:avLst>
              <a:gd name="adj" fmla="val 50000"/>
            </a:avLst>
          </a:prstGeom>
          <a:solidFill>
            <a:srgbClr val="CFE0D4"/>
          </a:solidFill>
          <a:ln w="12700">
            <a:solidFill>
              <a:srgbClr val="CFE0D4"/>
            </a:solidFill>
            <a:prstDash val="solid"/>
          </a:ln>
        </p:spPr>
      </p:sp>
      <p:sp>
        <p:nvSpPr>
          <p:cNvPr id="31" name="Text 25"/>
          <p:cNvSpPr txBox="1"/>
          <p:nvPr/>
        </p:nvSpPr>
        <p:spPr>
          <a:xfrm>
            <a:off x="9418320" y="4105656"/>
            <a:ext cx="2103120" cy="310896"/>
          </a:xfrm>
          <a:prstGeom prst="rect">
            <a:avLst/>
          </a:prstGeom>
          <a:noFill/>
          <a:ln/>
        </p:spPr>
        <p:txBody>
          <a:bodyPr wrap="square" lIns="0" tIns="0" rIns="0" bIns="0" rtlCol="0" anchor="ctr"/>
          <a:lstStyle/>
          <a:p>
            <a:pPr algn="ctr" indent="0" marL="0">
              <a:buNone/>
            </a:pPr>
            <a:r>
              <a:rPr lang="en-US" sz="950" b="1" spc="100" kern="0" dirty="0">
                <a:solidFill>
                  <a:srgbClr val="1F2A22"/>
                </a:solidFill>
                <a:latin typeface="Calibri" pitchFamily="34" charset="0"/>
                <a:ea typeface="Calibri" pitchFamily="34" charset="-122"/>
                <a:cs typeface="Calibri" pitchFamily="34" charset="-120"/>
              </a:rPr>
              <a:t>PLANNED</a:t>
            </a:r>
            <a:endParaRPr lang="en-US" sz="950" dirty="0"/>
          </a:p>
        </p:txBody>
      </p:sp>
      <p:sp>
        <p:nvSpPr>
          <p:cNvPr id="32" name="Shape 26"/>
          <p:cNvSpPr/>
          <p:nvPr/>
        </p:nvSpPr>
        <p:spPr>
          <a:xfrm>
            <a:off x="3794760" y="4905756"/>
            <a:ext cx="7863840" cy="1033272"/>
          </a:xfrm>
          <a:prstGeom prst="roundRect">
            <a:avLst>
              <a:gd name="adj" fmla="val 7080"/>
            </a:avLst>
          </a:prstGeom>
          <a:solidFill>
            <a:srgbClr val="11241C"/>
          </a:solidFill>
          <a:ln w="12700">
            <a:solidFill>
              <a:srgbClr val="11241C"/>
            </a:solidFill>
            <a:prstDash val="solid"/>
          </a:ln>
        </p:spPr>
      </p:sp>
      <p:sp>
        <p:nvSpPr>
          <p:cNvPr id="33" name="Shape 27"/>
          <p:cNvSpPr/>
          <p:nvPr/>
        </p:nvSpPr>
        <p:spPr>
          <a:xfrm>
            <a:off x="4023360" y="5143500"/>
            <a:ext cx="548640" cy="548640"/>
          </a:xfrm>
          <a:prstGeom prst="ellipse">
            <a:avLst/>
          </a:prstGeom>
          <a:solidFill>
            <a:srgbClr val="E07A3E"/>
          </a:solidFill>
          <a:ln w="12700">
            <a:solidFill>
              <a:srgbClr val="E07A3E"/>
            </a:solidFill>
            <a:prstDash val="solid"/>
          </a:ln>
        </p:spPr>
      </p:sp>
      <p:pic>
        <p:nvPicPr>
          <p:cNvPr id="34" name="Image 4" descr="/home/nin2207257138/farmcare-render/build/icons/seedling.png">    </p:cNvPr>
          <p:cNvPicPr>
            <a:picLocks noChangeAspect="1"/>
          </p:cNvPicPr>
          <p:nvPr/>
        </p:nvPicPr>
        <p:blipFill>
          <a:blip r:embed="rId5"/>
          <a:stretch>
            <a:fillRect/>
          </a:stretch>
        </p:blipFill>
        <p:spPr>
          <a:xfrm>
            <a:off x="4155034" y="5275174"/>
            <a:ext cx="285293" cy="285293"/>
          </a:xfrm>
          <a:prstGeom prst="rect">
            <a:avLst/>
          </a:prstGeom>
        </p:spPr>
      </p:pic>
      <p:sp>
        <p:nvSpPr>
          <p:cNvPr id="35" name="Text 28"/>
          <p:cNvSpPr txBox="1"/>
          <p:nvPr/>
        </p:nvSpPr>
        <p:spPr>
          <a:xfrm>
            <a:off x="4754880" y="5015484"/>
            <a:ext cx="466344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Produce more per cow</a:t>
            </a:r>
            <a:endParaRPr lang="en-US" sz="1400" dirty="0"/>
          </a:p>
        </p:txBody>
      </p:sp>
      <p:sp>
        <p:nvSpPr>
          <p:cNvPr id="36" name="Text 29"/>
          <p:cNvSpPr txBox="1"/>
          <p:nvPr/>
        </p:nvSpPr>
        <p:spPr>
          <a:xfrm>
            <a:off x="4754880" y="5317236"/>
            <a:ext cx="4526280" cy="566928"/>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Earlier heat and disease detection means more milk per cow rather than more cows, which lowers emissions per litre.</a:t>
            </a:r>
            <a:endParaRPr lang="en-US" sz="1150" dirty="0"/>
          </a:p>
        </p:txBody>
      </p:sp>
      <p:sp>
        <p:nvSpPr>
          <p:cNvPr id="37" name="Shape 30"/>
          <p:cNvSpPr/>
          <p:nvPr/>
        </p:nvSpPr>
        <p:spPr>
          <a:xfrm>
            <a:off x="9418320" y="5253228"/>
            <a:ext cx="2103120" cy="310896"/>
          </a:xfrm>
          <a:prstGeom prst="roundRect">
            <a:avLst>
              <a:gd name="adj" fmla="val 50000"/>
            </a:avLst>
          </a:prstGeom>
          <a:solidFill>
            <a:srgbClr val="CFE0D4"/>
          </a:solidFill>
          <a:ln w="12700">
            <a:solidFill>
              <a:srgbClr val="CFE0D4"/>
            </a:solidFill>
            <a:prstDash val="solid"/>
          </a:ln>
        </p:spPr>
      </p:sp>
      <p:sp>
        <p:nvSpPr>
          <p:cNvPr id="38" name="Text 31"/>
          <p:cNvSpPr txBox="1"/>
          <p:nvPr/>
        </p:nvSpPr>
        <p:spPr>
          <a:xfrm>
            <a:off x="9418320" y="5253228"/>
            <a:ext cx="2103120" cy="310896"/>
          </a:xfrm>
          <a:prstGeom prst="rect">
            <a:avLst/>
          </a:prstGeom>
          <a:noFill/>
          <a:ln/>
        </p:spPr>
        <p:txBody>
          <a:bodyPr wrap="square" lIns="0" tIns="0" rIns="0" bIns="0" rtlCol="0" anchor="ctr"/>
          <a:lstStyle/>
          <a:p>
            <a:pPr algn="ctr" indent="0" marL="0">
              <a:buNone/>
            </a:pPr>
            <a:r>
              <a:rPr lang="en-US" sz="950" b="1" spc="100" kern="0" dirty="0">
                <a:solidFill>
                  <a:srgbClr val="1F2A22"/>
                </a:solidFill>
                <a:latin typeface="Calibri" pitchFamily="34" charset="0"/>
                <a:ea typeface="Calibri" pitchFamily="34" charset="-122"/>
                <a:cs typeface="Calibri" pitchFamily="34" charset="-120"/>
              </a:rPr>
              <a:t>NOT YET MEASURED</a:t>
            </a:r>
            <a:endParaRPr lang="en-US" sz="950" dirty="0"/>
          </a:p>
        </p:txBody>
      </p:sp>
      <p:sp>
        <p:nvSpPr>
          <p:cNvPr id="39" name="Text 32"/>
          <p:cNvSpPr txBox="1"/>
          <p:nvPr/>
        </p:nvSpPr>
        <p:spPr>
          <a:xfrm>
            <a:off x="548640" y="6016752"/>
            <a:ext cx="11064240" cy="384048"/>
          </a:xfrm>
          <a:prstGeom prst="rect">
            <a:avLst/>
          </a:prstGeom>
          <a:noFill/>
          <a:ln/>
        </p:spPr>
        <p:txBody>
          <a:bodyPr wrap="square" lIns="0" tIns="0" rIns="0" bIns="0" rtlCol="0" anchor="t"/>
          <a:lstStyle/>
          <a:p>
            <a:pPr indent="0" marL="0">
              <a:buNone/>
            </a:pPr>
            <a:r>
              <a:rPr lang="en-US" sz="1100" i="1" dirty="0">
                <a:solidFill>
                  <a:srgbClr val="CFE0D4"/>
                </a:solidFill>
                <a:latin typeface="Calibri" pitchFamily="34" charset="0"/>
                <a:ea typeface="Calibri" pitchFamily="34" charset="-122"/>
                <a:cs typeface="Calibri" pitchFamily="34" charset="-120"/>
              </a:rPr>
              <a:t>Planned AI: early warning of emission spikes, mitigation advice and GHG reports for Rwanda’s NDC and green finance. It needs field data first. N₂O needs an electrochemical sensor, not yet fitted.</a:t>
            </a:r>
            <a:endParaRPr lang="en-US" sz="110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C7602A"/>
                </a:solidFill>
                <a:latin typeface="Calibri" pitchFamily="34" charset="0"/>
                <a:ea typeface="Calibri" pitchFamily="34" charset="-122"/>
                <a:cs typeface="Calibri" pitchFamily="34" charset="-120"/>
              </a:rPr>
              <a:t>04 · HOW THE AI WORKS</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1F2A22"/>
                </a:solidFill>
                <a:latin typeface="Cambria" pitchFamily="34" charset="0"/>
                <a:ea typeface="Cambria" pitchFamily="34" charset="-122"/>
                <a:cs typeface="Cambria" pitchFamily="34" charset="-120"/>
              </a:rPr>
              <a:t>From sensor reading to farmer action</a:t>
            </a:r>
            <a:endParaRPr lang="en-US" sz="2800" dirty="0"/>
          </a:p>
        </p:txBody>
      </p:sp>
      <p:sp>
        <p:nvSpPr>
          <p:cNvPr id="4" name="Shape 2"/>
          <p:cNvSpPr/>
          <p:nvPr/>
        </p:nvSpPr>
        <p:spPr>
          <a:xfrm>
            <a:off x="548640" y="1417320"/>
            <a:ext cx="25146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554480"/>
            <a:ext cx="2148840" cy="292608"/>
          </a:xfrm>
          <a:prstGeom prst="rect">
            <a:avLst/>
          </a:prstGeom>
          <a:noFill/>
          <a:ln/>
        </p:spPr>
        <p:txBody>
          <a:bodyPr wrap="square" lIns="0" tIns="0" rIns="0" bIns="0" rtlCol="0" anchor="t"/>
          <a:lstStyle/>
          <a:p>
            <a:pPr indent="0" marL="0">
              <a:buNone/>
            </a:pPr>
            <a:r>
              <a:rPr lang="en-US" sz="1350" b="1" dirty="0">
                <a:solidFill>
                  <a:srgbClr val="1B3B2F"/>
                </a:solidFill>
                <a:latin typeface="Calibri" pitchFamily="34" charset="0"/>
                <a:ea typeface="Calibri" pitchFamily="34" charset="-122"/>
                <a:cs typeface="Calibri" pitchFamily="34" charset="-120"/>
              </a:rPr>
              <a:t>1 · Data inputs</a:t>
            </a:r>
            <a:endParaRPr lang="en-US" sz="1350" dirty="0"/>
          </a:p>
        </p:txBody>
      </p:sp>
      <p:sp>
        <p:nvSpPr>
          <p:cNvPr id="6" name="Text 4"/>
          <p:cNvSpPr txBox="1"/>
          <p:nvPr/>
        </p:nvSpPr>
        <p:spPr>
          <a:xfrm>
            <a:off x="731520" y="1892808"/>
            <a:ext cx="2148840" cy="1051560"/>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Collar: temperature, pulse, SpO2, motion, GPS. Station: RFID, milk level, TDS. Barn: climate, gases, feed, water.</a:t>
            </a:r>
            <a:endParaRPr lang="en-US" sz="1150" dirty="0"/>
          </a:p>
        </p:txBody>
      </p:sp>
      <p:sp>
        <p:nvSpPr>
          <p:cNvPr id="7" name="Shape 5"/>
          <p:cNvSpPr/>
          <p:nvPr/>
        </p:nvSpPr>
        <p:spPr>
          <a:xfrm>
            <a:off x="3108960" y="2075688"/>
            <a:ext cx="274320" cy="274320"/>
          </a:xfrm>
          <a:prstGeom prst="rightArrow">
            <a:avLst/>
          </a:prstGeom>
          <a:solidFill>
            <a:srgbClr val="E07A3E"/>
          </a:solidFill>
          <a:ln w="12700">
            <a:solidFill>
              <a:srgbClr val="E07A3E"/>
            </a:solidFill>
            <a:prstDash val="solid"/>
          </a:ln>
        </p:spPr>
      </p:sp>
      <p:sp>
        <p:nvSpPr>
          <p:cNvPr id="8" name="Shape 6"/>
          <p:cNvSpPr/>
          <p:nvPr/>
        </p:nvSpPr>
        <p:spPr>
          <a:xfrm>
            <a:off x="3429000" y="1417320"/>
            <a:ext cx="25146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611880" y="1554480"/>
            <a:ext cx="2148840" cy="292608"/>
          </a:xfrm>
          <a:prstGeom prst="rect">
            <a:avLst/>
          </a:prstGeom>
          <a:noFill/>
          <a:ln/>
        </p:spPr>
        <p:txBody>
          <a:bodyPr wrap="square" lIns="0" tIns="0" rIns="0" bIns="0" rtlCol="0" anchor="t"/>
          <a:lstStyle/>
          <a:p>
            <a:pPr indent="0" marL="0">
              <a:buNone/>
            </a:pPr>
            <a:r>
              <a:rPr lang="en-US" sz="1350" b="1" dirty="0">
                <a:solidFill>
                  <a:srgbClr val="1B3B2F"/>
                </a:solidFill>
                <a:latin typeface="Calibri" pitchFamily="34" charset="0"/>
                <a:ea typeface="Calibri" pitchFamily="34" charset="-122"/>
                <a:cs typeface="Calibri" pitchFamily="34" charset="-120"/>
              </a:rPr>
              <a:t>2 · Edge and cloud</a:t>
            </a:r>
            <a:endParaRPr lang="en-US" sz="1350" dirty="0"/>
          </a:p>
        </p:txBody>
      </p:sp>
      <p:sp>
        <p:nvSpPr>
          <p:cNvPr id="10" name="Text 8"/>
          <p:cNvSpPr txBox="1"/>
          <p:nvPr/>
        </p:nvSpPr>
        <p:spPr>
          <a:xfrm>
            <a:off x="3611880" y="1892808"/>
            <a:ext cx="2148840" cy="1051560"/>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ESP32 and NodeMCU devices post readings every 10 s; cooling and pump rules also run on the device.</a:t>
            </a:r>
            <a:endParaRPr lang="en-US" sz="1150" dirty="0"/>
          </a:p>
        </p:txBody>
      </p:sp>
      <p:sp>
        <p:nvSpPr>
          <p:cNvPr id="11" name="Shape 9"/>
          <p:cNvSpPr/>
          <p:nvPr/>
        </p:nvSpPr>
        <p:spPr>
          <a:xfrm>
            <a:off x="5989320" y="2075688"/>
            <a:ext cx="274320" cy="274320"/>
          </a:xfrm>
          <a:prstGeom prst="rightArrow">
            <a:avLst/>
          </a:prstGeom>
          <a:solidFill>
            <a:srgbClr val="E07A3E"/>
          </a:solidFill>
          <a:ln w="12700">
            <a:solidFill>
              <a:srgbClr val="E07A3E"/>
            </a:solidFill>
            <a:prstDash val="solid"/>
          </a:ln>
        </p:spPr>
      </p:sp>
      <p:sp>
        <p:nvSpPr>
          <p:cNvPr id="12" name="Shape 10"/>
          <p:cNvSpPr/>
          <p:nvPr/>
        </p:nvSpPr>
        <p:spPr>
          <a:xfrm>
            <a:off x="6309360" y="1417320"/>
            <a:ext cx="2514600" cy="1600200"/>
          </a:xfrm>
          <a:prstGeom prst="roundRect">
            <a:avLst>
              <a:gd name="adj" fmla="val 4571"/>
            </a:avLst>
          </a:prstGeom>
          <a:solidFill>
            <a:srgbClr val="1B3B2F"/>
          </a:solidFill>
          <a:ln w="12700">
            <a:solidFill>
              <a:srgbClr val="1B3B2F"/>
            </a:solidFill>
            <a:prstDash val="solid"/>
          </a:ln>
        </p:spPr>
      </p:sp>
      <p:sp>
        <p:nvSpPr>
          <p:cNvPr id="13" name="Text 11"/>
          <p:cNvSpPr txBox="1"/>
          <p:nvPr/>
        </p:nvSpPr>
        <p:spPr>
          <a:xfrm>
            <a:off x="6492240" y="1554480"/>
            <a:ext cx="2148840" cy="292608"/>
          </a:xfrm>
          <a:prstGeom prst="rect">
            <a:avLst/>
          </a:prstGeom>
          <a:noFill/>
          <a:ln/>
        </p:spPr>
        <p:txBody>
          <a:bodyPr wrap="square" lIns="0" tIns="0" rIns="0" bIns="0" rtlCol="0" anchor="t"/>
          <a:lstStyle/>
          <a:p>
            <a:pPr indent="0" marL="0">
              <a:buNone/>
            </a:pPr>
            <a:r>
              <a:rPr lang="en-US" sz="1350" b="1" dirty="0">
                <a:solidFill>
                  <a:srgbClr val="E07A3E"/>
                </a:solidFill>
                <a:latin typeface="Calibri" pitchFamily="34" charset="0"/>
                <a:ea typeface="Calibri" pitchFamily="34" charset="-122"/>
                <a:cs typeface="Calibri" pitchFamily="34" charset="-120"/>
              </a:rPr>
              <a:t>3 · Analysis</a:t>
            </a:r>
            <a:endParaRPr lang="en-US" sz="1350" dirty="0"/>
          </a:p>
        </p:txBody>
      </p:sp>
      <p:sp>
        <p:nvSpPr>
          <p:cNvPr id="14" name="Text 12"/>
          <p:cNvSpPr txBox="1"/>
          <p:nvPr/>
        </p:nvSpPr>
        <p:spPr>
          <a:xfrm>
            <a:off x="6492240" y="1892808"/>
            <a:ext cx="2148840" cy="105156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Today: vet-range rules plus a risk score against each cow’s 14-day baseline. Next: trained models.</a:t>
            </a:r>
            <a:endParaRPr lang="en-US" sz="1150" dirty="0"/>
          </a:p>
        </p:txBody>
      </p:sp>
      <p:sp>
        <p:nvSpPr>
          <p:cNvPr id="15" name="Shape 13"/>
          <p:cNvSpPr/>
          <p:nvPr/>
        </p:nvSpPr>
        <p:spPr>
          <a:xfrm>
            <a:off x="8869680" y="2075688"/>
            <a:ext cx="274320" cy="274320"/>
          </a:xfrm>
          <a:prstGeom prst="rightArrow">
            <a:avLst/>
          </a:prstGeom>
          <a:solidFill>
            <a:srgbClr val="E07A3E"/>
          </a:solidFill>
          <a:ln w="12700">
            <a:solidFill>
              <a:srgbClr val="E07A3E"/>
            </a:solidFill>
            <a:prstDash val="solid"/>
          </a:ln>
        </p:spPr>
      </p:sp>
      <p:sp>
        <p:nvSpPr>
          <p:cNvPr id="16" name="Shape 14"/>
          <p:cNvSpPr/>
          <p:nvPr/>
        </p:nvSpPr>
        <p:spPr>
          <a:xfrm>
            <a:off x="9189720" y="1417320"/>
            <a:ext cx="25146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9372600" y="1554480"/>
            <a:ext cx="2148840" cy="292608"/>
          </a:xfrm>
          <a:prstGeom prst="rect">
            <a:avLst/>
          </a:prstGeom>
          <a:noFill/>
          <a:ln/>
        </p:spPr>
        <p:txBody>
          <a:bodyPr wrap="square" lIns="0" tIns="0" rIns="0" bIns="0" rtlCol="0" anchor="t"/>
          <a:lstStyle/>
          <a:p>
            <a:pPr indent="0" marL="0">
              <a:buNone/>
            </a:pPr>
            <a:r>
              <a:rPr lang="en-US" sz="1350" b="1" dirty="0">
                <a:solidFill>
                  <a:srgbClr val="1B3B2F"/>
                </a:solidFill>
                <a:latin typeface="Calibri" pitchFamily="34" charset="0"/>
                <a:ea typeface="Calibri" pitchFamily="34" charset="-122"/>
                <a:cs typeface="Calibri" pitchFamily="34" charset="-120"/>
              </a:rPr>
              <a:t>4 · Farmer action</a:t>
            </a:r>
            <a:endParaRPr lang="en-US" sz="1350" dirty="0"/>
          </a:p>
        </p:txBody>
      </p:sp>
      <p:sp>
        <p:nvSpPr>
          <p:cNvPr id="18" name="Text 16"/>
          <p:cNvSpPr txBox="1"/>
          <p:nvPr/>
        </p:nvSpPr>
        <p:spPr>
          <a:xfrm>
            <a:off x="9372600" y="1892808"/>
            <a:ext cx="2148840" cy="1051560"/>
          </a:xfrm>
          <a:prstGeom prst="rect">
            <a:avLst/>
          </a:prstGeom>
          <a:noFill/>
          <a:ln/>
        </p:spPr>
        <p:txBody>
          <a:bodyPr wrap="square" lIns="0" tIns="0" rIns="0" bIns="0" rtlCol="0" anchor="t"/>
          <a:lstStyle/>
          <a:p>
            <a:pPr indent="0" marL="0">
              <a:buNone/>
            </a:pPr>
            <a:r>
              <a:rPr lang="en-US" sz="1150" dirty="0">
                <a:solidFill>
                  <a:srgbClr val="5C6B60"/>
                </a:solidFill>
                <a:latin typeface="Calibri" pitchFamily="34" charset="0"/>
                <a:ea typeface="Calibri" pitchFamily="34" charset="-122"/>
                <a:cs typeface="Calibri" pitchFamily="34" charset="-120"/>
              </a:rPr>
              <a:t>Alert to farmer, vet or technician: cool the barn, inseminate, treat the cow or hold the milk.</a:t>
            </a:r>
            <a:endParaRPr lang="en-US" sz="1150" dirty="0"/>
          </a:p>
        </p:txBody>
      </p:sp>
      <p:sp>
        <p:nvSpPr>
          <p:cNvPr id="19" name="Shape 17"/>
          <p:cNvSpPr/>
          <p:nvPr/>
        </p:nvSpPr>
        <p:spPr>
          <a:xfrm>
            <a:off x="548640" y="3246120"/>
            <a:ext cx="3291840" cy="2697480"/>
          </a:xfrm>
          <a:prstGeom prst="roundRect">
            <a:avLst>
              <a:gd name="adj" fmla="val 271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31520" y="3401568"/>
            <a:ext cx="457200" cy="457200"/>
          </a:xfrm>
          <a:prstGeom prst="ellipse">
            <a:avLst/>
          </a:prstGeom>
          <a:solidFill>
            <a:srgbClr val="E07A3E"/>
          </a:solidFill>
          <a:ln w="12700">
            <a:solidFill>
              <a:srgbClr val="E07A3E"/>
            </a:solidFill>
            <a:prstDash val="solid"/>
          </a:ln>
        </p:spPr>
      </p:sp>
      <p:pic>
        <p:nvPicPr>
          <p:cNvPr id="21" name="Image 0" descr="/home/nin2207257138/farmcare-render/build/icons/check.png">    </p:cNvPr>
          <p:cNvPicPr>
            <a:picLocks noChangeAspect="1"/>
          </p:cNvPicPr>
          <p:nvPr/>
        </p:nvPicPr>
        <p:blipFill>
          <a:blip r:embed="rId1"/>
          <a:stretch>
            <a:fillRect/>
          </a:stretch>
        </p:blipFill>
        <p:spPr>
          <a:xfrm>
            <a:off x="841248" y="3511296"/>
            <a:ext cx="237744" cy="237744"/>
          </a:xfrm>
          <a:prstGeom prst="rect">
            <a:avLst/>
          </a:prstGeom>
        </p:spPr>
      </p:pic>
      <p:sp>
        <p:nvSpPr>
          <p:cNvPr id="22" name="Text 19"/>
          <p:cNvSpPr txBox="1"/>
          <p:nvPr/>
        </p:nvSpPr>
        <p:spPr>
          <a:xfrm>
            <a:off x="1325880" y="3474720"/>
            <a:ext cx="2377440" cy="320040"/>
          </a:xfrm>
          <a:prstGeom prst="rect">
            <a:avLst/>
          </a:prstGeom>
          <a:noFill/>
          <a:ln/>
        </p:spPr>
        <p:txBody>
          <a:bodyPr wrap="square" lIns="0" tIns="0" rIns="0" bIns="0" rtlCol="0" anchor="t"/>
          <a:lstStyle/>
          <a:p>
            <a:pPr indent="0" marL="0">
              <a:buNone/>
            </a:pPr>
            <a:r>
              <a:rPr lang="en-US" sz="1500" b="1" dirty="0">
                <a:solidFill>
                  <a:srgbClr val="1B3B2F"/>
                </a:solidFill>
                <a:latin typeface="Cambria" pitchFamily="34" charset="0"/>
                <a:ea typeface="Cambria" pitchFamily="34" charset="-122"/>
                <a:cs typeface="Cambria" pitchFamily="34" charset="-120"/>
              </a:rPr>
              <a:t>Running today</a:t>
            </a:r>
            <a:endParaRPr lang="en-US" sz="1500" dirty="0"/>
          </a:p>
        </p:txBody>
      </p:sp>
      <p:sp>
        <p:nvSpPr>
          <p:cNvPr id="23" name="Text 20"/>
          <p:cNvSpPr txBox="1"/>
          <p:nvPr/>
        </p:nvSpPr>
        <p:spPr>
          <a:xfrm>
            <a:off x="731520" y="3931920"/>
            <a:ext cx="2971800" cy="1965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Risk score 0–100 per cow: vital-sign ranges plus deviation from her own 14-day average</a:t>
            </a:r>
            <a:endParaRPr lang="en-US" sz="1150" dirty="0"/>
          </a:p>
          <a:p>
            <a:pPr marL="342900" indent="-342900">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Readings tied to each cow by RFID</a:t>
            </a:r>
            <a:endParaRPr lang="en-US" sz="1150" dirty="0"/>
          </a:p>
          <a:p>
            <a:pPr marL="342900" indent="-342900">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Ultrasonic milk volume in litres</a:t>
            </a:r>
            <a:endParaRPr lang="en-US" sz="1150" dirty="0"/>
          </a:p>
          <a:p>
            <a:pPr marL="342900" indent="-342900">
              <a:spcAft>
                <a:spcPts val="400"/>
              </a:spcAft>
              <a:buSzPct val="100000"/>
              <a:buChar char="•"/>
            </a:pPr>
            <a:r>
              <a:rPr lang="en-US" sz="1150" dirty="0">
                <a:solidFill>
                  <a:srgbClr val="1F2A22"/>
                </a:solidFill>
                <a:latin typeface="Calibri" pitchFamily="34" charset="0"/>
                <a:ea typeface="Calibri" pitchFamily="34" charset="-122"/>
                <a:cs typeface="Calibri" pitchFamily="34" charset="-120"/>
              </a:rPr>
              <a:t>Automatic pump, fan and spray</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069080" y="3246120"/>
          <a:ext cx="7589520" cy="914400"/>
        </p:xfrm>
        <a:graphic>
          <a:graphicData uri="http://schemas.openxmlformats.org/drawingml/2006/table">
            <a:tbl>
              <a:tblPr/>
              <a:tblGrid>
                <a:gridCol w="2011680"/>
                <a:gridCol w="2926080"/>
                <a:gridCol w="265176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 (in development)</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1B3B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1B3B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Training data</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1B3B2F"/>
                    </a:solidFill>
                  </a:tcPr>
                </a:tc>
              </a:tr>
              <a:tr h="502920">
                <a:tc>
                  <a:txBody>
                    <a:bodyPr/>
                    <a:lstStyle/>
                    <a:p>
                      <a:pPr indent="0" marL="0">
                        <a:buNone/>
                      </a:pPr>
                      <a:r>
                        <a:rPr lang="en-US" sz="1100" b="1" dirty="0">
                          <a:solidFill>
                            <a:srgbClr val="1F2A22"/>
                          </a:solidFill>
                          <a:latin typeface="Calibri" pitchFamily="34" charset="0"/>
                          <a:ea typeface="Calibri" pitchFamily="34" charset="-122"/>
                          <a:cs typeface="Calibri" pitchFamily="34" charset="-120"/>
                        </a:rPr>
                        <a:t>Heat (estrus) detection</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Motion and temperature against each cow’s own baseline</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Collar logs labelled by insemination outcome</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F2A22"/>
                          </a:solidFill>
                          <a:latin typeface="Calibri" pitchFamily="34" charset="0"/>
                          <a:ea typeface="Calibri" pitchFamily="34" charset="-122"/>
                          <a:cs typeface="Calibri" pitchFamily="34" charset="-120"/>
                        </a:rPr>
                        <a:t>Milk-quality flag</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TDS and temperature anomalies per cow</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Station logs labelled by collection-centre tests</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r>
              <a:tr h="502920">
                <a:tc>
                  <a:txBody>
                    <a:bodyPr/>
                    <a:lstStyle/>
                    <a:p>
                      <a:pPr indent="0" marL="0">
                        <a:buNone/>
                      </a:pPr>
                      <a:r>
                        <a:rPr lang="en-US" sz="1100" b="1" dirty="0">
                          <a:solidFill>
                            <a:srgbClr val="1F2A22"/>
                          </a:solidFill>
                          <a:latin typeface="Calibri" pitchFamily="34" charset="0"/>
                          <a:ea typeface="Calibri" pitchFamily="34" charset="-122"/>
                          <a:cs typeface="Calibri" pitchFamily="34" charset="-120"/>
                        </a:rPr>
                        <a:t>Health risk</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Fever, activity drop, lower feed and water intake</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Barn and collar logs labelled by vet diagnoses</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F2A22"/>
                          </a:solidFill>
                          <a:latin typeface="Calibri" pitchFamily="34" charset="0"/>
                          <a:ea typeface="Calibri" pitchFamily="34" charset="-122"/>
                          <a:cs typeface="Calibri" pitchFamily="34" charset="-120"/>
                        </a:rPr>
                        <a:t>Emission early warning</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Gas, heat and humidity trends</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c>
                  <a:txBody>
                    <a:bodyPr/>
                    <a:lstStyle/>
                    <a:p>
                      <a:pPr indent="0" marL="0">
                        <a:buNone/>
                      </a:pPr>
                      <a:r>
                        <a:rPr lang="en-US" sz="1100" dirty="0">
                          <a:solidFill>
                            <a:srgbClr val="1F2A22"/>
                          </a:solidFill>
                          <a:latin typeface="Calibri" pitchFamily="34" charset="0"/>
                          <a:ea typeface="Calibri" pitchFamily="34" charset="-122"/>
                          <a:cs typeface="Calibri" pitchFamily="34" charset="-120"/>
                        </a:rPr>
                        <a:t>Barn gas logs from pilot farms</a:t>
                      </a:r>
                      <a:endParaRPr lang="en-US" sz="1100" dirty="0">
                        <a:latin typeface="Calibri" charset="0"/>
                        <a:ea typeface="Calibri" charset="0"/>
                        <a:cs typeface="Calibri" charset="0"/>
                      </a:endParaRPr>
                    </a:p>
                  </a:txBody>
                  <a:tcPr marL="91440" marR="91440" marT="45720" marB="45720" anchor="ctr">
                    <a:lnL w="9525" cap="flat" cmpd="sng" algn="ctr">
                      <a:solidFill>
                        <a:srgbClr val="DFE8DE"/>
                      </a:solidFill>
                      <a:prstDash val="solid"/>
                      <a:round/>
                      <a:headEnd type="none" w="med" len="med"/>
                      <a:tailEnd type="none" w="med" len="med"/>
                    </a:lnL>
                    <a:lnR w="9525" cap="flat" cmpd="sng" algn="ctr">
                      <a:solidFill>
                        <a:srgbClr val="DFE8DE"/>
                      </a:solidFill>
                      <a:prstDash val="solid"/>
                      <a:round/>
                      <a:headEnd type="none" w="med" len="med"/>
                      <a:tailEnd type="none" w="med" len="med"/>
                    </a:lnR>
                    <a:lnT w="9525" cap="flat" cmpd="sng" algn="ctr">
                      <a:solidFill>
                        <a:srgbClr val="DFE8DE"/>
                      </a:solidFill>
                      <a:prstDash val="solid"/>
                      <a:round/>
                      <a:headEnd type="none" w="med" len="med"/>
                      <a:tailEnd type="none" w="med" len="med"/>
                    </a:lnT>
                    <a:lnB w="9525" cap="flat" cmpd="sng" algn="ctr">
                      <a:solidFill>
                        <a:srgbClr val="DFE8DE"/>
                      </a:solidFill>
                      <a:prstDash val="solid"/>
                      <a:round/>
                      <a:headEnd type="none" w="med" len="med"/>
                      <a:tailEnd type="none" w="med" len="med"/>
                    </a:lnB>
                    <a:solidFill>
                      <a:srgbClr val="F7FAF6"/>
                    </a:solidFill>
                  </a:tcPr>
                </a:tc>
              </a:tr>
            </a:tbl>
          </a:graphicData>
        </a:graphic>
      </p:graphicFrame>
      <p:sp>
        <p:nvSpPr>
          <p:cNvPr id="25" name="Text 21"/>
          <p:cNvSpPr txBox="1"/>
          <p:nvPr/>
        </p:nvSpPr>
        <p:spPr>
          <a:xfrm>
            <a:off x="4069080" y="5897880"/>
            <a:ext cx="7589520" cy="274320"/>
          </a:xfrm>
          <a:prstGeom prst="rect">
            <a:avLst/>
          </a:prstGeom>
          <a:noFill/>
          <a:ln/>
        </p:spPr>
        <p:txBody>
          <a:bodyPr wrap="square" lIns="0" tIns="0" rIns="0" bIns="0" rtlCol="0" anchor="t"/>
          <a:lstStyle/>
          <a:p>
            <a:pPr indent="0" marL="0">
              <a:buNone/>
            </a:pPr>
            <a:r>
              <a:rPr lang="en-US" sz="1150" b="1" i="1" dirty="0">
                <a:solidFill>
                  <a:srgbClr val="C7602A"/>
                </a:solidFill>
                <a:latin typeface="Calibri" pitchFamily="34" charset="0"/>
                <a:ea typeface="Calibri" pitchFamily="34" charset="-122"/>
                <a:cs typeface="Calibri" pitchFamily="34" charset="-120"/>
              </a:rPr>
              <a:t>The risk score is statistical. No machine-learning model is trained yet: the labelled dataset comes from the field pilot.</a:t>
            </a:r>
            <a:endParaRPr lang="en-US" sz="11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E07A3E"/>
                </a:solidFill>
                <a:latin typeface="Calibri" pitchFamily="34" charset="0"/>
                <a:ea typeface="Calibri" pitchFamily="34" charset="-122"/>
                <a:cs typeface="Calibri" pitchFamily="34" charset="-120"/>
              </a:rPr>
              <a:t>05 · TEST RESULTS &amp; READINESS</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Working in the cowshed; accuracy not yet measured</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1463040"/>
                <a:gridCol w="2743200"/>
                <a:gridCol w="25603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E07A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 or method</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E07A3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 reading (demo video)</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E07A3E"/>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Barn climate</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Temperature, humidity; fan and spray</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28.7–29.2 °C, 51–58%; spray switched on</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Barn gases</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MQ-5, MQ-135: 60% warn, 80% critical</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4–7% of range; uncalibrated</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Feed and water</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Load-cell feed weight; tank level</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≈37 kg feed; tank 52–56%</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Milk volume</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Ultrasonic level in a 4 L container</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0.35–3.6 L read live</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Collar vitals</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Pulse 48–100 bpm; SpO2 below 90%</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60–72 bpm, SpO2 95–96%</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Cow risk score</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Vital ranges plus 14-day baseline</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Flagged a cow live (score 55)</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r>
              <a:tr h="384048">
                <a:tc>
                  <a:txBody>
                    <a:bodyPr/>
                    <a:lstStyle/>
                    <a:p>
                      <a:pPr indent="0" marL="0">
                        <a:buNone/>
                      </a:pPr>
                      <a:r>
                        <a:rPr lang="en-US" sz="1100" b="1" dirty="0">
                          <a:solidFill>
                            <a:srgbClr val="CFE0D4"/>
                          </a:solidFill>
                          <a:latin typeface="Calibri" pitchFamily="34" charset="0"/>
                          <a:ea typeface="Calibri" pitchFamily="34" charset="-122"/>
                          <a:cs typeface="Calibri" pitchFamily="34" charset="-120"/>
                        </a:rPr>
                        <a:t>Heat detection</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Motion and temperature model</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00" dirty="0">
                          <a:solidFill>
                            <a:srgbClr val="CFE0D4"/>
                          </a:solidFill>
                          <a:latin typeface="Calibri" pitchFamily="34" charset="0"/>
                          <a:ea typeface="Calibri" pitchFamily="34" charset="-122"/>
                          <a:cs typeface="Calibri" pitchFamily="34" charset="-120"/>
                        </a:rPr>
                        <a:t>Not yet trained</a:t>
                      </a:r>
                      <a:endParaRPr lang="en-US" sz="110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bl>
          </a:graphicData>
        </a:graphic>
      </p:graphicFrame>
      <p:sp>
        <p:nvSpPr>
          <p:cNvPr id="5" name="Shape 2"/>
          <p:cNvSpPr/>
          <p:nvPr/>
        </p:nvSpPr>
        <p:spPr>
          <a:xfrm>
            <a:off x="548640" y="4846320"/>
            <a:ext cx="6766560" cy="1097280"/>
          </a:xfrm>
          <a:prstGeom prst="roundRect">
            <a:avLst>
              <a:gd name="adj" fmla="val 6667"/>
            </a:avLst>
          </a:prstGeom>
          <a:solidFill>
            <a:srgbClr val="11241C"/>
          </a:solidFill>
          <a:ln w="12700">
            <a:solidFill>
              <a:srgbClr val="11241C"/>
            </a:solidFill>
            <a:prstDash val="solid"/>
          </a:ln>
        </p:spPr>
      </p:sp>
      <p:sp>
        <p:nvSpPr>
          <p:cNvPr id="6" name="Text 3"/>
          <p:cNvSpPr txBox="1"/>
          <p:nvPr/>
        </p:nvSpPr>
        <p:spPr>
          <a:xfrm>
            <a:off x="777240" y="4965192"/>
            <a:ext cx="6309360" cy="9144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Versus today: </a:t>
            </a:r>
            <a:pPr indent="0" marL="0">
              <a:buNone/>
            </a:pPr>
            <a:r>
              <a:rPr lang="en-US" sz="1200" dirty="0">
                <a:solidFill>
                  <a:srgbClr val="CFE0D4"/>
                </a:solidFill>
                <a:latin typeface="Calibri" pitchFamily="34" charset="0"/>
                <a:ea typeface="Calibri" pitchFamily="34" charset="-122"/>
                <a:cs typeface="Calibri" pitchFamily="34" charset="-120"/>
              </a:rPr>
              <a:t>farmers notice fever or heat stress by eye, hours to days later. FarmCare updates every 10 seconds and acts by itself. Accuracy against vet diagnosis and a measuring jug: not yet measured.</a:t>
            </a:r>
            <a:endParaRPr lang="en-US" sz="1200" dirty="0"/>
          </a:p>
        </p:txBody>
      </p:sp>
      <p:sp>
        <p:nvSpPr>
          <p:cNvPr id="7" name="Shape 4"/>
          <p:cNvSpPr/>
          <p:nvPr/>
        </p:nvSpPr>
        <p:spPr>
          <a:xfrm>
            <a:off x="7589520" y="1463040"/>
            <a:ext cx="4069080" cy="2377440"/>
          </a:xfrm>
          <a:prstGeom prst="roundRect">
            <a:avLst>
              <a:gd name="adj" fmla="val 3077"/>
            </a:avLst>
          </a:prstGeom>
          <a:solidFill>
            <a:srgbClr val="11241C"/>
          </a:solidFill>
          <a:ln w="12700">
            <a:solidFill>
              <a:srgbClr val="11241C"/>
            </a:solidFill>
            <a:prstDash val="solid"/>
          </a:ln>
        </p:spPr>
      </p:sp>
      <p:sp>
        <p:nvSpPr>
          <p:cNvPr id="8" name="Text 5"/>
          <p:cNvSpPr txBox="1"/>
          <p:nvPr/>
        </p:nvSpPr>
        <p:spPr>
          <a:xfrm>
            <a:off x="7818120" y="1627632"/>
            <a:ext cx="3657600" cy="320040"/>
          </a:xfrm>
          <a:prstGeom prst="rect">
            <a:avLst/>
          </a:prstGeom>
          <a:noFill/>
          <a:ln/>
        </p:spPr>
        <p:txBody>
          <a:bodyPr wrap="square" lIns="0" tIns="0" rIns="0" bIns="0" rtlCol="0" anchor="t"/>
          <a:lstStyle/>
          <a:p>
            <a:pPr indent="0" marL="0">
              <a:buNone/>
            </a:pPr>
            <a:r>
              <a:rPr lang="en-US" sz="1500" b="1" dirty="0">
                <a:solidFill>
                  <a:srgbClr val="E07A3E"/>
                </a:solidFill>
                <a:latin typeface="Cambria" pitchFamily="34" charset="0"/>
                <a:ea typeface="Cambria" pitchFamily="34" charset="-122"/>
                <a:cs typeface="Cambria" pitchFamily="34" charset="-120"/>
              </a:rPr>
              <a:t>Known limitations</a:t>
            </a:r>
            <a:endParaRPr lang="en-US" sz="1500" dirty="0"/>
          </a:p>
        </p:txBody>
      </p:sp>
      <p:sp>
        <p:nvSpPr>
          <p:cNvPr id="9" name="Text 6"/>
          <p:cNvSpPr txBox="1"/>
          <p:nvPr/>
        </p:nvSpPr>
        <p:spPr>
          <a:xfrm>
            <a:off x="7818120" y="2029968"/>
            <a:ext cx="3657600" cy="17373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CFE0D4"/>
                </a:solidFill>
                <a:latin typeface="Calibri" pitchFamily="34" charset="0"/>
                <a:ea typeface="Calibri" pitchFamily="34" charset="-122"/>
                <a:cs typeface="Calibri" pitchFamily="34" charset="-120"/>
              </a:rPr>
              <a:t>Collar reads ~32 °C, below core heat: needs better placement</a:t>
            </a:r>
            <a:endParaRPr lang="en-US" sz="1200" dirty="0"/>
          </a:p>
          <a:p>
            <a:pPr marL="342900" indent="-342900">
              <a:spcAft>
                <a:spcPts val="300"/>
              </a:spcAft>
              <a:buSzPct val="100000"/>
              <a:buChar char="•"/>
            </a:pPr>
            <a:r>
              <a:rPr lang="en-US" sz="1200" dirty="0">
                <a:solidFill>
                  <a:srgbClr val="CFE0D4"/>
                </a:solidFill>
                <a:latin typeface="Calibri" pitchFamily="34" charset="0"/>
                <a:ea typeface="Calibri" pitchFamily="34" charset="-122"/>
                <a:cs typeface="Calibri" pitchFamily="34" charset="-120"/>
              </a:rPr>
              <a:t>Gas read as % of range, not ppm</a:t>
            </a:r>
            <a:endParaRPr lang="en-US" sz="1200" dirty="0"/>
          </a:p>
          <a:p>
            <a:pPr marL="342900" indent="-342900">
              <a:spcAft>
                <a:spcPts val="300"/>
              </a:spcAft>
              <a:buSzPct val="100000"/>
              <a:buChar char="•"/>
            </a:pPr>
            <a:r>
              <a:rPr lang="en-US" sz="1200" dirty="0">
                <a:solidFill>
                  <a:srgbClr val="CFE0D4"/>
                </a:solidFill>
                <a:latin typeface="Calibri" pitchFamily="34" charset="0"/>
                <a:ea typeface="Calibri" pitchFamily="34" charset="-122"/>
                <a:cs typeface="Calibri" pitchFamily="34" charset="-120"/>
              </a:rPr>
              <a:t>Pulse sensor designed for humans</a:t>
            </a:r>
            <a:endParaRPr lang="en-US" sz="1200" dirty="0"/>
          </a:p>
          <a:p>
            <a:pPr marL="342900" indent="-342900">
              <a:spcAft>
                <a:spcPts val="300"/>
              </a:spcAft>
              <a:buSzPct val="100000"/>
              <a:buChar char="•"/>
            </a:pPr>
            <a:r>
              <a:rPr lang="en-US" sz="1200" dirty="0">
                <a:solidFill>
                  <a:srgbClr val="CFE0D4"/>
                </a:solidFill>
                <a:latin typeface="Calibri" pitchFamily="34" charset="0"/>
                <a:ea typeface="Calibri" pitchFamily="34" charset="-122"/>
                <a:cs typeface="Calibri" pitchFamily="34" charset="-120"/>
              </a:rPr>
              <a:t>SMS gateway and USSD not yet built</a:t>
            </a:r>
            <a:endParaRPr lang="en-US" sz="1200" dirty="0"/>
          </a:p>
          <a:p>
            <a:pPr marL="342900" indent="-342900">
              <a:spcAft>
                <a:spcPts val="300"/>
              </a:spcAft>
              <a:buSzPct val="100000"/>
              <a:buChar char="•"/>
            </a:pPr>
            <a:r>
              <a:rPr lang="en-US" sz="1200" dirty="0">
                <a:solidFill>
                  <a:srgbClr val="CFE0D4"/>
                </a:solidFill>
                <a:latin typeface="Calibri" pitchFamily="34" charset="0"/>
                <a:ea typeface="Calibri" pitchFamily="34" charset="-122"/>
                <a:cs typeface="Calibri" pitchFamily="34" charset="-120"/>
              </a:rPr>
              <a:t>Kinyarwanda interface not yet built</a:t>
            </a:r>
            <a:endParaRPr lang="en-US" sz="1200" dirty="0"/>
          </a:p>
        </p:txBody>
      </p:sp>
      <p:sp>
        <p:nvSpPr>
          <p:cNvPr id="10" name="Shape 7"/>
          <p:cNvSpPr/>
          <p:nvPr/>
        </p:nvSpPr>
        <p:spPr>
          <a:xfrm>
            <a:off x="7589520" y="4023360"/>
            <a:ext cx="4069080" cy="2011680"/>
          </a:xfrm>
          <a:prstGeom prst="roundRect">
            <a:avLst>
              <a:gd name="adj" fmla="val 3636"/>
            </a:avLst>
          </a:prstGeom>
          <a:solidFill>
            <a:srgbClr val="E07A3E"/>
          </a:solidFill>
          <a:ln w="12700">
            <a:solidFill>
              <a:srgbClr val="E07A3E"/>
            </a:solidFill>
            <a:prstDash val="solid"/>
          </a:ln>
        </p:spPr>
      </p:sp>
      <p:sp>
        <p:nvSpPr>
          <p:cNvPr id="11" name="Text 8"/>
          <p:cNvSpPr txBox="1"/>
          <p:nvPr/>
        </p:nvSpPr>
        <p:spPr>
          <a:xfrm>
            <a:off x="7818120" y="4114800"/>
            <a:ext cx="1280160" cy="548640"/>
          </a:xfrm>
          <a:prstGeom prst="rect">
            <a:avLst/>
          </a:prstGeom>
          <a:noFill/>
          <a:ln/>
        </p:spPr>
        <p:txBody>
          <a:bodyPr wrap="square" lIns="0" tIns="0" rIns="0" bIns="0" rtlCol="0" anchor="t"/>
          <a:lstStyle/>
          <a:p>
            <a:pPr indent="0" marL="0">
              <a:buNone/>
            </a:pPr>
            <a:r>
              <a:rPr lang="en-US" sz="3000" b="1" dirty="0">
                <a:solidFill>
                  <a:srgbClr val="11241C"/>
                </a:solidFill>
                <a:latin typeface="Cambria" pitchFamily="34" charset="0"/>
                <a:ea typeface="Cambria" pitchFamily="34" charset="-122"/>
                <a:cs typeface="Cambria" pitchFamily="34" charset="-120"/>
              </a:rPr>
              <a:t>TRL 6</a:t>
            </a:r>
            <a:endParaRPr lang="en-US" sz="3000" dirty="0"/>
          </a:p>
        </p:txBody>
      </p:sp>
      <p:sp>
        <p:nvSpPr>
          <p:cNvPr id="12" name="Text 9"/>
          <p:cNvSpPr txBox="1"/>
          <p:nvPr/>
        </p:nvSpPr>
        <p:spPr>
          <a:xfrm>
            <a:off x="9098280" y="4279392"/>
            <a:ext cx="2468880" cy="320040"/>
          </a:xfrm>
          <a:prstGeom prst="rect">
            <a:avLst/>
          </a:prstGeom>
          <a:noFill/>
          <a:ln/>
        </p:spPr>
        <p:txBody>
          <a:bodyPr wrap="square" lIns="0" tIns="0" rIns="0" bIns="0" rtlCol="0" anchor="t"/>
          <a:lstStyle/>
          <a:p>
            <a:pPr indent="0" marL="0">
              <a:buNone/>
            </a:pPr>
            <a:r>
              <a:rPr lang="en-US" sz="1400" b="1" dirty="0">
                <a:solidFill>
                  <a:srgbClr val="11241C"/>
                </a:solidFill>
                <a:latin typeface="Calibri" pitchFamily="34" charset="0"/>
                <a:ea typeface="Calibri" pitchFamily="34" charset="-122"/>
                <a:cs typeface="Calibri" pitchFamily="34" charset="-120"/>
              </a:rPr>
              <a:t>Working application</a:t>
            </a:r>
            <a:endParaRPr lang="en-US" sz="1400" dirty="0"/>
          </a:p>
        </p:txBody>
      </p:sp>
      <p:sp>
        <p:nvSpPr>
          <p:cNvPr id="13" name="Text 10"/>
          <p:cNvSpPr txBox="1"/>
          <p:nvPr/>
        </p:nvSpPr>
        <p:spPr>
          <a:xfrm>
            <a:off x="7818120" y="4754880"/>
            <a:ext cx="3657600" cy="1188720"/>
          </a:xfrm>
          <a:prstGeom prst="rect">
            <a:avLst/>
          </a:prstGeom>
          <a:noFill/>
          <a:ln/>
        </p:spPr>
        <p:txBody>
          <a:bodyPr wrap="square" lIns="0" tIns="0" rIns="0" bIns="0" rtlCol="0" anchor="t"/>
          <a:lstStyle/>
          <a:p>
            <a:pPr indent="0" marL="0">
              <a:buNone/>
            </a:pPr>
            <a:r>
              <a:rPr lang="en-US" sz="1200" dirty="0">
                <a:solidFill>
                  <a:srgbClr val="11241C"/>
                </a:solidFill>
                <a:latin typeface="Calibri" pitchFamily="34" charset="0"/>
                <a:ea typeface="Calibri" pitchFamily="34" charset="-122"/>
                <a:cs typeface="Calibri" pitchFamily="34" charset="-120"/>
              </a:rPr>
              <a:t>Evidence: the full platform is live online and the devices stream from a working cowshed. TRL 7, proof of application, needs a multi-farm pilot over one season.</a:t>
            </a:r>
            <a:endParaRPr lang="en-US" sz="120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C7602A"/>
                </a:solidFill>
                <a:latin typeface="Calibri" pitchFamily="34" charset="0"/>
                <a:ea typeface="Calibri" pitchFamily="34" charset="-122"/>
                <a:cs typeface="Calibri" pitchFamily="34" charset="-120"/>
              </a:rPr>
              <a:t>06 · PRODUCT &amp; DEMONSTRATION</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1F2A22"/>
                </a:solidFill>
                <a:latin typeface="Cambria" pitchFamily="34" charset="0"/>
                <a:ea typeface="Cambria" pitchFamily="34" charset="-122"/>
                <a:cs typeface="Cambria" pitchFamily="34" charset="-120"/>
              </a:rPr>
              <a:t>Two journeys we will show live</a:t>
            </a:r>
            <a:endParaRPr lang="en-US" sz="2800" dirty="0"/>
          </a:p>
        </p:txBody>
      </p:sp>
      <p:pic>
        <p:nvPicPr>
          <p:cNvPr id="4" name="Image 0" descr="Cow Health and Tracking page: cow Kibumba flagged At Risk 55 with live vitals and GPS location">    </p:cNvPr>
          <p:cNvPicPr>
            <a:picLocks noChangeAspect="1"/>
          </p:cNvPicPr>
          <p:nvPr/>
        </p:nvPicPr>
        <p:blipFill>
          <a:blip r:embed="rId1"/>
          <a:stretch>
            <a:fillRect/>
          </a:stretch>
        </p:blipFill>
        <p:spPr>
          <a:xfrm>
            <a:off x="548640" y="1417320"/>
            <a:ext cx="5760720" cy="3014777"/>
          </a:xfrm>
          <a:prstGeom prst="rect">
            <a:avLst/>
          </a:prstGeom>
          <a:effectLst>
            <a:outerShdw sx="100000" sy="100000" kx="0" ky="0" algn="bl" rotWithShape="0" blurRad="76200" dist="25400" dir="5400000">
              <a:srgbClr val="000000">
                <a:alpha val="12000"/>
              </a:srgbClr>
            </a:outerShdw>
          </a:effectLst>
        </p:spPr>
      </p:pic>
      <p:pic>
        <p:nvPicPr>
          <p:cNvPr id="5" name="Image 1" descr="Milking page: RFID scanner, milk level in a 4 litre container and recent milking sessions">    </p:cNvPr>
          <p:cNvPicPr>
            <a:picLocks noChangeAspect="1"/>
          </p:cNvPicPr>
          <p:nvPr/>
        </p:nvPicPr>
        <p:blipFill>
          <a:blip r:embed="rId2"/>
          <a:stretch>
            <a:fillRect/>
          </a:stretch>
        </p:blipFill>
        <p:spPr>
          <a:xfrm>
            <a:off x="548640" y="4572000"/>
            <a:ext cx="2606040" cy="1375258"/>
          </a:xfrm>
          <a:prstGeom prst="rect">
            <a:avLst/>
          </a:prstGeom>
          <a:effectLst>
            <a:outerShdw sx="100000" sy="100000" kx="0" ky="0" algn="bl" rotWithShape="0" blurRad="76200" dist="25400" dir="5400000">
              <a:srgbClr val="000000">
                <a:alpha val="12000"/>
              </a:srgbClr>
            </a:outerShdw>
          </a:effectLst>
        </p:spPr>
      </p:pic>
      <p:sp>
        <p:nvSpPr>
          <p:cNvPr id="6" name="Text 2"/>
          <p:cNvSpPr txBox="1"/>
          <p:nvPr/>
        </p:nvSpPr>
        <p:spPr>
          <a:xfrm>
            <a:off x="3337560" y="4590288"/>
            <a:ext cx="2971800" cy="274320"/>
          </a:xfrm>
          <a:prstGeom prst="rect">
            <a:avLst/>
          </a:prstGeom>
          <a:noFill/>
          <a:ln/>
        </p:spPr>
        <p:txBody>
          <a:bodyPr wrap="square" lIns="0" tIns="0" rIns="0" bIns="0" rtlCol="0" anchor="t"/>
          <a:lstStyle/>
          <a:p>
            <a:pPr indent="0" marL="0">
              <a:buNone/>
            </a:pPr>
            <a:r>
              <a:rPr lang="en-US" sz="1100" b="1" dirty="0">
                <a:solidFill>
                  <a:srgbClr val="1F2A22"/>
                </a:solidFill>
                <a:latin typeface="Calibri" pitchFamily="34" charset="0"/>
                <a:ea typeface="Calibri" pitchFamily="34" charset="-122"/>
                <a:cs typeface="Calibri" pitchFamily="34" charset="-120"/>
              </a:rPr>
              <a:t>Top: Cow Health page. Left: Milking page.</a:t>
            </a:r>
            <a:endParaRPr lang="en-US" sz="1100" dirty="0"/>
          </a:p>
        </p:txBody>
      </p:sp>
      <p:sp>
        <p:nvSpPr>
          <p:cNvPr id="7" name="Text 3"/>
          <p:cNvSpPr txBox="1"/>
          <p:nvPr/>
        </p:nvSpPr>
        <p:spPr>
          <a:xfrm>
            <a:off x="3337560" y="4901184"/>
            <a:ext cx="2971800" cy="41148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Recorded live in a cowshed in Kanyinya, Nyarugenge.</a:t>
            </a:r>
            <a:endParaRPr lang="en-US" sz="1100" dirty="0"/>
          </a:p>
        </p:txBody>
      </p:sp>
      <p:sp>
        <p:nvSpPr>
          <p:cNvPr id="8" name="Text 4"/>
          <p:cNvSpPr txBox="1"/>
          <p:nvPr/>
        </p:nvSpPr>
        <p:spPr>
          <a:xfrm>
            <a:off x="3337560" y="5440680"/>
            <a:ext cx="2971800" cy="292608"/>
          </a:xfrm>
          <a:prstGeom prst="rect">
            <a:avLst/>
          </a:prstGeom>
          <a:noFill/>
          <a:ln/>
        </p:spPr>
        <p:txBody>
          <a:bodyPr wrap="square" lIns="0" tIns="0" rIns="0" bIns="0" rtlCol="0" anchor="t"/>
          <a:lstStyle/>
          <a:p>
            <a:pPr indent="0" marL="0">
              <a:buNone/>
            </a:pPr>
            <a:r>
              <a:rPr lang="en-US" sz="1250" b="1" u="sng" dirty="0">
                <a:solidFill>
                  <a:srgbClr val="C7602A"/>
                </a:solidFill>
                <a:latin typeface="Calibri" pitchFamily="34" charset="0"/>
                <a:ea typeface="Calibri" pitchFamily="34" charset="-122"/>
                <a:cs typeface="Calibri" pitchFamily="34" charset="-120"/>
                <a:hlinkClick r:id="rId3" invalidUrl="" action="" tgtFrame="" tooltip="Open the FarmCare demo video" history="1" highlightClick="0" endSnd="0">
                  <a:extLst>
                    <a:ext uri="{A12FA001-AC4F-418D-AE19-62706E023703}">
                      <ahyp:hlinkClr xmlns:ahyp="http://schemas.microsoft.com/office/drawing/2018/hyperlinkcolor" val="tx"/>
                    </a:ext>
                  </a:extLst>
                </a:hlinkClick>
              </a:rPr>
              <a:t>▶  Watch the demo video</a:t>
            </a:r>
            <a:endParaRPr lang="en-US" sz="1250" dirty="0"/>
          </a:p>
        </p:txBody>
      </p:sp>
      <p:sp>
        <p:nvSpPr>
          <p:cNvPr id="9" name="Shape 5"/>
          <p:cNvSpPr/>
          <p:nvPr/>
        </p:nvSpPr>
        <p:spPr>
          <a:xfrm>
            <a:off x="6583680" y="1417320"/>
            <a:ext cx="507492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6812280" y="1581912"/>
            <a:ext cx="4663440" cy="320040"/>
          </a:xfrm>
          <a:prstGeom prst="rect">
            <a:avLst/>
          </a:prstGeom>
          <a:noFill/>
          <a:ln/>
        </p:spPr>
        <p:txBody>
          <a:bodyPr wrap="square" lIns="0" tIns="0" rIns="0" bIns="0" rtlCol="0" anchor="t"/>
          <a:lstStyle/>
          <a:p>
            <a:pPr indent="0" marL="0">
              <a:buNone/>
            </a:pPr>
            <a:r>
              <a:rPr lang="en-US" sz="1500" b="1" dirty="0">
                <a:solidFill>
                  <a:srgbClr val="1B3B2F"/>
                </a:solidFill>
                <a:latin typeface="Cambria" pitchFamily="34" charset="0"/>
                <a:ea typeface="Cambria" pitchFamily="34" charset="-122"/>
                <a:cs typeface="Cambria" pitchFamily="34" charset="-120"/>
              </a:rPr>
              <a:t>Journey A · The collar flags a cow at risk</a:t>
            </a:r>
            <a:endParaRPr lang="en-US" sz="1500" dirty="0"/>
          </a:p>
        </p:txBody>
      </p:sp>
      <p:sp>
        <p:nvSpPr>
          <p:cNvPr id="11" name="Text 7"/>
          <p:cNvSpPr txBox="1"/>
          <p:nvPr/>
        </p:nvSpPr>
        <p:spPr>
          <a:xfrm>
            <a:off x="6812280" y="2011680"/>
            <a:ext cx="4663440" cy="1417320"/>
          </a:xfrm>
          <a:prstGeom prst="rect">
            <a:avLst/>
          </a:prstGeom>
          <a:noFill/>
          <a:ln/>
        </p:spPr>
        <p:txBody>
          <a:bodyPr wrap="square" lIns="0" tIns="0" rIns="0" bIns="0" rtlCol="0" anchor="t"/>
          <a:lstStyle/>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1.  Collar streams temperature, pulse, SpO2, motion and GPS</a:t>
            </a:r>
            <a:endParaRPr lang="en-US" sz="1250" dirty="0"/>
          </a:p>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2.  Risk score compares her with her own 14-day average</a:t>
            </a:r>
            <a:endParaRPr lang="en-US" sz="1250" dirty="0"/>
          </a:p>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3.  Kibumba appears under Needs Attention, with reasons</a:t>
            </a:r>
            <a:endParaRPr lang="en-US" sz="1250" dirty="0"/>
          </a:p>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4.  Farmer or vet checks her, using her live location</a:t>
            </a:r>
            <a:endParaRPr lang="en-US" sz="1250" dirty="0"/>
          </a:p>
        </p:txBody>
      </p:sp>
      <p:sp>
        <p:nvSpPr>
          <p:cNvPr id="12" name="Shape 8"/>
          <p:cNvSpPr/>
          <p:nvPr/>
        </p:nvSpPr>
        <p:spPr>
          <a:xfrm>
            <a:off x="6583680" y="3703320"/>
            <a:ext cx="507492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Text 9"/>
          <p:cNvSpPr txBox="1"/>
          <p:nvPr/>
        </p:nvSpPr>
        <p:spPr>
          <a:xfrm>
            <a:off x="6812280" y="3867912"/>
            <a:ext cx="4663440" cy="320040"/>
          </a:xfrm>
          <a:prstGeom prst="rect">
            <a:avLst/>
          </a:prstGeom>
          <a:noFill/>
          <a:ln/>
        </p:spPr>
        <p:txBody>
          <a:bodyPr wrap="square" lIns="0" tIns="0" rIns="0" bIns="0" rtlCol="0" anchor="t"/>
          <a:lstStyle/>
          <a:p>
            <a:pPr indent="0" marL="0">
              <a:buNone/>
            </a:pPr>
            <a:r>
              <a:rPr lang="en-US" sz="1500" b="1" dirty="0">
                <a:solidFill>
                  <a:srgbClr val="1B3B2F"/>
                </a:solidFill>
                <a:latin typeface="Cambria" pitchFamily="34" charset="0"/>
                <a:ea typeface="Cambria" pitchFamily="34" charset="-122"/>
                <a:cs typeface="Cambria" pitchFamily="34" charset="-120"/>
              </a:rPr>
              <a:t>Journey B · Recording milk at the container</a:t>
            </a:r>
            <a:endParaRPr lang="en-US" sz="1500" dirty="0"/>
          </a:p>
        </p:txBody>
      </p:sp>
      <p:sp>
        <p:nvSpPr>
          <p:cNvPr id="14" name="Text 10"/>
          <p:cNvSpPr txBox="1"/>
          <p:nvPr/>
        </p:nvSpPr>
        <p:spPr>
          <a:xfrm>
            <a:off x="6812280" y="4297680"/>
            <a:ext cx="4663440" cy="1417320"/>
          </a:xfrm>
          <a:prstGeom prst="rect">
            <a:avLst/>
          </a:prstGeom>
          <a:noFill/>
          <a:ln/>
        </p:spPr>
        <p:txBody>
          <a:bodyPr wrap="square" lIns="0" tIns="0" rIns="0" bIns="0" rtlCol="0" anchor="t"/>
          <a:lstStyle/>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1.  Farmer scans the cow’s RFID tag</a:t>
            </a:r>
            <a:endParaRPr lang="en-US" sz="1250" dirty="0"/>
          </a:p>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2.  Milk goes into the smart container</a:t>
            </a:r>
            <a:endParaRPr lang="en-US" sz="1250" dirty="0"/>
          </a:p>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3.  Ultrasonic sensor shows the litres live</a:t>
            </a:r>
            <a:endParaRPr lang="en-US" sz="1250" dirty="0"/>
          </a:p>
          <a:p>
            <a:pPr indent="0" marL="0">
              <a:spcAft>
                <a:spcPts val="400"/>
              </a:spcAft>
              <a:buNone/>
            </a:pPr>
            <a:r>
              <a:rPr lang="en-US" sz="1250" dirty="0">
                <a:solidFill>
                  <a:srgbClr val="1F2A22"/>
                </a:solidFill>
                <a:latin typeface="Calibri" pitchFamily="34" charset="0"/>
                <a:ea typeface="Calibri" pitchFamily="34" charset="-122"/>
                <a:cs typeface="Calibri" pitchFamily="34" charset="-120"/>
              </a:rPr>
              <a:t>4.  Record Milk saves the session to her history</a:t>
            </a:r>
            <a:endParaRPr lang="en-US" sz="1250" dirty="0"/>
          </a:p>
        </p:txBody>
      </p:sp>
      <p:sp>
        <p:nvSpPr>
          <p:cNvPr id="15" name="Text 11"/>
          <p:cNvSpPr txBox="1"/>
          <p:nvPr/>
        </p:nvSpPr>
        <p:spPr>
          <a:xfrm>
            <a:off x="6583680" y="5925312"/>
            <a:ext cx="5074920" cy="411480"/>
          </a:xfrm>
          <a:prstGeom prst="rect">
            <a:avLst/>
          </a:prstGeom>
          <a:noFill/>
          <a:ln/>
        </p:spPr>
        <p:txBody>
          <a:bodyPr wrap="square" lIns="0" tIns="0" rIns="0" bIns="0" rtlCol="0" anchor="t"/>
          <a:lstStyle/>
          <a:p>
            <a:pPr indent="0" marL="0">
              <a:buNone/>
            </a:pPr>
            <a:r>
              <a:rPr lang="en-US" sz="1050" i="1" dirty="0">
                <a:solidFill>
                  <a:srgbClr val="5C6B60"/>
                </a:solidFill>
                <a:latin typeface="Calibri" pitchFamily="34" charset="0"/>
                <a:ea typeface="Calibri" pitchFamily="34" charset="-122"/>
                <a:cs typeface="Calibri" pitchFamily="34" charset="-120"/>
              </a:rPr>
              <a:t>Live on the day at farmcareservices.com/app with the prototype streaming; the demo video is our backup.</a:t>
            </a:r>
            <a:endParaRPr lang="en-US" sz="10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E07A3E"/>
                </a:solidFill>
                <a:latin typeface="Calibri" pitchFamily="34" charset="0"/>
                <a:ea typeface="Calibri" pitchFamily="34" charset="-122"/>
                <a:cs typeface="Calibri" pitchFamily="34" charset="-120"/>
              </a:rPr>
              <a:t>07 · USERS, DEPLOYMENT &amp; IMPACT</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One pilot farm so far; impact not yet measured</a:t>
            </a:r>
            <a:endParaRPr lang="en-US" sz="2800" dirty="0"/>
          </a:p>
        </p:txBody>
      </p:sp>
      <p:sp>
        <p:nvSpPr>
          <p:cNvPr id="4" name="Shape 2"/>
          <p:cNvSpPr/>
          <p:nvPr/>
        </p:nvSpPr>
        <p:spPr>
          <a:xfrm>
            <a:off x="548640" y="1417320"/>
            <a:ext cx="2651760" cy="1280160"/>
          </a:xfrm>
          <a:prstGeom prst="roundRect">
            <a:avLst>
              <a:gd name="adj" fmla="val 5714"/>
            </a:avLst>
          </a:prstGeom>
          <a:solidFill>
            <a:srgbClr val="11241C"/>
          </a:solidFill>
          <a:ln w="12700">
            <a:solidFill>
              <a:srgbClr val="11241C"/>
            </a:solidFill>
            <a:prstDash val="solid"/>
          </a:ln>
        </p:spPr>
      </p:sp>
      <p:sp>
        <p:nvSpPr>
          <p:cNvPr id="5" name="Text 3"/>
          <p:cNvSpPr txBox="1"/>
          <p:nvPr/>
        </p:nvSpPr>
        <p:spPr>
          <a:xfrm>
            <a:off x="749808" y="1536192"/>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REGISTERED USERS</a:t>
            </a:r>
            <a:endParaRPr lang="en-US" sz="1050" dirty="0"/>
          </a:p>
        </p:txBody>
      </p:sp>
      <p:sp>
        <p:nvSpPr>
          <p:cNvPr id="6" name="Text 4"/>
          <p:cNvSpPr txBox="1"/>
          <p:nvPr/>
        </p:nvSpPr>
        <p:spPr>
          <a:xfrm>
            <a:off x="749808" y="1801368"/>
            <a:ext cx="22860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7" name="Text 5"/>
          <p:cNvSpPr txBox="1"/>
          <p:nvPr/>
        </p:nvSpPr>
        <p:spPr>
          <a:xfrm>
            <a:off x="749808" y="2286000"/>
            <a:ext cx="2286000" cy="365760"/>
          </a:xfrm>
          <a:prstGeom prst="rect">
            <a:avLst/>
          </a:prstGeom>
          <a:noFill/>
          <a:ln/>
        </p:spPr>
        <p:txBody>
          <a:bodyPr wrap="square" lIns="0" tIns="0" rIns="0" bIns="0" rtlCol="0" anchor="t"/>
          <a:lstStyle/>
          <a:p>
            <a:pPr indent="0" marL="0">
              <a:buNone/>
            </a:pPr>
            <a:r>
              <a:rPr lang="en-US" sz="1100" dirty="0">
                <a:solidFill>
                  <a:srgbClr val="CFE0D4"/>
                </a:solidFill>
                <a:latin typeface="Calibri" pitchFamily="34" charset="0"/>
                <a:ea typeface="Calibri" pitchFamily="34" charset="-122"/>
                <a:cs typeface="Calibri" pitchFamily="34" charset="-120"/>
              </a:rPr>
              <a:t>one per role: admin, farmer, vet, technician</a:t>
            </a:r>
            <a:endParaRPr lang="en-US" sz="1100" dirty="0"/>
          </a:p>
        </p:txBody>
      </p:sp>
      <p:sp>
        <p:nvSpPr>
          <p:cNvPr id="8" name="Shape 6"/>
          <p:cNvSpPr/>
          <p:nvPr/>
        </p:nvSpPr>
        <p:spPr>
          <a:xfrm>
            <a:off x="3360420" y="1417320"/>
            <a:ext cx="2651760" cy="1280160"/>
          </a:xfrm>
          <a:prstGeom prst="roundRect">
            <a:avLst>
              <a:gd name="adj" fmla="val 5714"/>
            </a:avLst>
          </a:prstGeom>
          <a:solidFill>
            <a:srgbClr val="11241C"/>
          </a:solidFill>
          <a:ln w="12700">
            <a:solidFill>
              <a:srgbClr val="11241C"/>
            </a:solidFill>
            <a:prstDash val="solid"/>
          </a:ln>
        </p:spPr>
      </p:sp>
      <p:sp>
        <p:nvSpPr>
          <p:cNvPr id="9" name="Text 7"/>
          <p:cNvSpPr txBox="1"/>
          <p:nvPr/>
        </p:nvSpPr>
        <p:spPr>
          <a:xfrm>
            <a:off x="3561588" y="1536192"/>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PILOT PARTICIPANTS</a:t>
            </a:r>
            <a:endParaRPr lang="en-US" sz="1050" dirty="0"/>
          </a:p>
        </p:txBody>
      </p:sp>
      <p:sp>
        <p:nvSpPr>
          <p:cNvPr id="10" name="Text 8"/>
          <p:cNvSpPr txBox="1"/>
          <p:nvPr/>
        </p:nvSpPr>
        <p:spPr>
          <a:xfrm>
            <a:off x="3561588" y="1801368"/>
            <a:ext cx="22860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1" name="Text 9"/>
          <p:cNvSpPr txBox="1"/>
          <p:nvPr/>
        </p:nvSpPr>
        <p:spPr>
          <a:xfrm>
            <a:off x="3561588" y="2286000"/>
            <a:ext cx="2286000" cy="365760"/>
          </a:xfrm>
          <a:prstGeom prst="rect">
            <a:avLst/>
          </a:prstGeom>
          <a:noFill/>
          <a:ln/>
        </p:spPr>
        <p:txBody>
          <a:bodyPr wrap="square" lIns="0" tIns="0" rIns="0" bIns="0" rtlCol="0" anchor="t"/>
          <a:lstStyle/>
          <a:p>
            <a:pPr indent="0" marL="0">
              <a:buNone/>
            </a:pPr>
            <a:r>
              <a:rPr lang="en-US" sz="1100" dirty="0">
                <a:solidFill>
                  <a:srgbClr val="CFE0D4"/>
                </a:solidFill>
                <a:latin typeface="Calibri" pitchFamily="34" charset="0"/>
                <a:ea typeface="Calibri" pitchFamily="34" charset="-122"/>
                <a:cs typeface="Calibri" pitchFamily="34" charset="-120"/>
              </a:rPr>
              <a:t>farm: the cowshed in Kanyinya, Nyarugenge</a:t>
            </a:r>
            <a:endParaRPr lang="en-US" sz="1100" dirty="0"/>
          </a:p>
        </p:txBody>
      </p:sp>
      <p:sp>
        <p:nvSpPr>
          <p:cNvPr id="12" name="Shape 10"/>
          <p:cNvSpPr/>
          <p:nvPr/>
        </p:nvSpPr>
        <p:spPr>
          <a:xfrm>
            <a:off x="6172200" y="1417320"/>
            <a:ext cx="2651760" cy="1280160"/>
          </a:xfrm>
          <a:prstGeom prst="roundRect">
            <a:avLst>
              <a:gd name="adj" fmla="val 5714"/>
            </a:avLst>
          </a:prstGeom>
          <a:solidFill>
            <a:srgbClr val="11241C"/>
          </a:solidFill>
          <a:ln w="12700">
            <a:solidFill>
              <a:srgbClr val="11241C"/>
            </a:solidFill>
            <a:prstDash val="solid"/>
          </a:ln>
        </p:spPr>
      </p:sp>
      <p:sp>
        <p:nvSpPr>
          <p:cNvPr id="13" name="Text 11"/>
          <p:cNvSpPr txBox="1"/>
          <p:nvPr/>
        </p:nvSpPr>
        <p:spPr>
          <a:xfrm>
            <a:off x="6373368" y="1536192"/>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PAYING CUSTOMERS</a:t>
            </a:r>
            <a:endParaRPr lang="en-US" sz="1050" dirty="0"/>
          </a:p>
        </p:txBody>
      </p:sp>
      <p:sp>
        <p:nvSpPr>
          <p:cNvPr id="14" name="Text 12"/>
          <p:cNvSpPr txBox="1"/>
          <p:nvPr/>
        </p:nvSpPr>
        <p:spPr>
          <a:xfrm>
            <a:off x="6373368" y="1801368"/>
            <a:ext cx="22860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15" name="Text 13"/>
          <p:cNvSpPr txBox="1"/>
          <p:nvPr/>
        </p:nvSpPr>
        <p:spPr>
          <a:xfrm>
            <a:off x="6373368" y="2286000"/>
            <a:ext cx="2286000" cy="365760"/>
          </a:xfrm>
          <a:prstGeom prst="rect">
            <a:avLst/>
          </a:prstGeom>
          <a:noFill/>
          <a:ln/>
        </p:spPr>
        <p:txBody>
          <a:bodyPr wrap="square" lIns="0" tIns="0" rIns="0" bIns="0" rtlCol="0" anchor="t"/>
          <a:lstStyle/>
          <a:p>
            <a:pPr indent="0" marL="0">
              <a:buNone/>
            </a:pPr>
            <a:r>
              <a:rPr lang="en-US" sz="1100" dirty="0">
                <a:solidFill>
                  <a:srgbClr val="CFE0D4"/>
                </a:solidFill>
                <a:latin typeface="Calibri" pitchFamily="34" charset="0"/>
                <a:ea typeface="Calibri" pitchFamily="34" charset="-122"/>
                <a:cs typeface="Calibri" pitchFamily="34" charset="-120"/>
              </a:rPr>
              <a:t>FarmCare is pre-revenue</a:t>
            </a:r>
            <a:endParaRPr lang="en-US" sz="1100" dirty="0"/>
          </a:p>
        </p:txBody>
      </p:sp>
      <p:sp>
        <p:nvSpPr>
          <p:cNvPr id="16" name="Shape 14"/>
          <p:cNvSpPr/>
          <p:nvPr/>
        </p:nvSpPr>
        <p:spPr>
          <a:xfrm>
            <a:off x="8983980" y="1417320"/>
            <a:ext cx="2651760" cy="1280160"/>
          </a:xfrm>
          <a:prstGeom prst="roundRect">
            <a:avLst>
              <a:gd name="adj" fmla="val 5714"/>
            </a:avLst>
          </a:prstGeom>
          <a:solidFill>
            <a:srgbClr val="11241C"/>
          </a:solidFill>
          <a:ln w="12700">
            <a:solidFill>
              <a:srgbClr val="11241C"/>
            </a:solidFill>
            <a:prstDash val="solid"/>
          </a:ln>
        </p:spPr>
      </p:sp>
      <p:sp>
        <p:nvSpPr>
          <p:cNvPr id="17" name="Text 15"/>
          <p:cNvSpPr txBox="1"/>
          <p:nvPr/>
        </p:nvSpPr>
        <p:spPr>
          <a:xfrm>
            <a:off x="9185148" y="1536192"/>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INTENDED BENEFICIARIES</a:t>
            </a:r>
            <a:endParaRPr lang="en-US" sz="1050" dirty="0"/>
          </a:p>
        </p:txBody>
      </p:sp>
      <p:sp>
        <p:nvSpPr>
          <p:cNvPr id="18" name="Text 16"/>
          <p:cNvSpPr txBox="1"/>
          <p:nvPr/>
        </p:nvSpPr>
        <p:spPr>
          <a:xfrm>
            <a:off x="9185148" y="1801368"/>
            <a:ext cx="2286000" cy="4572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1–10</a:t>
            </a:r>
            <a:endParaRPr lang="en-US" sz="2600" dirty="0"/>
          </a:p>
        </p:txBody>
      </p:sp>
      <p:sp>
        <p:nvSpPr>
          <p:cNvPr id="19" name="Text 17"/>
          <p:cNvSpPr txBox="1"/>
          <p:nvPr/>
        </p:nvSpPr>
        <p:spPr>
          <a:xfrm>
            <a:off x="9185148" y="2286000"/>
            <a:ext cx="2286000" cy="365760"/>
          </a:xfrm>
          <a:prstGeom prst="rect">
            <a:avLst/>
          </a:prstGeom>
          <a:noFill/>
          <a:ln/>
        </p:spPr>
        <p:txBody>
          <a:bodyPr wrap="square" lIns="0" tIns="0" rIns="0" bIns="0" rtlCol="0" anchor="t"/>
          <a:lstStyle/>
          <a:p>
            <a:pPr indent="0" marL="0">
              <a:buNone/>
            </a:pPr>
            <a:r>
              <a:rPr lang="en-US" sz="1100" dirty="0">
                <a:solidFill>
                  <a:srgbClr val="CFE0D4"/>
                </a:solidFill>
                <a:latin typeface="Calibri" pitchFamily="34" charset="0"/>
                <a:ea typeface="Calibri" pitchFamily="34" charset="-122"/>
                <a:cs typeface="Calibri" pitchFamily="34" charset="-120"/>
              </a:rPr>
              <a:t>cows per farm, five dairy districts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6949440" cy="914400"/>
        </p:xfrm>
        <a:graphic>
          <a:graphicData uri="http://schemas.openxmlformats.org/drawingml/2006/table">
            <a:tbl>
              <a:tblPr/>
              <a:tblGrid>
                <a:gridCol w="1920240"/>
                <a:gridCol w="3017520"/>
                <a:gridCol w="201168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Outcome</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E07A3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Baseline, then method</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E07A3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Sample, period</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E07A3E"/>
                    </a:solidFill>
                  </a:tcPr>
                </a:tc>
              </a:tr>
              <a:tr h="384048">
                <a:tc>
                  <a:txBody>
                    <a:bodyPr/>
                    <a:lstStyle/>
                    <a:p>
                      <a:pPr indent="0" marL="0">
                        <a:buNone/>
                      </a:pPr>
                      <a:r>
                        <a:rPr lang="en-US" sz="1150" b="1" dirty="0">
                          <a:solidFill>
                            <a:srgbClr val="CFE0D4"/>
                          </a:solidFill>
                          <a:latin typeface="Calibri" pitchFamily="34" charset="0"/>
                          <a:ea typeface="Calibri" pitchFamily="34" charset="-122"/>
                          <a:cs typeface="Calibri" pitchFamily="34" charset="-120"/>
                        </a:rPr>
                        <a:t>Conception rate</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Paper records, then collar heat alerts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Pilot herd, one season</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r h="384048">
                <a:tc>
                  <a:txBody>
                    <a:bodyPr/>
                    <a:lstStyle/>
                    <a:p>
                      <a:pPr indent="0" marL="0">
                        <a:buNone/>
                      </a:pPr>
                      <a:r>
                        <a:rPr lang="en-US" sz="1150" b="1" dirty="0">
                          <a:solidFill>
                            <a:srgbClr val="CFE0D4"/>
                          </a:solidFill>
                          <a:latin typeface="Calibri" pitchFamily="34" charset="0"/>
                          <a:ea typeface="Calibri" pitchFamily="34" charset="-122"/>
                          <a:cs typeface="Calibri" pitchFamily="34" charset="-120"/>
                        </a:rPr>
                        <a:t>Milk rejection</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Collection-centre records, before and after</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Each farm, monthly</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r>
              <a:tr h="384048">
                <a:tc>
                  <a:txBody>
                    <a:bodyPr/>
                    <a:lstStyle/>
                    <a:p>
                      <a:pPr indent="0" marL="0">
                        <a:buNone/>
                      </a:pPr>
                      <a:r>
                        <a:rPr lang="en-US" sz="1150" b="1" dirty="0">
                          <a:solidFill>
                            <a:srgbClr val="CFE0D4"/>
                          </a:solidFill>
                          <a:latin typeface="Calibri" pitchFamily="34" charset="0"/>
                          <a:ea typeface="Calibri" pitchFamily="34" charset="-122"/>
                          <a:cs typeface="Calibri" pitchFamily="34" charset="-120"/>
                        </a:rPr>
                        <a:t>Mastitis cases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Vet records, then platform alerts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Every case in the pilot</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r h="384048">
                <a:tc>
                  <a:txBody>
                    <a:bodyPr/>
                    <a:lstStyle/>
                    <a:p>
                      <a:pPr indent="0" marL="0">
                        <a:buNone/>
                      </a:pPr>
                      <a:r>
                        <a:rPr lang="en-US" sz="1150" b="1" dirty="0">
                          <a:solidFill>
                            <a:srgbClr val="CFE0D4"/>
                          </a:solidFill>
                          <a:latin typeface="Calibri" pitchFamily="34" charset="0"/>
                          <a:ea typeface="Calibri" pitchFamily="34" charset="-122"/>
                          <a:cs typeface="Calibri" pitchFamily="34" charset="-120"/>
                        </a:rPr>
                        <a:t>Milk per cow</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Farmer records, then station logs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Each cow, 12 months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62F25"/>
                    </a:solidFill>
                  </a:tcPr>
                </a:tc>
              </a:tr>
              <a:tr h="384048">
                <a:tc>
                  <a:txBody>
                    <a:bodyPr/>
                    <a:lstStyle/>
                    <a:p>
                      <a:pPr indent="0" marL="0">
                        <a:buNone/>
                      </a:pPr>
                      <a:r>
                        <a:rPr lang="en-US" sz="1150" b="1" dirty="0">
                          <a:solidFill>
                            <a:srgbClr val="CFE0D4"/>
                          </a:solidFill>
                          <a:latin typeface="Calibri" pitchFamily="34" charset="0"/>
                          <a:ea typeface="Calibri" pitchFamily="34" charset="-122"/>
                          <a:cs typeface="Calibri" pitchFamily="34" charset="-120"/>
                        </a:rPr>
                        <a:t>Heat stress, barn gases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Climate, gas and cooling logs</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c>
                  <a:txBody>
                    <a:bodyPr/>
                    <a:lstStyle/>
                    <a:p>
                      <a:pPr indent="0" marL="0">
                        <a:buNone/>
                      </a:pPr>
                      <a:r>
                        <a:rPr lang="en-US" sz="1150" dirty="0">
                          <a:solidFill>
                            <a:srgbClr val="CFE0D4"/>
                          </a:solidFill>
                          <a:latin typeface="Calibri" pitchFamily="34" charset="0"/>
                          <a:ea typeface="Calibri" pitchFamily="34" charset="-122"/>
                          <a:cs typeface="Calibri" pitchFamily="34" charset="-120"/>
                        </a:rPr>
                        <a:t>Each barn, all year</a:t>
                      </a:r>
                      <a:endParaRPr lang="en-US" sz="1150" dirty="0">
                        <a:latin typeface="Calibri" charset="0"/>
                        <a:ea typeface="Calibri" charset="0"/>
                        <a:cs typeface="Calibri" charset="0"/>
                      </a:endParaRPr>
                    </a:p>
                  </a:txBody>
                  <a:tcPr marL="91440" marR="91440" marT="45720" marB="45720" anchor="ctr">
                    <a:lnL w="9525" cap="flat" cmpd="sng" algn="ctr">
                      <a:solidFill>
                        <a:srgbClr val="1B3B2F"/>
                      </a:solidFill>
                      <a:prstDash val="solid"/>
                      <a:round/>
                      <a:headEnd type="none" w="med" len="med"/>
                      <a:tailEnd type="none" w="med" len="med"/>
                    </a:lnL>
                    <a:lnR w="9525" cap="flat" cmpd="sng" algn="ctr">
                      <a:solidFill>
                        <a:srgbClr val="1B3B2F"/>
                      </a:solidFill>
                      <a:prstDash val="solid"/>
                      <a:round/>
                      <a:headEnd type="none" w="med" len="med"/>
                      <a:tailEnd type="none" w="med" len="med"/>
                    </a:lnR>
                    <a:lnT w="9525" cap="flat" cmpd="sng" algn="ctr">
                      <a:solidFill>
                        <a:srgbClr val="1B3B2F"/>
                      </a:solidFill>
                      <a:prstDash val="solid"/>
                      <a:round/>
                      <a:headEnd type="none" w="med" len="med"/>
                      <a:tailEnd type="none" w="med" len="med"/>
                    </a:lnT>
                    <a:lnB w="9525" cap="flat" cmpd="sng" algn="ctr">
                      <a:solidFill>
                        <a:srgbClr val="1B3B2F"/>
                      </a:solidFill>
                      <a:prstDash val="solid"/>
                      <a:round/>
                      <a:headEnd type="none" w="med" len="med"/>
                      <a:tailEnd type="none" w="med" len="med"/>
                    </a:lnB>
                    <a:solidFill>
                      <a:srgbClr val="11241C"/>
                    </a:solidFill>
                  </a:tcPr>
                </a:tc>
              </a:tr>
            </a:tbl>
          </a:graphicData>
        </a:graphic>
      </p:graphicFrame>
      <p:sp>
        <p:nvSpPr>
          <p:cNvPr id="21" name="Text 18"/>
          <p:cNvSpPr txBox="1"/>
          <p:nvPr/>
        </p:nvSpPr>
        <p:spPr>
          <a:xfrm>
            <a:off x="548640" y="5440680"/>
            <a:ext cx="6949440" cy="457200"/>
          </a:xfrm>
          <a:prstGeom prst="rect">
            <a:avLst/>
          </a:prstGeom>
          <a:noFill/>
          <a:ln/>
        </p:spPr>
        <p:txBody>
          <a:bodyPr wrap="square" lIns="0" tIns="0" rIns="0" bIns="0" rtlCol="0" anchor="t"/>
          <a:lstStyle/>
          <a:p>
            <a:pPr indent="0" marL="0">
              <a:buNone/>
            </a:pPr>
            <a:r>
              <a:rPr lang="en-US" sz="1150" i="1" dirty="0">
                <a:solidFill>
                  <a:srgbClr val="CFE0D4"/>
                </a:solidFill>
                <a:latin typeface="Calibri" pitchFamily="34" charset="0"/>
                <a:ea typeface="Calibri" pitchFamily="34" charset="-122"/>
                <a:cs typeface="Calibri" pitchFamily="34" charset="-120"/>
              </a:rPr>
              <a:t>Design: baseline and endline on each pilot farm, compared with matched farms without kits.</a:t>
            </a:r>
            <a:endParaRPr lang="en-US" sz="1150" dirty="0"/>
          </a:p>
        </p:txBody>
      </p:sp>
      <p:sp>
        <p:nvSpPr>
          <p:cNvPr id="22" name="Shape 19"/>
          <p:cNvSpPr/>
          <p:nvPr/>
        </p:nvSpPr>
        <p:spPr>
          <a:xfrm>
            <a:off x="7726680" y="2926080"/>
            <a:ext cx="3931920" cy="1143000"/>
          </a:xfrm>
          <a:prstGeom prst="roundRect">
            <a:avLst>
              <a:gd name="adj" fmla="val 6400"/>
            </a:avLst>
          </a:prstGeom>
          <a:solidFill>
            <a:srgbClr val="11241C"/>
          </a:solidFill>
          <a:ln w="19050">
            <a:solidFill>
              <a:srgbClr val="E07A3E"/>
            </a:solidFill>
            <a:prstDash val="solid"/>
          </a:ln>
        </p:spPr>
      </p:sp>
      <p:sp>
        <p:nvSpPr>
          <p:cNvPr id="23" name="Text 20"/>
          <p:cNvSpPr txBox="1"/>
          <p:nvPr/>
        </p:nvSpPr>
        <p:spPr>
          <a:xfrm>
            <a:off x="7955280" y="3044952"/>
            <a:ext cx="356616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ACHIEVED RESULTS</a:t>
            </a:r>
            <a:endParaRPr lang="en-US" sz="1050" dirty="0"/>
          </a:p>
        </p:txBody>
      </p:sp>
      <p:sp>
        <p:nvSpPr>
          <p:cNvPr id="24" name="Text 21"/>
          <p:cNvSpPr txBox="1"/>
          <p:nvPr/>
        </p:nvSpPr>
        <p:spPr>
          <a:xfrm>
            <a:off x="7955280" y="3337560"/>
            <a:ext cx="3566160" cy="6400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None yet. Repeat use and farm outcomes are not yet measured.</a:t>
            </a:r>
            <a:endParaRPr lang="en-US" sz="1250" dirty="0"/>
          </a:p>
        </p:txBody>
      </p:sp>
      <p:sp>
        <p:nvSpPr>
          <p:cNvPr id="25" name="Shape 22"/>
          <p:cNvSpPr/>
          <p:nvPr/>
        </p:nvSpPr>
        <p:spPr>
          <a:xfrm>
            <a:off x="7726680" y="4206240"/>
            <a:ext cx="3931920" cy="1828800"/>
          </a:xfrm>
          <a:prstGeom prst="roundRect">
            <a:avLst>
              <a:gd name="adj" fmla="val 4000"/>
            </a:avLst>
          </a:prstGeom>
          <a:solidFill>
            <a:srgbClr val="11241C"/>
          </a:solidFill>
          <a:ln w="12700">
            <a:solidFill>
              <a:srgbClr val="11241C"/>
            </a:solidFill>
            <a:prstDash val="solid"/>
          </a:ln>
        </p:spPr>
      </p:sp>
      <p:sp>
        <p:nvSpPr>
          <p:cNvPr id="26" name="Text 23"/>
          <p:cNvSpPr txBox="1"/>
          <p:nvPr/>
        </p:nvSpPr>
        <p:spPr>
          <a:xfrm>
            <a:off x="7955280" y="4325112"/>
            <a:ext cx="356616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PROJECTED: HYPOTHESES TO TEST</a:t>
            </a:r>
            <a:endParaRPr lang="en-US" sz="1050" dirty="0"/>
          </a:p>
        </p:txBody>
      </p:sp>
      <p:sp>
        <p:nvSpPr>
          <p:cNvPr id="27" name="Text 24"/>
          <p:cNvSpPr txBox="1"/>
          <p:nvPr/>
        </p:nvSpPr>
        <p:spPr>
          <a:xfrm>
            <a:off x="7955280" y="4645152"/>
            <a:ext cx="3566160" cy="132588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rgbClr val="CFE0D4"/>
                </a:solidFill>
                <a:latin typeface="Calibri" pitchFamily="34" charset="0"/>
                <a:ea typeface="Calibri" pitchFamily="34" charset="-122"/>
                <a:cs typeface="Calibri" pitchFamily="34" charset="-120"/>
              </a:rPr>
              <a:t>More pregnancies per insemination</a:t>
            </a:r>
            <a:endParaRPr lang="en-US" sz="1150" dirty="0"/>
          </a:p>
          <a:p>
            <a:pPr marL="342900" indent="-342900">
              <a:spcAft>
                <a:spcPts val="200"/>
              </a:spcAft>
              <a:buSzPct val="100000"/>
              <a:buChar char="•"/>
            </a:pPr>
            <a:r>
              <a:rPr lang="en-US" sz="1150" dirty="0">
                <a:solidFill>
                  <a:srgbClr val="CFE0D4"/>
                </a:solidFill>
                <a:latin typeface="Calibri" pitchFamily="34" charset="0"/>
                <a:ea typeface="Calibri" pitchFamily="34" charset="-122"/>
                <a:cs typeface="Calibri" pitchFamily="34" charset="-120"/>
              </a:rPr>
              <a:t>Less milk rejected at collection</a:t>
            </a:r>
            <a:endParaRPr lang="en-US" sz="1150" dirty="0"/>
          </a:p>
          <a:p>
            <a:pPr marL="342900" indent="-342900">
              <a:spcAft>
                <a:spcPts val="200"/>
              </a:spcAft>
              <a:buSzPct val="100000"/>
              <a:buChar char="•"/>
            </a:pPr>
            <a:r>
              <a:rPr lang="en-US" sz="1150" dirty="0">
                <a:solidFill>
                  <a:srgbClr val="CFE0D4"/>
                </a:solidFill>
                <a:latin typeface="Calibri" pitchFamily="34" charset="0"/>
                <a:ea typeface="Calibri" pitchFamily="34" charset="-122"/>
                <a:cs typeface="Calibri" pitchFamily="34" charset="-120"/>
              </a:rPr>
              <a:t>Mastitis caught earlier</a:t>
            </a:r>
            <a:endParaRPr lang="en-US" sz="1150" dirty="0"/>
          </a:p>
          <a:p>
            <a:pPr marL="342900" indent="-342900">
              <a:spcAft>
                <a:spcPts val="200"/>
              </a:spcAft>
              <a:buSzPct val="100000"/>
              <a:buChar char="•"/>
            </a:pPr>
            <a:r>
              <a:rPr lang="en-US" sz="1150" dirty="0">
                <a:solidFill>
                  <a:srgbClr val="CFE0D4"/>
                </a:solidFill>
                <a:latin typeface="Calibri" pitchFamily="34" charset="0"/>
                <a:ea typeface="Calibri" pitchFamily="34" charset="-122"/>
                <a:cs typeface="Calibri" pitchFamily="34" charset="-120"/>
              </a:rPr>
              <a:t>More milk per cow, lower emissions per litre</a:t>
            </a:r>
            <a:endParaRPr lang="en-US" sz="11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C7602A"/>
                </a:solidFill>
                <a:latin typeface="Calibri" pitchFamily="34" charset="0"/>
                <a:ea typeface="Calibri" pitchFamily="34" charset="-122"/>
                <a:cs typeface="Calibri" pitchFamily="34" charset="-120"/>
              </a:rPr>
              <a:t>08 · BUSINESS MODEL &amp; MARKET</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1F2A22"/>
                </a:solidFill>
                <a:latin typeface="Cambria" pitchFamily="34" charset="0"/>
                <a:ea typeface="Cambria" pitchFamily="34" charset="-122"/>
                <a:cs typeface="Cambria" pitchFamily="34" charset="-120"/>
              </a:rPr>
              <a:t>Three revenue streams; pre-revenue today</a:t>
            </a:r>
            <a:endParaRPr lang="en-US" sz="2800" dirty="0"/>
          </a:p>
        </p:txBody>
      </p:sp>
      <p:sp>
        <p:nvSpPr>
          <p:cNvPr id="4" name="Shape 2"/>
          <p:cNvSpPr/>
          <p:nvPr/>
        </p:nvSpPr>
        <p:spPr>
          <a:xfrm>
            <a:off x="548640" y="1417320"/>
            <a:ext cx="3520440" cy="2240280"/>
          </a:xfrm>
          <a:prstGeom prst="roundRect">
            <a:avLst>
              <a:gd name="adj" fmla="val 3265"/>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600200"/>
            <a:ext cx="548640" cy="548640"/>
          </a:xfrm>
          <a:prstGeom prst="ellipse">
            <a:avLst/>
          </a:prstGeom>
          <a:solidFill>
            <a:srgbClr val="E07A3E"/>
          </a:solidFill>
          <a:ln w="12700">
            <a:solidFill>
              <a:srgbClr val="E07A3E"/>
            </a:solidFill>
            <a:prstDash val="solid"/>
          </a:ln>
        </p:spPr>
      </p:sp>
      <p:pic>
        <p:nvPicPr>
          <p:cNvPr id="6" name="Image 0" descr="/home/nin2207257138/farmcare-render/build/icons/box.png">    </p:cNvPr>
          <p:cNvPicPr>
            <a:picLocks noChangeAspect="1"/>
          </p:cNvPicPr>
          <p:nvPr/>
        </p:nvPicPr>
        <p:blipFill>
          <a:blip r:embed="rId1"/>
          <a:stretch>
            <a:fillRect/>
          </a:stretch>
        </p:blipFill>
        <p:spPr>
          <a:xfrm>
            <a:off x="908914" y="1731874"/>
            <a:ext cx="285293" cy="285293"/>
          </a:xfrm>
          <a:prstGeom prst="rect">
            <a:avLst/>
          </a:prstGeom>
        </p:spPr>
      </p:pic>
      <p:sp>
        <p:nvSpPr>
          <p:cNvPr id="7" name="Text 4"/>
          <p:cNvSpPr txBox="1"/>
          <p:nvPr/>
        </p:nvSpPr>
        <p:spPr>
          <a:xfrm>
            <a:off x="1463040" y="1691640"/>
            <a:ext cx="2468880" cy="365760"/>
          </a:xfrm>
          <a:prstGeom prst="rect">
            <a:avLst/>
          </a:prstGeom>
          <a:noFill/>
          <a:ln/>
        </p:spPr>
        <p:txBody>
          <a:bodyPr wrap="square" lIns="0" tIns="0" rIns="0" bIns="0" rtlCol="0" anchor="t"/>
          <a:lstStyle/>
          <a:p>
            <a:pPr indent="0" marL="0">
              <a:buNone/>
            </a:pPr>
            <a:r>
              <a:rPr lang="en-US" sz="1500" b="1" dirty="0">
                <a:solidFill>
                  <a:srgbClr val="1B3B2F"/>
                </a:solidFill>
                <a:latin typeface="Cambria" pitchFamily="34" charset="0"/>
                <a:ea typeface="Cambria" pitchFamily="34" charset="-122"/>
                <a:cs typeface="Cambria" pitchFamily="34" charset="-120"/>
              </a:rPr>
              <a:t>Hardware kits</a:t>
            </a:r>
            <a:endParaRPr lang="en-US" sz="1500" dirty="0"/>
          </a:p>
        </p:txBody>
      </p:sp>
      <p:sp>
        <p:nvSpPr>
          <p:cNvPr id="8" name="Text 5"/>
          <p:cNvSpPr txBox="1"/>
          <p:nvPr/>
        </p:nvSpPr>
        <p:spPr>
          <a:xfrm>
            <a:off x="777240" y="2240280"/>
            <a:ext cx="3108960" cy="411480"/>
          </a:xfrm>
          <a:prstGeom prst="rect">
            <a:avLst/>
          </a:prstGeom>
          <a:noFill/>
          <a:ln/>
        </p:spPr>
        <p:txBody>
          <a:bodyPr wrap="square" lIns="0" tIns="0" rIns="0" bIns="0" rtlCol="0" anchor="t"/>
          <a:lstStyle/>
          <a:p>
            <a:pPr indent="0" marL="0">
              <a:buNone/>
            </a:pPr>
            <a:r>
              <a:rPr lang="en-US" sz="1150" b="1" dirty="0">
                <a:solidFill>
                  <a:srgbClr val="1F2A22"/>
                </a:solidFill>
                <a:latin typeface="Calibri" pitchFamily="34" charset="0"/>
                <a:ea typeface="Calibri" pitchFamily="34" charset="-122"/>
                <a:cs typeface="Calibri" pitchFamily="34" charset="-120"/>
              </a:rPr>
              <a:t>Who pays: </a:t>
            </a:r>
            <a:pPr indent="0" marL="0">
              <a:buNone/>
            </a:pPr>
            <a:r>
              <a:rPr lang="en-US" sz="1150" dirty="0">
                <a:solidFill>
                  <a:srgbClr val="5C6B60"/>
                </a:solidFill>
                <a:latin typeface="Calibri" pitchFamily="34" charset="0"/>
                <a:ea typeface="Calibri" pitchFamily="34" charset="-122"/>
                <a:cs typeface="Calibri" pitchFamily="34" charset="-120"/>
              </a:rPr>
              <a:t>Farmers, cooperatives; instalments</a:t>
            </a:r>
            <a:endParaRPr lang="en-US" sz="1150" dirty="0"/>
          </a:p>
        </p:txBody>
      </p:sp>
      <p:sp>
        <p:nvSpPr>
          <p:cNvPr id="9" name="Text 6"/>
          <p:cNvSpPr txBox="1"/>
          <p:nvPr/>
        </p:nvSpPr>
        <p:spPr>
          <a:xfrm>
            <a:off x="777240" y="2651760"/>
            <a:ext cx="3108960" cy="45720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One-time purchase; ESP32 parts, assembled in Rwanda.</a:t>
            </a:r>
            <a:endParaRPr lang="en-US" sz="1100" dirty="0"/>
          </a:p>
        </p:txBody>
      </p:sp>
      <p:sp>
        <p:nvSpPr>
          <p:cNvPr id="10" name="Text 7"/>
          <p:cNvSpPr txBox="1"/>
          <p:nvPr/>
        </p:nvSpPr>
        <p:spPr>
          <a:xfrm>
            <a:off x="777240" y="3127248"/>
            <a:ext cx="3108960" cy="475488"/>
          </a:xfrm>
          <a:prstGeom prst="rect">
            <a:avLst/>
          </a:prstGeom>
          <a:noFill/>
          <a:ln/>
        </p:spPr>
        <p:txBody>
          <a:bodyPr wrap="square" lIns="0" tIns="0" rIns="0" bIns="0" rtlCol="0" anchor="t"/>
          <a:lstStyle/>
          <a:p>
            <a:pPr indent="0" marL="0">
              <a:buNone/>
            </a:pPr>
            <a:r>
              <a:rPr lang="en-US" sz="1150" b="1" dirty="0">
                <a:solidFill>
                  <a:srgbClr val="C7602A"/>
                </a:solidFill>
                <a:latin typeface="Calibri" pitchFamily="34" charset="0"/>
                <a:ea typeface="Calibri" pitchFamily="34" charset="-122"/>
                <a:cs typeface="Calibri" pitchFamily="34" charset="-120"/>
              </a:rPr>
              <a:t>Station ≈ RWF 100k · Barn ≈ RWF 250k</a:t>
            </a:r>
            <a:endParaRPr lang="en-US" sz="1150" dirty="0"/>
          </a:p>
          <a:p>
            <a:pPr indent="0" marL="0">
              <a:buNone/>
            </a:pPr>
            <a:r>
              <a:rPr lang="en-US" sz="1150" b="1" dirty="0">
                <a:solidFill>
                  <a:srgbClr val="C7602A"/>
                </a:solidFill>
                <a:latin typeface="Calibri" pitchFamily="34" charset="0"/>
                <a:ea typeface="Calibri" pitchFamily="34" charset="-122"/>
                <a:cs typeface="Calibri" pitchFamily="34" charset="-120"/>
              </a:rPr>
              <a:t>Collar ≈ RWF 85k per cow</a:t>
            </a:r>
            <a:endParaRPr lang="en-US" sz="1150" dirty="0"/>
          </a:p>
        </p:txBody>
      </p:sp>
      <p:sp>
        <p:nvSpPr>
          <p:cNvPr id="11" name="Shape 8"/>
          <p:cNvSpPr/>
          <p:nvPr/>
        </p:nvSpPr>
        <p:spPr>
          <a:xfrm>
            <a:off x="4343400" y="1417320"/>
            <a:ext cx="3520440" cy="2240280"/>
          </a:xfrm>
          <a:prstGeom prst="roundRect">
            <a:avLst>
              <a:gd name="adj" fmla="val 3265"/>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572000" y="1600200"/>
            <a:ext cx="548640" cy="548640"/>
          </a:xfrm>
          <a:prstGeom prst="ellipse">
            <a:avLst/>
          </a:prstGeom>
          <a:solidFill>
            <a:srgbClr val="E07A3E"/>
          </a:solidFill>
          <a:ln w="12700">
            <a:solidFill>
              <a:srgbClr val="E07A3E"/>
            </a:solidFill>
            <a:prstDash val="solid"/>
          </a:ln>
        </p:spPr>
      </p:sp>
      <p:pic>
        <p:nvPicPr>
          <p:cNvPr id="13" name="Image 1" descr="/home/nin2207257138/farmcare-render/build/icons/sync.png">    </p:cNvPr>
          <p:cNvPicPr>
            <a:picLocks noChangeAspect="1"/>
          </p:cNvPicPr>
          <p:nvPr/>
        </p:nvPicPr>
        <p:blipFill>
          <a:blip r:embed="rId2"/>
          <a:stretch>
            <a:fillRect/>
          </a:stretch>
        </p:blipFill>
        <p:spPr>
          <a:xfrm>
            <a:off x="4703674" y="1731874"/>
            <a:ext cx="285293" cy="285293"/>
          </a:xfrm>
          <a:prstGeom prst="rect">
            <a:avLst/>
          </a:prstGeom>
        </p:spPr>
      </p:pic>
      <p:sp>
        <p:nvSpPr>
          <p:cNvPr id="14" name="Text 10"/>
          <p:cNvSpPr txBox="1"/>
          <p:nvPr/>
        </p:nvSpPr>
        <p:spPr>
          <a:xfrm>
            <a:off x="5257800" y="1691640"/>
            <a:ext cx="2468880" cy="365760"/>
          </a:xfrm>
          <a:prstGeom prst="rect">
            <a:avLst/>
          </a:prstGeom>
          <a:noFill/>
          <a:ln/>
        </p:spPr>
        <p:txBody>
          <a:bodyPr wrap="square" lIns="0" tIns="0" rIns="0" bIns="0" rtlCol="0" anchor="t"/>
          <a:lstStyle/>
          <a:p>
            <a:pPr indent="0" marL="0">
              <a:buNone/>
            </a:pPr>
            <a:r>
              <a:rPr lang="en-US" sz="1500" b="1" dirty="0">
                <a:solidFill>
                  <a:srgbClr val="1B3B2F"/>
                </a:solidFill>
                <a:latin typeface="Cambria" pitchFamily="34" charset="0"/>
                <a:ea typeface="Cambria" pitchFamily="34" charset="-122"/>
                <a:cs typeface="Cambria" pitchFamily="34" charset="-120"/>
              </a:rPr>
              <a:t>Milk-linked subscription</a:t>
            </a:r>
            <a:endParaRPr lang="en-US" sz="1500" dirty="0"/>
          </a:p>
        </p:txBody>
      </p:sp>
      <p:sp>
        <p:nvSpPr>
          <p:cNvPr id="15" name="Text 11"/>
          <p:cNvSpPr txBox="1"/>
          <p:nvPr/>
        </p:nvSpPr>
        <p:spPr>
          <a:xfrm>
            <a:off x="4572000" y="2240280"/>
            <a:ext cx="3108960" cy="411480"/>
          </a:xfrm>
          <a:prstGeom prst="rect">
            <a:avLst/>
          </a:prstGeom>
          <a:noFill/>
          <a:ln/>
        </p:spPr>
        <p:txBody>
          <a:bodyPr wrap="square" lIns="0" tIns="0" rIns="0" bIns="0" rtlCol="0" anchor="t"/>
          <a:lstStyle/>
          <a:p>
            <a:pPr indent="0" marL="0">
              <a:buNone/>
            </a:pPr>
            <a:r>
              <a:rPr lang="en-US" sz="1150" b="1" dirty="0">
                <a:solidFill>
                  <a:srgbClr val="1F2A22"/>
                </a:solidFill>
                <a:latin typeface="Calibri" pitchFamily="34" charset="0"/>
                <a:ea typeface="Calibri" pitchFamily="34" charset="-122"/>
                <a:cs typeface="Calibri" pitchFamily="34" charset="-120"/>
              </a:rPr>
              <a:t>Who pays: </a:t>
            </a:r>
            <a:pPr indent="0" marL="0">
              <a:buNone/>
            </a:pPr>
            <a:r>
              <a:rPr lang="en-US" sz="1150" dirty="0">
                <a:solidFill>
                  <a:srgbClr val="5C6B60"/>
                </a:solidFill>
                <a:latin typeface="Calibri" pitchFamily="34" charset="0"/>
                <a:ea typeface="Calibri" pitchFamily="34" charset="-122"/>
                <a:cs typeface="Calibri" pitchFamily="34" charset="-120"/>
              </a:rPr>
              <a:t>Farmers, via their cooperative</a:t>
            </a:r>
            <a:endParaRPr lang="en-US" sz="1150" dirty="0"/>
          </a:p>
        </p:txBody>
      </p:sp>
      <p:sp>
        <p:nvSpPr>
          <p:cNvPr id="16" name="Text 12"/>
          <p:cNvSpPr txBox="1"/>
          <p:nvPr/>
        </p:nvSpPr>
        <p:spPr>
          <a:xfrm>
            <a:off x="4572000" y="2651760"/>
            <a:ext cx="3108960" cy="45720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Dashboard, alerts, records and maintenance, paid only from milk sold.</a:t>
            </a:r>
            <a:endParaRPr lang="en-US" sz="1100" dirty="0"/>
          </a:p>
        </p:txBody>
      </p:sp>
      <p:sp>
        <p:nvSpPr>
          <p:cNvPr id="17" name="Text 13"/>
          <p:cNvSpPr txBox="1"/>
          <p:nvPr/>
        </p:nvSpPr>
        <p:spPr>
          <a:xfrm>
            <a:off x="4572000" y="3127248"/>
            <a:ext cx="3108960" cy="475488"/>
          </a:xfrm>
          <a:prstGeom prst="rect">
            <a:avLst/>
          </a:prstGeom>
          <a:noFill/>
          <a:ln/>
        </p:spPr>
        <p:txBody>
          <a:bodyPr wrap="square" lIns="0" tIns="0" rIns="0" bIns="0" rtlCol="0" anchor="t"/>
          <a:lstStyle/>
          <a:p>
            <a:pPr indent="0" marL="0">
              <a:buNone/>
            </a:pPr>
            <a:r>
              <a:rPr lang="en-US" sz="1150" b="1" dirty="0">
                <a:solidFill>
                  <a:srgbClr val="C7602A"/>
                </a:solidFill>
                <a:latin typeface="Calibri" pitchFamily="34" charset="0"/>
                <a:ea typeface="Calibri" pitchFamily="34" charset="-122"/>
                <a:cs typeface="Calibri" pitchFamily="34" charset="-120"/>
              </a:rPr>
              <a:t>3% of milk sold; nothing in dry months</a:t>
            </a:r>
            <a:endParaRPr lang="en-US" sz="1150" dirty="0"/>
          </a:p>
          <a:p>
            <a:pPr indent="0" marL="0">
              <a:buNone/>
            </a:pPr>
            <a:r>
              <a:rPr lang="en-US" sz="1150" b="1" dirty="0">
                <a:solidFill>
                  <a:srgbClr val="C7602A"/>
                </a:solidFill>
                <a:latin typeface="Calibri" pitchFamily="34" charset="0"/>
                <a:ea typeface="Calibri" pitchFamily="34" charset="-122"/>
                <a:cs typeface="Calibri" pitchFamily="34" charset="-120"/>
              </a:rPr>
              <a:t>Cap: RWF 10,000 per farm a month</a:t>
            </a:r>
            <a:endParaRPr lang="en-US" sz="1150" dirty="0"/>
          </a:p>
        </p:txBody>
      </p:sp>
      <p:sp>
        <p:nvSpPr>
          <p:cNvPr id="18" name="Shape 14"/>
          <p:cNvSpPr/>
          <p:nvPr/>
        </p:nvSpPr>
        <p:spPr>
          <a:xfrm>
            <a:off x="8138160" y="1417320"/>
            <a:ext cx="3520440" cy="2240280"/>
          </a:xfrm>
          <a:prstGeom prst="roundRect">
            <a:avLst>
              <a:gd name="adj" fmla="val 3265"/>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366760" y="1600200"/>
            <a:ext cx="548640" cy="548640"/>
          </a:xfrm>
          <a:prstGeom prst="ellipse">
            <a:avLst/>
          </a:prstGeom>
          <a:solidFill>
            <a:srgbClr val="E07A3E"/>
          </a:solidFill>
          <a:ln w="12700">
            <a:solidFill>
              <a:srgbClr val="E07A3E"/>
            </a:solidFill>
            <a:prstDash val="solid"/>
          </a:ln>
        </p:spPr>
      </p:sp>
      <p:pic>
        <p:nvPicPr>
          <p:cNvPr id="20" name="Image 2" descr="/home/nin2207257138/farmcare-render/build/icons/handshake.png">    </p:cNvPr>
          <p:cNvPicPr>
            <a:picLocks noChangeAspect="1"/>
          </p:cNvPicPr>
          <p:nvPr/>
        </p:nvPicPr>
        <p:blipFill>
          <a:blip r:embed="rId3"/>
          <a:stretch>
            <a:fillRect/>
          </a:stretch>
        </p:blipFill>
        <p:spPr>
          <a:xfrm>
            <a:off x="8498434" y="1731874"/>
            <a:ext cx="285293" cy="285293"/>
          </a:xfrm>
          <a:prstGeom prst="rect">
            <a:avLst/>
          </a:prstGeom>
        </p:spPr>
      </p:pic>
      <p:sp>
        <p:nvSpPr>
          <p:cNvPr id="21" name="Text 16"/>
          <p:cNvSpPr txBox="1"/>
          <p:nvPr/>
        </p:nvSpPr>
        <p:spPr>
          <a:xfrm>
            <a:off x="9052560" y="1691640"/>
            <a:ext cx="2468880" cy="365760"/>
          </a:xfrm>
          <a:prstGeom prst="rect">
            <a:avLst/>
          </a:prstGeom>
          <a:noFill/>
          <a:ln/>
        </p:spPr>
        <p:txBody>
          <a:bodyPr wrap="square" lIns="0" tIns="0" rIns="0" bIns="0" rtlCol="0" anchor="t"/>
          <a:lstStyle/>
          <a:p>
            <a:pPr indent="0" marL="0">
              <a:buNone/>
            </a:pPr>
            <a:r>
              <a:rPr lang="en-US" sz="1500" b="1" dirty="0">
                <a:solidFill>
                  <a:srgbClr val="1B3B2F"/>
                </a:solidFill>
                <a:latin typeface="Cambria" pitchFamily="34" charset="0"/>
                <a:ea typeface="Cambria" pitchFamily="34" charset="-122"/>
                <a:cs typeface="Cambria" pitchFamily="34" charset="-120"/>
              </a:rPr>
              <a:t>Institutional contracts</a:t>
            </a:r>
            <a:endParaRPr lang="en-US" sz="1500" dirty="0"/>
          </a:p>
        </p:txBody>
      </p:sp>
      <p:sp>
        <p:nvSpPr>
          <p:cNvPr id="22" name="Text 17"/>
          <p:cNvSpPr txBox="1"/>
          <p:nvPr/>
        </p:nvSpPr>
        <p:spPr>
          <a:xfrm>
            <a:off x="8366760" y="2240280"/>
            <a:ext cx="3108960" cy="411480"/>
          </a:xfrm>
          <a:prstGeom prst="rect">
            <a:avLst/>
          </a:prstGeom>
          <a:noFill/>
          <a:ln/>
        </p:spPr>
        <p:txBody>
          <a:bodyPr wrap="square" lIns="0" tIns="0" rIns="0" bIns="0" rtlCol="0" anchor="t"/>
          <a:lstStyle/>
          <a:p>
            <a:pPr indent="0" marL="0">
              <a:buNone/>
            </a:pPr>
            <a:r>
              <a:rPr lang="en-US" sz="1150" b="1" dirty="0">
                <a:solidFill>
                  <a:srgbClr val="1F2A22"/>
                </a:solidFill>
                <a:latin typeface="Calibri" pitchFamily="34" charset="0"/>
                <a:ea typeface="Calibri" pitchFamily="34" charset="-122"/>
                <a:cs typeface="Calibri" pitchFamily="34" charset="-120"/>
              </a:rPr>
              <a:t>Who pays: </a:t>
            </a:r>
            <a:pPr indent="0" marL="0">
              <a:buNone/>
            </a:pPr>
            <a:r>
              <a:rPr lang="en-US" sz="1150" dirty="0">
                <a:solidFill>
                  <a:srgbClr val="5C6B60"/>
                </a:solidFill>
                <a:latin typeface="Calibri" pitchFamily="34" charset="0"/>
                <a:ea typeface="Calibri" pitchFamily="34" charset="-122"/>
                <a:cs typeface="Calibri" pitchFamily="34" charset="-120"/>
              </a:rPr>
              <a:t>Inyange, Mukamira, NGOs, banks</a:t>
            </a:r>
            <a:endParaRPr lang="en-US" sz="1150" dirty="0"/>
          </a:p>
        </p:txBody>
      </p:sp>
      <p:sp>
        <p:nvSpPr>
          <p:cNvPr id="23" name="Text 18"/>
          <p:cNvSpPr txBox="1"/>
          <p:nvPr/>
        </p:nvSpPr>
        <p:spPr>
          <a:xfrm>
            <a:off x="8366760" y="2651760"/>
            <a:ext cx="3108960" cy="45720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Bundled deployments with dairy programmes, plus quality data.</a:t>
            </a:r>
            <a:endParaRPr lang="en-US" sz="1100" dirty="0"/>
          </a:p>
        </p:txBody>
      </p:sp>
      <p:sp>
        <p:nvSpPr>
          <p:cNvPr id="24" name="Text 19"/>
          <p:cNvSpPr txBox="1"/>
          <p:nvPr/>
        </p:nvSpPr>
        <p:spPr>
          <a:xfrm>
            <a:off x="8366760" y="3127248"/>
            <a:ext cx="3108960" cy="475488"/>
          </a:xfrm>
          <a:prstGeom prst="rect">
            <a:avLst/>
          </a:prstGeom>
          <a:noFill/>
          <a:ln/>
        </p:spPr>
        <p:txBody>
          <a:bodyPr wrap="square" lIns="0" tIns="0" rIns="0" bIns="0" rtlCol="0" anchor="t"/>
          <a:lstStyle/>
          <a:p>
            <a:pPr indent="0" marL="0">
              <a:buNone/>
            </a:pPr>
            <a:r>
              <a:rPr lang="en-US" sz="1150" b="1" dirty="0">
                <a:solidFill>
                  <a:srgbClr val="C7602A"/>
                </a:solidFill>
                <a:latin typeface="Calibri" pitchFamily="34" charset="0"/>
                <a:ea typeface="Calibri" pitchFamily="34" charset="-122"/>
                <a:cs typeface="Calibri" pitchFamily="34" charset="-120"/>
              </a:rPr>
              <a:t>Quoted per deployment</a:t>
            </a:r>
            <a:endParaRPr lang="en-US" sz="1150" dirty="0"/>
          </a:p>
        </p:txBody>
      </p:sp>
      <p:sp>
        <p:nvSpPr>
          <p:cNvPr id="25" name="Shape 20"/>
          <p:cNvSpPr/>
          <p:nvPr/>
        </p:nvSpPr>
        <p:spPr>
          <a:xfrm>
            <a:off x="548640" y="3840480"/>
            <a:ext cx="2651760" cy="1188720"/>
          </a:xfrm>
          <a:prstGeom prst="roundRect">
            <a:avLst>
              <a:gd name="adj" fmla="val 6154"/>
            </a:avLst>
          </a:prstGeom>
          <a:solidFill>
            <a:srgbClr val="1B3B2F"/>
          </a:solidFill>
          <a:ln w="12700">
            <a:solidFill>
              <a:srgbClr val="1B3B2F"/>
            </a:solidFill>
            <a:prstDash val="solid"/>
          </a:ln>
        </p:spPr>
      </p:sp>
      <p:sp>
        <p:nvSpPr>
          <p:cNvPr id="26" name="Text 21"/>
          <p:cNvSpPr txBox="1"/>
          <p:nvPr/>
        </p:nvSpPr>
        <p:spPr>
          <a:xfrm>
            <a:off x="731520" y="3950208"/>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FARMCARE REVENUE</a:t>
            </a:r>
            <a:endParaRPr lang="en-US" sz="1050" dirty="0"/>
          </a:p>
        </p:txBody>
      </p:sp>
      <p:sp>
        <p:nvSpPr>
          <p:cNvPr id="27" name="Text 22"/>
          <p:cNvSpPr txBox="1"/>
          <p:nvPr/>
        </p:nvSpPr>
        <p:spPr>
          <a:xfrm>
            <a:off x="731520" y="4206240"/>
            <a:ext cx="228600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RWF 0</a:t>
            </a:r>
            <a:endParaRPr lang="en-US" sz="2200" dirty="0"/>
          </a:p>
        </p:txBody>
      </p:sp>
      <p:sp>
        <p:nvSpPr>
          <p:cNvPr id="28" name="Text 23"/>
          <p:cNvSpPr txBox="1"/>
          <p:nvPr/>
        </p:nvSpPr>
        <p:spPr>
          <a:xfrm>
            <a:off x="731520" y="4617720"/>
            <a:ext cx="2331720" cy="384048"/>
          </a:xfrm>
          <a:prstGeom prst="rect">
            <a:avLst/>
          </a:prstGeom>
          <a:noFill/>
          <a:ln/>
        </p:spPr>
        <p:txBody>
          <a:bodyPr wrap="square" lIns="0" tIns="0" rIns="0" bIns="0" rtlCol="0" anchor="t"/>
          <a:lstStyle/>
          <a:p>
            <a:pPr indent="0" marL="0">
              <a:buNone/>
            </a:pPr>
            <a:r>
              <a:rPr lang="en-US" sz="1050" dirty="0">
                <a:solidFill>
                  <a:srgbClr val="CFE0D4"/>
                </a:solidFill>
                <a:latin typeface="Calibri" pitchFamily="34" charset="0"/>
                <a:ea typeface="Calibri" pitchFamily="34" charset="-122"/>
                <a:cs typeface="Calibri" pitchFamily="34" charset="-120"/>
              </a:rPr>
              <a:t>pre-revenue</a:t>
            </a:r>
            <a:endParaRPr lang="en-US" sz="1050" dirty="0"/>
          </a:p>
        </p:txBody>
      </p:sp>
      <p:sp>
        <p:nvSpPr>
          <p:cNvPr id="29" name="Shape 24"/>
          <p:cNvSpPr/>
          <p:nvPr/>
        </p:nvSpPr>
        <p:spPr>
          <a:xfrm>
            <a:off x="3360420" y="3840480"/>
            <a:ext cx="2651760" cy="1188720"/>
          </a:xfrm>
          <a:prstGeom prst="roundRect">
            <a:avLst>
              <a:gd name="adj" fmla="val 6154"/>
            </a:avLst>
          </a:prstGeom>
          <a:solidFill>
            <a:srgbClr val="1B3B2F"/>
          </a:solidFill>
          <a:ln w="12700">
            <a:solidFill>
              <a:srgbClr val="1B3B2F"/>
            </a:solidFill>
            <a:prstDash val="solid"/>
          </a:ln>
        </p:spPr>
      </p:sp>
      <p:sp>
        <p:nvSpPr>
          <p:cNvPr id="30" name="Text 25"/>
          <p:cNvSpPr txBox="1"/>
          <p:nvPr/>
        </p:nvSpPr>
        <p:spPr>
          <a:xfrm>
            <a:off x="3543300" y="3950208"/>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COMPANY TURNOVER</a:t>
            </a:r>
            <a:endParaRPr lang="en-US" sz="1050" dirty="0"/>
          </a:p>
        </p:txBody>
      </p:sp>
      <p:sp>
        <p:nvSpPr>
          <p:cNvPr id="31" name="Text 26"/>
          <p:cNvSpPr txBox="1"/>
          <p:nvPr/>
        </p:nvSpPr>
        <p:spPr>
          <a:xfrm>
            <a:off x="3543300" y="4206240"/>
            <a:ext cx="228600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RWF 3M</a:t>
            </a:r>
            <a:endParaRPr lang="en-US" sz="2200" dirty="0"/>
          </a:p>
        </p:txBody>
      </p:sp>
      <p:sp>
        <p:nvSpPr>
          <p:cNvPr id="32" name="Text 27"/>
          <p:cNvSpPr txBox="1"/>
          <p:nvPr/>
        </p:nvSpPr>
        <p:spPr>
          <a:xfrm>
            <a:off x="3543300" y="4617720"/>
            <a:ext cx="2331720" cy="384048"/>
          </a:xfrm>
          <a:prstGeom prst="rect">
            <a:avLst/>
          </a:prstGeom>
          <a:noFill/>
          <a:ln/>
        </p:spPr>
        <p:txBody>
          <a:bodyPr wrap="square" lIns="0" tIns="0" rIns="0" bIns="0" rtlCol="0" anchor="t"/>
          <a:lstStyle/>
          <a:p>
            <a:pPr indent="0" marL="0">
              <a:buNone/>
            </a:pPr>
            <a:r>
              <a:rPr lang="en-US" sz="1050" dirty="0">
                <a:solidFill>
                  <a:srgbClr val="CFE0D4"/>
                </a:solidFill>
                <a:latin typeface="Calibri" pitchFamily="34" charset="0"/>
                <a:ea typeface="Calibri" pitchFamily="34" charset="-122"/>
                <a:cs typeface="Calibri" pitchFamily="34" charset="-120"/>
              </a:rPr>
              <a:t>last year, informal side projects: AI, IoT design, tech support</a:t>
            </a:r>
            <a:endParaRPr lang="en-US" sz="1050" dirty="0"/>
          </a:p>
        </p:txBody>
      </p:sp>
      <p:sp>
        <p:nvSpPr>
          <p:cNvPr id="33" name="Shape 28"/>
          <p:cNvSpPr/>
          <p:nvPr/>
        </p:nvSpPr>
        <p:spPr>
          <a:xfrm>
            <a:off x="6172200" y="3840480"/>
            <a:ext cx="2651760" cy="1188720"/>
          </a:xfrm>
          <a:prstGeom prst="roundRect">
            <a:avLst>
              <a:gd name="adj" fmla="val 6154"/>
            </a:avLst>
          </a:prstGeom>
          <a:solidFill>
            <a:srgbClr val="1B3B2F"/>
          </a:solidFill>
          <a:ln w="12700">
            <a:solidFill>
              <a:srgbClr val="1B3B2F"/>
            </a:solidFill>
            <a:prstDash val="solid"/>
          </a:ln>
        </p:spPr>
      </p:sp>
      <p:sp>
        <p:nvSpPr>
          <p:cNvPr id="34" name="Text 29"/>
          <p:cNvSpPr txBox="1"/>
          <p:nvPr/>
        </p:nvSpPr>
        <p:spPr>
          <a:xfrm>
            <a:off x="6355080" y="3950208"/>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GRANTS &amp; INVESTMENT</a:t>
            </a:r>
            <a:endParaRPr lang="en-US" sz="1050" dirty="0"/>
          </a:p>
        </p:txBody>
      </p:sp>
      <p:sp>
        <p:nvSpPr>
          <p:cNvPr id="35" name="Text 30"/>
          <p:cNvSpPr txBox="1"/>
          <p:nvPr/>
        </p:nvSpPr>
        <p:spPr>
          <a:xfrm>
            <a:off x="6355080" y="4206240"/>
            <a:ext cx="228600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RWF 0</a:t>
            </a:r>
            <a:endParaRPr lang="en-US" sz="2200" dirty="0"/>
          </a:p>
        </p:txBody>
      </p:sp>
      <p:sp>
        <p:nvSpPr>
          <p:cNvPr id="36" name="Text 31"/>
          <p:cNvSpPr txBox="1"/>
          <p:nvPr/>
        </p:nvSpPr>
        <p:spPr>
          <a:xfrm>
            <a:off x="6355080" y="4617720"/>
            <a:ext cx="2331720" cy="384048"/>
          </a:xfrm>
          <a:prstGeom prst="rect">
            <a:avLst/>
          </a:prstGeom>
          <a:noFill/>
          <a:ln/>
        </p:spPr>
        <p:txBody>
          <a:bodyPr wrap="square" lIns="0" tIns="0" rIns="0" bIns="0" rtlCol="0" anchor="t"/>
          <a:lstStyle/>
          <a:p>
            <a:pPr indent="0" marL="0">
              <a:buNone/>
            </a:pPr>
            <a:r>
              <a:rPr lang="en-US" sz="1050" dirty="0">
                <a:solidFill>
                  <a:srgbClr val="CFE0D4"/>
                </a:solidFill>
                <a:latin typeface="Calibri" pitchFamily="34" charset="0"/>
                <a:ea typeface="Calibri" pitchFamily="34" charset="-122"/>
                <a:cs typeface="Calibri" pitchFamily="34" charset="-120"/>
              </a:rPr>
              <a:t>founder-funded to date</a:t>
            </a:r>
            <a:endParaRPr lang="en-US" sz="1050" dirty="0"/>
          </a:p>
        </p:txBody>
      </p:sp>
      <p:sp>
        <p:nvSpPr>
          <p:cNvPr id="37" name="Shape 32"/>
          <p:cNvSpPr/>
          <p:nvPr/>
        </p:nvSpPr>
        <p:spPr>
          <a:xfrm>
            <a:off x="8983980" y="3840480"/>
            <a:ext cx="2651760" cy="1188720"/>
          </a:xfrm>
          <a:prstGeom prst="roundRect">
            <a:avLst>
              <a:gd name="adj" fmla="val 6154"/>
            </a:avLst>
          </a:prstGeom>
          <a:solidFill>
            <a:srgbClr val="1B3B2F"/>
          </a:solidFill>
          <a:ln w="12700">
            <a:solidFill>
              <a:srgbClr val="1B3B2F"/>
            </a:solidFill>
            <a:prstDash val="solid"/>
          </a:ln>
        </p:spPr>
      </p:sp>
      <p:sp>
        <p:nvSpPr>
          <p:cNvPr id="38" name="Text 33"/>
          <p:cNvSpPr txBox="1"/>
          <p:nvPr/>
        </p:nvSpPr>
        <p:spPr>
          <a:xfrm>
            <a:off x="9166860" y="3950208"/>
            <a:ext cx="2286000" cy="256032"/>
          </a:xfrm>
          <a:prstGeom prst="rect">
            <a:avLst/>
          </a:prstGeom>
          <a:noFill/>
          <a:ln/>
        </p:spPr>
        <p:txBody>
          <a:bodyPr wrap="square" lIns="0" tIns="0" rIns="0" bIns="0" rtlCol="0" anchor="t"/>
          <a:lstStyle/>
          <a:p>
            <a:pPr indent="0" marL="0">
              <a:buNone/>
            </a:pPr>
            <a:r>
              <a:rPr lang="en-US" sz="1050" b="1" spc="100" kern="0" dirty="0">
                <a:solidFill>
                  <a:srgbClr val="E07A3E"/>
                </a:solidFill>
                <a:latin typeface="Calibri" pitchFamily="34" charset="0"/>
                <a:ea typeface="Calibri" pitchFamily="34" charset="-122"/>
                <a:cs typeface="Calibri" pitchFamily="34" charset="-120"/>
              </a:rPr>
              <a:t>LETTERS OF INTENT</a:t>
            </a:r>
            <a:endParaRPr lang="en-US" sz="1050" dirty="0"/>
          </a:p>
        </p:txBody>
      </p:sp>
      <p:sp>
        <p:nvSpPr>
          <p:cNvPr id="39" name="Text 34"/>
          <p:cNvSpPr txBox="1"/>
          <p:nvPr/>
        </p:nvSpPr>
        <p:spPr>
          <a:xfrm>
            <a:off x="9166860" y="4206240"/>
            <a:ext cx="228600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0 signed</a:t>
            </a:r>
            <a:endParaRPr lang="en-US" sz="2200" dirty="0"/>
          </a:p>
        </p:txBody>
      </p:sp>
      <p:sp>
        <p:nvSpPr>
          <p:cNvPr id="40" name="Text 35"/>
          <p:cNvSpPr txBox="1"/>
          <p:nvPr/>
        </p:nvSpPr>
        <p:spPr>
          <a:xfrm>
            <a:off x="9166860" y="4617720"/>
            <a:ext cx="2331720" cy="384048"/>
          </a:xfrm>
          <a:prstGeom prst="rect">
            <a:avLst/>
          </a:prstGeom>
          <a:noFill/>
          <a:ln/>
        </p:spPr>
        <p:txBody>
          <a:bodyPr wrap="square" lIns="0" tIns="0" rIns="0" bIns="0" rtlCol="0" anchor="t"/>
          <a:lstStyle/>
          <a:p>
            <a:pPr indent="0" marL="0">
              <a:buNone/>
            </a:pPr>
            <a:r>
              <a:rPr lang="en-US" sz="1050" dirty="0">
                <a:solidFill>
                  <a:srgbClr val="CFE0D4"/>
                </a:solidFill>
                <a:latin typeface="Calibri" pitchFamily="34" charset="0"/>
                <a:ea typeface="Calibri" pitchFamily="34" charset="-122"/>
                <a:cs typeface="Calibri" pitchFamily="34" charset="-120"/>
              </a:rPr>
              <a:t>first cooperative is next</a:t>
            </a:r>
            <a:endParaRPr lang="en-US" sz="1050" dirty="0"/>
          </a:p>
        </p:txBody>
      </p:sp>
      <p:sp>
        <p:nvSpPr>
          <p:cNvPr id="41" name="Shape 36"/>
          <p:cNvSpPr/>
          <p:nvPr/>
        </p:nvSpPr>
        <p:spPr>
          <a:xfrm>
            <a:off x="548640" y="5257800"/>
            <a:ext cx="457200" cy="457200"/>
          </a:xfrm>
          <a:prstGeom prst="ellipse">
            <a:avLst/>
          </a:prstGeom>
          <a:solidFill>
            <a:srgbClr val="E07A3E"/>
          </a:solidFill>
          <a:ln w="12700">
            <a:solidFill>
              <a:srgbClr val="E07A3E"/>
            </a:solidFill>
            <a:prstDash val="solid"/>
          </a:ln>
        </p:spPr>
      </p:sp>
      <p:pic>
        <p:nvPicPr>
          <p:cNvPr id="42" name="Image 3" descr="/home/nin2207257138/farmcare-render/build/icons/users.png">    </p:cNvPr>
          <p:cNvPicPr>
            <a:picLocks noChangeAspect="1"/>
          </p:cNvPicPr>
          <p:nvPr/>
        </p:nvPicPr>
        <p:blipFill>
          <a:blip r:embed="rId4"/>
          <a:stretch>
            <a:fillRect/>
          </a:stretch>
        </p:blipFill>
        <p:spPr>
          <a:xfrm>
            <a:off x="658368" y="5367528"/>
            <a:ext cx="237744" cy="237744"/>
          </a:xfrm>
          <a:prstGeom prst="rect">
            <a:avLst/>
          </a:prstGeom>
        </p:spPr>
      </p:pic>
      <p:sp>
        <p:nvSpPr>
          <p:cNvPr id="43" name="Text 37"/>
          <p:cNvSpPr txBox="1"/>
          <p:nvPr/>
        </p:nvSpPr>
        <p:spPr>
          <a:xfrm>
            <a:off x="1143000" y="5230368"/>
            <a:ext cx="2926080" cy="256032"/>
          </a:xfrm>
          <a:prstGeom prst="rect">
            <a:avLst/>
          </a:prstGeom>
          <a:noFill/>
          <a:ln/>
        </p:spPr>
        <p:txBody>
          <a:bodyPr wrap="square" lIns="0" tIns="0" rIns="0" bIns="0" rtlCol="0" anchor="t"/>
          <a:lstStyle/>
          <a:p>
            <a:pPr indent="0" marL="0">
              <a:buNone/>
            </a:pPr>
            <a:r>
              <a:rPr lang="en-US" sz="1100" b="1" spc="100" kern="0" dirty="0">
                <a:solidFill>
                  <a:srgbClr val="C7602A"/>
                </a:solidFill>
                <a:latin typeface="Calibri" pitchFamily="34" charset="0"/>
                <a:ea typeface="Calibri" pitchFamily="34" charset="-122"/>
                <a:cs typeface="Calibri" pitchFamily="34" charset="-120"/>
              </a:rPr>
              <a:t>Primary</a:t>
            </a:r>
            <a:endParaRPr lang="en-US" sz="1100" dirty="0"/>
          </a:p>
        </p:txBody>
      </p:sp>
      <p:sp>
        <p:nvSpPr>
          <p:cNvPr id="44" name="Text 38"/>
          <p:cNvSpPr txBox="1"/>
          <p:nvPr/>
        </p:nvSpPr>
        <p:spPr>
          <a:xfrm>
            <a:off x="1143000" y="5486400"/>
            <a:ext cx="2926080" cy="50292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Smallholders with 1–10 cows; 1.45–1.73M cattle nationally</a:t>
            </a:r>
            <a:endParaRPr lang="en-US" sz="1150" dirty="0"/>
          </a:p>
        </p:txBody>
      </p:sp>
      <p:sp>
        <p:nvSpPr>
          <p:cNvPr id="45" name="Shape 39"/>
          <p:cNvSpPr/>
          <p:nvPr/>
        </p:nvSpPr>
        <p:spPr>
          <a:xfrm>
            <a:off x="4343400" y="5257800"/>
            <a:ext cx="457200" cy="457200"/>
          </a:xfrm>
          <a:prstGeom prst="ellipse">
            <a:avLst/>
          </a:prstGeom>
          <a:solidFill>
            <a:srgbClr val="E07A3E"/>
          </a:solidFill>
          <a:ln w="12700">
            <a:solidFill>
              <a:srgbClr val="E07A3E"/>
            </a:solidFill>
            <a:prstDash val="solid"/>
          </a:ln>
        </p:spPr>
      </p:sp>
      <p:pic>
        <p:nvPicPr>
          <p:cNvPr id="46" name="Image 4" descr="/home/nin2207257138/farmcare-render/build/icons/industry.png">    </p:cNvPr>
          <p:cNvPicPr>
            <a:picLocks noChangeAspect="1"/>
          </p:cNvPicPr>
          <p:nvPr/>
        </p:nvPicPr>
        <p:blipFill>
          <a:blip r:embed="rId5"/>
          <a:stretch>
            <a:fillRect/>
          </a:stretch>
        </p:blipFill>
        <p:spPr>
          <a:xfrm>
            <a:off x="4453128" y="5367528"/>
            <a:ext cx="237744" cy="237744"/>
          </a:xfrm>
          <a:prstGeom prst="rect">
            <a:avLst/>
          </a:prstGeom>
        </p:spPr>
      </p:pic>
      <p:sp>
        <p:nvSpPr>
          <p:cNvPr id="47" name="Text 40"/>
          <p:cNvSpPr txBox="1"/>
          <p:nvPr/>
        </p:nvSpPr>
        <p:spPr>
          <a:xfrm>
            <a:off x="4937760" y="5230368"/>
            <a:ext cx="2926080" cy="256032"/>
          </a:xfrm>
          <a:prstGeom prst="rect">
            <a:avLst/>
          </a:prstGeom>
          <a:noFill/>
          <a:ln/>
        </p:spPr>
        <p:txBody>
          <a:bodyPr wrap="square" lIns="0" tIns="0" rIns="0" bIns="0" rtlCol="0" anchor="t"/>
          <a:lstStyle/>
          <a:p>
            <a:pPr indent="0" marL="0">
              <a:buNone/>
            </a:pPr>
            <a:r>
              <a:rPr lang="en-US" sz="1100" b="1" spc="100" kern="0" dirty="0">
                <a:solidFill>
                  <a:srgbClr val="C7602A"/>
                </a:solidFill>
                <a:latin typeface="Calibri" pitchFamily="34" charset="0"/>
                <a:ea typeface="Calibri" pitchFamily="34" charset="-122"/>
                <a:cs typeface="Calibri" pitchFamily="34" charset="-120"/>
              </a:rPr>
              <a:t>Secondary</a:t>
            </a:r>
            <a:endParaRPr lang="en-US" sz="1100" dirty="0"/>
          </a:p>
        </p:txBody>
      </p:sp>
      <p:sp>
        <p:nvSpPr>
          <p:cNvPr id="48" name="Text 41"/>
          <p:cNvSpPr txBox="1"/>
          <p:nvPr/>
        </p:nvSpPr>
        <p:spPr>
          <a:xfrm>
            <a:off x="4937760" y="5486400"/>
            <a:ext cx="2926080" cy="50292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Cooperatives, collection centres and processors</a:t>
            </a:r>
            <a:endParaRPr lang="en-US" sz="1150" dirty="0"/>
          </a:p>
        </p:txBody>
      </p:sp>
      <p:sp>
        <p:nvSpPr>
          <p:cNvPr id="49" name="Shape 42"/>
          <p:cNvSpPr/>
          <p:nvPr/>
        </p:nvSpPr>
        <p:spPr>
          <a:xfrm>
            <a:off x="8138160" y="5257800"/>
            <a:ext cx="457200" cy="457200"/>
          </a:xfrm>
          <a:prstGeom prst="ellipse">
            <a:avLst/>
          </a:prstGeom>
          <a:solidFill>
            <a:srgbClr val="E07A3E"/>
          </a:solidFill>
          <a:ln w="12700">
            <a:solidFill>
              <a:srgbClr val="E07A3E"/>
            </a:solidFill>
            <a:prstDash val="solid"/>
          </a:ln>
        </p:spPr>
      </p:sp>
      <p:pic>
        <p:nvPicPr>
          <p:cNvPr id="50" name="Image 5" descr="/home/nin2207257138/farmcare-render/build/icons/landmark.png">    </p:cNvPr>
          <p:cNvPicPr>
            <a:picLocks noChangeAspect="1"/>
          </p:cNvPicPr>
          <p:nvPr/>
        </p:nvPicPr>
        <p:blipFill>
          <a:blip r:embed="rId6"/>
          <a:stretch>
            <a:fillRect/>
          </a:stretch>
        </p:blipFill>
        <p:spPr>
          <a:xfrm>
            <a:off x="8247888" y="5367528"/>
            <a:ext cx="237744" cy="237744"/>
          </a:xfrm>
          <a:prstGeom prst="rect">
            <a:avLst/>
          </a:prstGeom>
        </p:spPr>
      </p:pic>
      <p:sp>
        <p:nvSpPr>
          <p:cNvPr id="51" name="Text 43"/>
          <p:cNvSpPr txBox="1"/>
          <p:nvPr/>
        </p:nvSpPr>
        <p:spPr>
          <a:xfrm>
            <a:off x="8732520" y="5230368"/>
            <a:ext cx="2926080" cy="256032"/>
          </a:xfrm>
          <a:prstGeom prst="rect">
            <a:avLst/>
          </a:prstGeom>
          <a:noFill/>
          <a:ln/>
        </p:spPr>
        <p:txBody>
          <a:bodyPr wrap="square" lIns="0" tIns="0" rIns="0" bIns="0" rtlCol="0" anchor="t"/>
          <a:lstStyle/>
          <a:p>
            <a:pPr indent="0" marL="0">
              <a:buNone/>
            </a:pPr>
            <a:r>
              <a:rPr lang="en-US" sz="1100" b="1" spc="100" kern="0" dirty="0">
                <a:solidFill>
                  <a:srgbClr val="C7602A"/>
                </a:solidFill>
                <a:latin typeface="Calibri" pitchFamily="34" charset="0"/>
                <a:ea typeface="Calibri" pitchFamily="34" charset="-122"/>
                <a:cs typeface="Calibri" pitchFamily="34" charset="-120"/>
              </a:rPr>
              <a:t>Third</a:t>
            </a:r>
            <a:endParaRPr lang="en-US" sz="1100" dirty="0"/>
          </a:p>
        </p:txBody>
      </p:sp>
      <p:sp>
        <p:nvSpPr>
          <p:cNvPr id="52" name="Text 44"/>
          <p:cNvSpPr txBox="1"/>
          <p:nvPr/>
        </p:nvSpPr>
        <p:spPr>
          <a:xfrm>
            <a:off x="8732520" y="5486400"/>
            <a:ext cx="2926080" cy="50292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MINAGRI, RAB, FAO, banks and insurers</a:t>
            </a:r>
            <a:endParaRPr lang="en-US" sz="1150" dirty="0"/>
          </a:p>
        </p:txBody>
      </p:sp>
      <p:sp>
        <p:nvSpPr>
          <p:cNvPr id="53" name="Text 45"/>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50" i="1" dirty="0">
                <a:solidFill>
                  <a:srgbClr val="5C6B60"/>
                </a:solidFill>
                <a:latin typeface="Calibri" pitchFamily="34" charset="0"/>
                <a:ea typeface="Calibri" pitchFamily="34" charset="-122"/>
                <a:cs typeface="Calibri" pitchFamily="34" charset="-120"/>
              </a:rPr>
              <a:t>Prices are estimates from Kigali part costs plus assembly; to be tested in the pilot. Projected revenue: not yet measured.</a:t>
            </a:r>
            <a:endParaRPr lang="en-US" sz="10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C7602A"/>
                </a:solidFill>
                <a:latin typeface="Calibri" pitchFamily="34" charset="0"/>
                <a:ea typeface="Calibri" pitchFamily="34" charset="-122"/>
                <a:cs typeface="Calibri" pitchFamily="34" charset="-120"/>
              </a:rPr>
              <a:t>09 · TEAM &amp; PARTNERSHIPS</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1F2A22"/>
                </a:solidFill>
                <a:latin typeface="Cambria" pitchFamily="34" charset="0"/>
                <a:ea typeface="Cambria" pitchFamily="34" charset="-122"/>
                <a:cs typeface="Cambria" pitchFamily="34" charset="-120"/>
              </a:rPr>
              <a:t>Six people across technology, field operations and climate</a:t>
            </a:r>
            <a:endParaRPr lang="en-US" sz="2800" dirty="0"/>
          </a:p>
        </p:txBody>
      </p:sp>
      <p:sp>
        <p:nvSpPr>
          <p:cNvPr id="4" name="Shape 2"/>
          <p:cNvSpPr/>
          <p:nvPr/>
        </p:nvSpPr>
        <p:spPr>
          <a:xfrm>
            <a:off x="548640" y="1417320"/>
            <a:ext cx="352044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783080"/>
            <a:ext cx="731520" cy="731520"/>
          </a:xfrm>
          <a:prstGeom prst="ellipse">
            <a:avLst/>
          </a:prstGeom>
          <a:solidFill>
            <a:srgbClr val="1B3B2F"/>
          </a:solidFill>
          <a:ln w="12700">
            <a:solidFill>
              <a:srgbClr val="1B3B2F"/>
            </a:solidFill>
            <a:prstDash val="solid"/>
          </a:ln>
        </p:spPr>
      </p:sp>
      <p:sp>
        <p:nvSpPr>
          <p:cNvPr id="6" name="Text 4"/>
          <p:cNvSpPr txBox="1"/>
          <p:nvPr/>
        </p:nvSpPr>
        <p:spPr>
          <a:xfrm>
            <a:off x="777240" y="1783080"/>
            <a:ext cx="731520" cy="731520"/>
          </a:xfrm>
          <a:prstGeom prst="rect">
            <a:avLst/>
          </a:prstGeom>
          <a:noFill/>
          <a:ln/>
        </p:spPr>
        <p:txBody>
          <a:bodyPr wrap="square" lIns="0" tIns="0" rIns="0" bIns="0" rtlCol="0" anchor="ctr"/>
          <a:lstStyle/>
          <a:p>
            <a:pPr algn="ctr" indent="0" marL="0">
              <a:buNone/>
            </a:pPr>
            <a:r>
              <a:rPr lang="en-US" sz="1700" b="1" dirty="0">
                <a:solidFill>
                  <a:srgbClr val="E07A3E"/>
                </a:solidFill>
                <a:latin typeface="Cambria" pitchFamily="34" charset="0"/>
                <a:ea typeface="Cambria" pitchFamily="34" charset="-122"/>
                <a:cs typeface="Cambria" pitchFamily="34" charset="-120"/>
              </a:rPr>
              <a:t>BJ</a:t>
            </a:r>
            <a:endParaRPr lang="en-US" sz="1700" dirty="0"/>
          </a:p>
        </p:txBody>
      </p:sp>
      <p:sp>
        <p:nvSpPr>
          <p:cNvPr id="7" name="Text 5"/>
          <p:cNvSpPr txBox="1"/>
          <p:nvPr/>
        </p:nvSpPr>
        <p:spPr>
          <a:xfrm>
            <a:off x="1691640" y="1600200"/>
            <a:ext cx="2240280" cy="320040"/>
          </a:xfrm>
          <a:prstGeom prst="rect">
            <a:avLst/>
          </a:prstGeom>
          <a:noFill/>
          <a:ln/>
        </p:spPr>
        <p:txBody>
          <a:bodyPr wrap="square" lIns="0" tIns="0" rIns="0" bIns="0" rtlCol="0" anchor="t"/>
          <a:lstStyle/>
          <a:p>
            <a:pPr indent="0" marL="0">
              <a:buNone/>
            </a:pPr>
            <a:r>
              <a:rPr lang="en-US" sz="1400" b="1" dirty="0">
                <a:solidFill>
                  <a:srgbClr val="1F2A22"/>
                </a:solidFill>
                <a:latin typeface="Cambria" pitchFamily="34" charset="0"/>
                <a:ea typeface="Cambria" pitchFamily="34" charset="-122"/>
                <a:cs typeface="Cambria" pitchFamily="34" charset="-120"/>
              </a:rPr>
              <a:t>Bikorimana Jean Claude</a:t>
            </a:r>
            <a:endParaRPr lang="en-US" sz="1400" dirty="0"/>
          </a:p>
        </p:txBody>
      </p:sp>
      <p:sp>
        <p:nvSpPr>
          <p:cNvPr id="8" name="Text 6"/>
          <p:cNvSpPr txBox="1"/>
          <p:nvPr/>
        </p:nvSpPr>
        <p:spPr>
          <a:xfrm>
            <a:off x="1691640" y="1929384"/>
            <a:ext cx="2240280" cy="384048"/>
          </a:xfrm>
          <a:prstGeom prst="rect">
            <a:avLst/>
          </a:prstGeom>
          <a:noFill/>
          <a:ln/>
        </p:spPr>
        <p:txBody>
          <a:bodyPr wrap="square" lIns="0" tIns="0" rIns="0" bIns="0" rtlCol="0" anchor="t"/>
          <a:lstStyle/>
          <a:p>
            <a:pPr indent="0" marL="0">
              <a:buNone/>
            </a:pPr>
            <a:r>
              <a:rPr lang="en-US" sz="1050" b="1" spc="100" kern="0" dirty="0">
                <a:solidFill>
                  <a:srgbClr val="C7602A"/>
                </a:solidFill>
                <a:latin typeface="Calibri" pitchFamily="34" charset="0"/>
                <a:ea typeface="Calibri" pitchFamily="34" charset="-122"/>
                <a:cs typeface="Calibri" pitchFamily="34" charset="-120"/>
              </a:rPr>
              <a:t>IT SPECIALIST &amp; COORDINATION</a:t>
            </a:r>
            <a:endParaRPr lang="en-US" sz="1050" dirty="0"/>
          </a:p>
        </p:txBody>
      </p:sp>
      <p:sp>
        <p:nvSpPr>
          <p:cNvPr id="9" name="Text 7"/>
          <p:cNvSpPr txBox="1"/>
          <p:nvPr/>
        </p:nvSpPr>
        <p:spPr>
          <a:xfrm>
            <a:off x="1691640" y="2350008"/>
            <a:ext cx="2240280" cy="45720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Field operations: integration and partnerships</a:t>
            </a:r>
            <a:endParaRPr lang="en-US" sz="1100" dirty="0"/>
          </a:p>
        </p:txBody>
      </p:sp>
      <p:sp>
        <p:nvSpPr>
          <p:cNvPr id="10" name="Shape 8"/>
          <p:cNvSpPr/>
          <p:nvPr/>
        </p:nvSpPr>
        <p:spPr>
          <a:xfrm>
            <a:off x="4343400" y="1417320"/>
            <a:ext cx="352044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4572000" y="1783080"/>
            <a:ext cx="731520" cy="731520"/>
          </a:xfrm>
          <a:prstGeom prst="ellipse">
            <a:avLst/>
          </a:prstGeom>
          <a:solidFill>
            <a:srgbClr val="1B3B2F"/>
          </a:solidFill>
          <a:ln w="12700">
            <a:solidFill>
              <a:srgbClr val="1B3B2F"/>
            </a:solidFill>
            <a:prstDash val="solid"/>
          </a:ln>
        </p:spPr>
      </p:sp>
      <p:sp>
        <p:nvSpPr>
          <p:cNvPr id="12" name="Text 10"/>
          <p:cNvSpPr txBox="1"/>
          <p:nvPr/>
        </p:nvSpPr>
        <p:spPr>
          <a:xfrm>
            <a:off x="4572000" y="1783080"/>
            <a:ext cx="731520" cy="731520"/>
          </a:xfrm>
          <a:prstGeom prst="rect">
            <a:avLst/>
          </a:prstGeom>
          <a:noFill/>
          <a:ln/>
        </p:spPr>
        <p:txBody>
          <a:bodyPr wrap="square" lIns="0" tIns="0" rIns="0" bIns="0" rtlCol="0" anchor="ctr"/>
          <a:lstStyle/>
          <a:p>
            <a:pPr algn="ctr" indent="0" marL="0">
              <a:buNone/>
            </a:pPr>
            <a:r>
              <a:rPr lang="en-US" sz="1700" b="1" dirty="0">
                <a:solidFill>
                  <a:srgbClr val="E07A3E"/>
                </a:solidFill>
                <a:latin typeface="Cambria" pitchFamily="34" charset="0"/>
                <a:ea typeface="Cambria" pitchFamily="34" charset="-122"/>
                <a:cs typeface="Cambria" pitchFamily="34" charset="-120"/>
              </a:rPr>
              <a:t>NB</a:t>
            </a:r>
            <a:endParaRPr lang="en-US" sz="1700" dirty="0"/>
          </a:p>
        </p:txBody>
      </p:sp>
      <p:sp>
        <p:nvSpPr>
          <p:cNvPr id="13" name="Text 11"/>
          <p:cNvSpPr txBox="1"/>
          <p:nvPr/>
        </p:nvSpPr>
        <p:spPr>
          <a:xfrm>
            <a:off x="5486400" y="1600200"/>
            <a:ext cx="2240280" cy="320040"/>
          </a:xfrm>
          <a:prstGeom prst="rect">
            <a:avLst/>
          </a:prstGeom>
          <a:noFill/>
          <a:ln/>
        </p:spPr>
        <p:txBody>
          <a:bodyPr wrap="square" lIns="0" tIns="0" rIns="0" bIns="0" rtlCol="0" anchor="t"/>
          <a:lstStyle/>
          <a:p>
            <a:pPr indent="0" marL="0">
              <a:buNone/>
            </a:pPr>
            <a:r>
              <a:rPr lang="en-US" sz="1400" b="1" dirty="0">
                <a:solidFill>
                  <a:srgbClr val="1F2A22"/>
                </a:solidFill>
                <a:latin typeface="Cambria" pitchFamily="34" charset="0"/>
                <a:ea typeface="Cambria" pitchFamily="34" charset="-122"/>
                <a:cs typeface="Cambria" pitchFamily="34" charset="-120"/>
              </a:rPr>
              <a:t>Nindenkimana Blaise</a:t>
            </a:r>
            <a:endParaRPr lang="en-US" sz="1400" dirty="0"/>
          </a:p>
        </p:txBody>
      </p:sp>
      <p:sp>
        <p:nvSpPr>
          <p:cNvPr id="14" name="Text 12"/>
          <p:cNvSpPr txBox="1"/>
          <p:nvPr/>
        </p:nvSpPr>
        <p:spPr>
          <a:xfrm>
            <a:off x="5486400" y="1929384"/>
            <a:ext cx="2240280" cy="256032"/>
          </a:xfrm>
          <a:prstGeom prst="rect">
            <a:avLst/>
          </a:prstGeom>
          <a:noFill/>
          <a:ln/>
        </p:spPr>
        <p:txBody>
          <a:bodyPr wrap="square" lIns="0" tIns="0" rIns="0" bIns="0" rtlCol="0" anchor="t"/>
          <a:lstStyle/>
          <a:p>
            <a:pPr indent="0" marL="0">
              <a:buNone/>
            </a:pPr>
            <a:r>
              <a:rPr lang="en-US" sz="1050" b="1" spc="100" kern="0" dirty="0">
                <a:solidFill>
                  <a:srgbClr val="C7602A"/>
                </a:solidFill>
                <a:latin typeface="Calibri" pitchFamily="34" charset="0"/>
                <a:ea typeface="Calibri" pitchFamily="34" charset="-122"/>
                <a:cs typeface="Calibri" pitchFamily="34" charset="-120"/>
              </a:rPr>
              <a:t>AI ENGINEER</a:t>
            </a:r>
            <a:endParaRPr lang="en-US" sz="1050" dirty="0"/>
          </a:p>
        </p:txBody>
      </p:sp>
      <p:sp>
        <p:nvSpPr>
          <p:cNvPr id="15" name="Text 13"/>
          <p:cNvSpPr txBox="1"/>
          <p:nvPr/>
        </p:nvSpPr>
        <p:spPr>
          <a:xfrm>
            <a:off x="5486400" y="2203704"/>
            <a:ext cx="2240280" cy="59436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Technical development: platform, AI models, architecture</a:t>
            </a:r>
            <a:endParaRPr lang="en-US" sz="1100" dirty="0"/>
          </a:p>
        </p:txBody>
      </p:sp>
      <p:sp>
        <p:nvSpPr>
          <p:cNvPr id="16" name="Shape 14"/>
          <p:cNvSpPr/>
          <p:nvPr/>
        </p:nvSpPr>
        <p:spPr>
          <a:xfrm>
            <a:off x="8138160" y="1417320"/>
            <a:ext cx="352044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366760" y="1783080"/>
            <a:ext cx="731520" cy="731520"/>
          </a:xfrm>
          <a:prstGeom prst="ellipse">
            <a:avLst/>
          </a:prstGeom>
          <a:solidFill>
            <a:srgbClr val="1B3B2F"/>
          </a:solidFill>
          <a:ln w="12700">
            <a:solidFill>
              <a:srgbClr val="1B3B2F"/>
            </a:solidFill>
            <a:prstDash val="solid"/>
          </a:ln>
        </p:spPr>
      </p:sp>
      <p:sp>
        <p:nvSpPr>
          <p:cNvPr id="18" name="Text 16"/>
          <p:cNvSpPr txBox="1"/>
          <p:nvPr/>
        </p:nvSpPr>
        <p:spPr>
          <a:xfrm>
            <a:off x="8366760" y="1783080"/>
            <a:ext cx="731520" cy="731520"/>
          </a:xfrm>
          <a:prstGeom prst="rect">
            <a:avLst/>
          </a:prstGeom>
          <a:noFill/>
          <a:ln/>
        </p:spPr>
        <p:txBody>
          <a:bodyPr wrap="square" lIns="0" tIns="0" rIns="0" bIns="0" rtlCol="0" anchor="ctr"/>
          <a:lstStyle/>
          <a:p>
            <a:pPr algn="ctr" indent="0" marL="0">
              <a:buNone/>
            </a:pPr>
            <a:r>
              <a:rPr lang="en-US" sz="1700" b="1" dirty="0">
                <a:solidFill>
                  <a:srgbClr val="E07A3E"/>
                </a:solidFill>
                <a:latin typeface="Cambria" pitchFamily="34" charset="0"/>
                <a:ea typeface="Cambria" pitchFamily="34" charset="-122"/>
                <a:cs typeface="Cambria" pitchFamily="34" charset="-120"/>
              </a:rPr>
              <a:t>HE</a:t>
            </a:r>
            <a:endParaRPr lang="en-US" sz="1700" dirty="0"/>
          </a:p>
        </p:txBody>
      </p:sp>
      <p:sp>
        <p:nvSpPr>
          <p:cNvPr id="19" name="Text 17"/>
          <p:cNvSpPr txBox="1"/>
          <p:nvPr/>
        </p:nvSpPr>
        <p:spPr>
          <a:xfrm>
            <a:off x="9281160" y="1600200"/>
            <a:ext cx="2240280" cy="320040"/>
          </a:xfrm>
          <a:prstGeom prst="rect">
            <a:avLst/>
          </a:prstGeom>
          <a:noFill/>
          <a:ln/>
        </p:spPr>
        <p:txBody>
          <a:bodyPr wrap="square" lIns="0" tIns="0" rIns="0" bIns="0" rtlCol="0" anchor="t"/>
          <a:lstStyle/>
          <a:p>
            <a:pPr indent="0" marL="0">
              <a:buNone/>
            </a:pPr>
            <a:r>
              <a:rPr lang="en-US" sz="1400" b="1" dirty="0">
                <a:solidFill>
                  <a:srgbClr val="1F2A22"/>
                </a:solidFill>
                <a:latin typeface="Cambria" pitchFamily="34" charset="0"/>
                <a:ea typeface="Cambria" pitchFamily="34" charset="-122"/>
                <a:cs typeface="Cambria" pitchFamily="34" charset="-120"/>
              </a:rPr>
              <a:t>Harerimana Eric</a:t>
            </a:r>
            <a:endParaRPr lang="en-US" sz="1400" dirty="0"/>
          </a:p>
        </p:txBody>
      </p:sp>
      <p:sp>
        <p:nvSpPr>
          <p:cNvPr id="20" name="Text 18"/>
          <p:cNvSpPr txBox="1"/>
          <p:nvPr/>
        </p:nvSpPr>
        <p:spPr>
          <a:xfrm>
            <a:off x="9281160" y="1929384"/>
            <a:ext cx="2240280" cy="256032"/>
          </a:xfrm>
          <a:prstGeom prst="rect">
            <a:avLst/>
          </a:prstGeom>
          <a:noFill/>
          <a:ln/>
        </p:spPr>
        <p:txBody>
          <a:bodyPr wrap="square" lIns="0" tIns="0" rIns="0" bIns="0" rtlCol="0" anchor="t"/>
          <a:lstStyle/>
          <a:p>
            <a:pPr indent="0" marL="0">
              <a:buNone/>
            </a:pPr>
            <a:r>
              <a:rPr lang="en-US" sz="1050" b="1" spc="100" kern="0" dirty="0">
                <a:solidFill>
                  <a:srgbClr val="C7602A"/>
                </a:solidFill>
                <a:latin typeface="Calibri" pitchFamily="34" charset="0"/>
                <a:ea typeface="Calibri" pitchFamily="34" charset="-122"/>
                <a:cs typeface="Calibri" pitchFamily="34" charset="-120"/>
              </a:rPr>
              <a:t>IOT ENGINEER</a:t>
            </a:r>
            <a:endParaRPr lang="en-US" sz="1050" dirty="0"/>
          </a:p>
        </p:txBody>
      </p:sp>
      <p:sp>
        <p:nvSpPr>
          <p:cNvPr id="21" name="Text 19"/>
          <p:cNvSpPr txBox="1"/>
          <p:nvPr/>
        </p:nvSpPr>
        <p:spPr>
          <a:xfrm>
            <a:off x="9281160" y="2203704"/>
            <a:ext cx="2240280" cy="59436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Technical development: sensors, RFID and connectivity</a:t>
            </a:r>
            <a:endParaRPr lang="en-US" sz="1100" dirty="0"/>
          </a:p>
        </p:txBody>
      </p:sp>
      <p:sp>
        <p:nvSpPr>
          <p:cNvPr id="22" name="Shape 20"/>
          <p:cNvSpPr/>
          <p:nvPr/>
        </p:nvSpPr>
        <p:spPr>
          <a:xfrm>
            <a:off x="548640" y="3063240"/>
            <a:ext cx="352044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21"/>
          <p:cNvSpPr/>
          <p:nvPr/>
        </p:nvSpPr>
        <p:spPr>
          <a:xfrm>
            <a:off x="777240" y="3429000"/>
            <a:ext cx="731520" cy="731520"/>
          </a:xfrm>
          <a:prstGeom prst="ellipse">
            <a:avLst/>
          </a:prstGeom>
          <a:solidFill>
            <a:srgbClr val="1B3B2F"/>
          </a:solidFill>
          <a:ln w="12700">
            <a:solidFill>
              <a:srgbClr val="1B3B2F"/>
            </a:solidFill>
            <a:prstDash val="solid"/>
          </a:ln>
        </p:spPr>
      </p:sp>
      <p:sp>
        <p:nvSpPr>
          <p:cNvPr id="24" name="Text 22"/>
          <p:cNvSpPr txBox="1"/>
          <p:nvPr/>
        </p:nvSpPr>
        <p:spPr>
          <a:xfrm>
            <a:off x="777240" y="3429000"/>
            <a:ext cx="731520" cy="731520"/>
          </a:xfrm>
          <a:prstGeom prst="rect">
            <a:avLst/>
          </a:prstGeom>
          <a:noFill/>
          <a:ln/>
        </p:spPr>
        <p:txBody>
          <a:bodyPr wrap="square" lIns="0" tIns="0" rIns="0" bIns="0" rtlCol="0" anchor="ctr"/>
          <a:lstStyle/>
          <a:p>
            <a:pPr algn="ctr" indent="0" marL="0">
              <a:buNone/>
            </a:pPr>
            <a:r>
              <a:rPr lang="en-US" sz="1700" b="1" dirty="0">
                <a:solidFill>
                  <a:srgbClr val="E07A3E"/>
                </a:solidFill>
                <a:latin typeface="Cambria" pitchFamily="34" charset="0"/>
                <a:ea typeface="Cambria" pitchFamily="34" charset="-122"/>
                <a:cs typeface="Cambria" pitchFamily="34" charset="-120"/>
              </a:rPr>
              <a:t>ME</a:t>
            </a:r>
            <a:endParaRPr lang="en-US" sz="1700" dirty="0"/>
          </a:p>
        </p:txBody>
      </p:sp>
      <p:sp>
        <p:nvSpPr>
          <p:cNvPr id="25" name="Text 23"/>
          <p:cNvSpPr txBox="1"/>
          <p:nvPr/>
        </p:nvSpPr>
        <p:spPr>
          <a:xfrm>
            <a:off x="1691640" y="3246120"/>
            <a:ext cx="2240280" cy="320040"/>
          </a:xfrm>
          <a:prstGeom prst="rect">
            <a:avLst/>
          </a:prstGeom>
          <a:noFill/>
          <a:ln/>
        </p:spPr>
        <p:txBody>
          <a:bodyPr wrap="square" lIns="0" tIns="0" rIns="0" bIns="0" rtlCol="0" anchor="t"/>
          <a:lstStyle/>
          <a:p>
            <a:pPr indent="0" marL="0">
              <a:buNone/>
            </a:pPr>
            <a:r>
              <a:rPr lang="en-US" sz="1400" b="1" dirty="0">
                <a:solidFill>
                  <a:srgbClr val="1F2A22"/>
                </a:solidFill>
                <a:latin typeface="Cambria" pitchFamily="34" charset="0"/>
                <a:ea typeface="Cambria" pitchFamily="34" charset="-122"/>
                <a:cs typeface="Cambria" pitchFamily="34" charset="-120"/>
              </a:rPr>
              <a:t>Mucyo Enock</a:t>
            </a:r>
            <a:endParaRPr lang="en-US" sz="1400" dirty="0"/>
          </a:p>
        </p:txBody>
      </p:sp>
      <p:sp>
        <p:nvSpPr>
          <p:cNvPr id="26" name="Text 24"/>
          <p:cNvSpPr txBox="1"/>
          <p:nvPr/>
        </p:nvSpPr>
        <p:spPr>
          <a:xfrm>
            <a:off x="1691640" y="3575304"/>
            <a:ext cx="2240280" cy="256032"/>
          </a:xfrm>
          <a:prstGeom prst="rect">
            <a:avLst/>
          </a:prstGeom>
          <a:noFill/>
          <a:ln/>
        </p:spPr>
        <p:txBody>
          <a:bodyPr wrap="square" lIns="0" tIns="0" rIns="0" bIns="0" rtlCol="0" anchor="t"/>
          <a:lstStyle/>
          <a:p>
            <a:pPr indent="0" marL="0">
              <a:buNone/>
            </a:pPr>
            <a:r>
              <a:rPr lang="en-US" sz="1050" b="1" spc="100" kern="0" dirty="0">
                <a:solidFill>
                  <a:srgbClr val="C7602A"/>
                </a:solidFill>
                <a:latin typeface="Calibri" pitchFamily="34" charset="0"/>
                <a:ea typeface="Calibri" pitchFamily="34" charset="-122"/>
                <a:cs typeface="Calibri" pitchFamily="34" charset="-120"/>
              </a:rPr>
              <a:t>PROJECT DIRECTOR</a:t>
            </a:r>
            <a:endParaRPr lang="en-US" sz="1050" dirty="0"/>
          </a:p>
        </p:txBody>
      </p:sp>
      <p:sp>
        <p:nvSpPr>
          <p:cNvPr id="27" name="Text 25"/>
          <p:cNvSpPr txBox="1"/>
          <p:nvPr/>
        </p:nvSpPr>
        <p:spPr>
          <a:xfrm>
            <a:off x="1691640" y="3849624"/>
            <a:ext cx="2240280" cy="59436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Technical development: machine learning, data security</a:t>
            </a:r>
            <a:endParaRPr lang="en-US" sz="1100" dirty="0"/>
          </a:p>
        </p:txBody>
      </p:sp>
      <p:sp>
        <p:nvSpPr>
          <p:cNvPr id="28" name="Shape 26"/>
          <p:cNvSpPr/>
          <p:nvPr/>
        </p:nvSpPr>
        <p:spPr>
          <a:xfrm>
            <a:off x="4343400" y="3063240"/>
            <a:ext cx="352044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4572000" y="3429000"/>
            <a:ext cx="731520" cy="731520"/>
          </a:xfrm>
          <a:prstGeom prst="ellipse">
            <a:avLst/>
          </a:prstGeom>
          <a:solidFill>
            <a:srgbClr val="1B3B2F"/>
          </a:solidFill>
          <a:ln w="12700">
            <a:solidFill>
              <a:srgbClr val="1B3B2F"/>
            </a:solidFill>
            <a:prstDash val="solid"/>
          </a:ln>
        </p:spPr>
      </p:sp>
      <p:sp>
        <p:nvSpPr>
          <p:cNvPr id="30" name="Text 28"/>
          <p:cNvSpPr txBox="1"/>
          <p:nvPr/>
        </p:nvSpPr>
        <p:spPr>
          <a:xfrm>
            <a:off x="4572000" y="3429000"/>
            <a:ext cx="731520" cy="731520"/>
          </a:xfrm>
          <a:prstGeom prst="rect">
            <a:avLst/>
          </a:prstGeom>
          <a:noFill/>
          <a:ln/>
        </p:spPr>
        <p:txBody>
          <a:bodyPr wrap="square" lIns="0" tIns="0" rIns="0" bIns="0" rtlCol="0" anchor="ctr"/>
          <a:lstStyle/>
          <a:p>
            <a:pPr algn="ctr" indent="0" marL="0">
              <a:buNone/>
            </a:pPr>
            <a:r>
              <a:rPr lang="en-US" sz="1700" b="1" dirty="0">
                <a:solidFill>
                  <a:srgbClr val="E07A3E"/>
                </a:solidFill>
                <a:latin typeface="Cambria" pitchFamily="34" charset="0"/>
                <a:ea typeface="Cambria" pitchFamily="34" charset="-122"/>
                <a:cs typeface="Cambria" pitchFamily="34" charset="-120"/>
              </a:rPr>
              <a:t>IE</a:t>
            </a:r>
            <a:endParaRPr lang="en-US" sz="1700" dirty="0"/>
          </a:p>
        </p:txBody>
      </p:sp>
      <p:sp>
        <p:nvSpPr>
          <p:cNvPr id="31" name="Text 29"/>
          <p:cNvSpPr txBox="1"/>
          <p:nvPr/>
        </p:nvSpPr>
        <p:spPr>
          <a:xfrm>
            <a:off x="5486400" y="3246120"/>
            <a:ext cx="2240280" cy="320040"/>
          </a:xfrm>
          <a:prstGeom prst="rect">
            <a:avLst/>
          </a:prstGeom>
          <a:noFill/>
          <a:ln/>
        </p:spPr>
        <p:txBody>
          <a:bodyPr wrap="square" lIns="0" tIns="0" rIns="0" bIns="0" rtlCol="0" anchor="t"/>
          <a:lstStyle/>
          <a:p>
            <a:pPr indent="0" marL="0">
              <a:buNone/>
            </a:pPr>
            <a:r>
              <a:rPr lang="en-US" sz="1400" b="1" dirty="0">
                <a:solidFill>
                  <a:srgbClr val="1F2A22"/>
                </a:solidFill>
                <a:latin typeface="Cambria" pitchFamily="34" charset="0"/>
                <a:ea typeface="Cambria" pitchFamily="34" charset="-122"/>
                <a:cs typeface="Cambria" pitchFamily="34" charset="-120"/>
              </a:rPr>
              <a:t>Izere Egide</a:t>
            </a:r>
            <a:endParaRPr lang="en-US" sz="1400" dirty="0"/>
          </a:p>
        </p:txBody>
      </p:sp>
      <p:sp>
        <p:nvSpPr>
          <p:cNvPr id="32" name="Text 30"/>
          <p:cNvSpPr txBox="1"/>
          <p:nvPr/>
        </p:nvSpPr>
        <p:spPr>
          <a:xfrm>
            <a:off x="5486400" y="3575304"/>
            <a:ext cx="2240280" cy="256032"/>
          </a:xfrm>
          <a:prstGeom prst="rect">
            <a:avLst/>
          </a:prstGeom>
          <a:noFill/>
          <a:ln/>
        </p:spPr>
        <p:txBody>
          <a:bodyPr wrap="square" lIns="0" tIns="0" rIns="0" bIns="0" rtlCol="0" anchor="t"/>
          <a:lstStyle/>
          <a:p>
            <a:pPr indent="0" marL="0">
              <a:buNone/>
            </a:pPr>
            <a:r>
              <a:rPr lang="en-US" sz="1050" b="1" spc="100" kern="0" dirty="0">
                <a:solidFill>
                  <a:srgbClr val="C7602A"/>
                </a:solidFill>
                <a:latin typeface="Calibri" pitchFamily="34" charset="0"/>
                <a:ea typeface="Calibri" pitchFamily="34" charset="-122"/>
                <a:cs typeface="Calibri" pitchFamily="34" charset="-120"/>
              </a:rPr>
              <a:t>ENVIRONMENTAL EXPERT</a:t>
            </a:r>
            <a:endParaRPr lang="en-US" sz="1050" dirty="0"/>
          </a:p>
        </p:txBody>
      </p:sp>
      <p:sp>
        <p:nvSpPr>
          <p:cNvPr id="33" name="Text 31"/>
          <p:cNvSpPr txBox="1"/>
          <p:nvPr/>
        </p:nvSpPr>
        <p:spPr>
          <a:xfrm>
            <a:off x="5486400" y="3849624"/>
            <a:ext cx="2240280" cy="59436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Agricultural validation: climate-smart fieldwork</a:t>
            </a:r>
            <a:endParaRPr lang="en-US" sz="1100" dirty="0"/>
          </a:p>
        </p:txBody>
      </p:sp>
      <p:sp>
        <p:nvSpPr>
          <p:cNvPr id="34" name="Shape 32"/>
          <p:cNvSpPr/>
          <p:nvPr/>
        </p:nvSpPr>
        <p:spPr>
          <a:xfrm>
            <a:off x="8138160" y="3063240"/>
            <a:ext cx="352044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5" name="Shape 33"/>
          <p:cNvSpPr/>
          <p:nvPr/>
        </p:nvSpPr>
        <p:spPr>
          <a:xfrm>
            <a:off x="8366760" y="3429000"/>
            <a:ext cx="731520" cy="731520"/>
          </a:xfrm>
          <a:prstGeom prst="ellipse">
            <a:avLst/>
          </a:prstGeom>
          <a:solidFill>
            <a:srgbClr val="1B3B2F"/>
          </a:solidFill>
          <a:ln w="12700">
            <a:solidFill>
              <a:srgbClr val="1B3B2F"/>
            </a:solidFill>
            <a:prstDash val="solid"/>
          </a:ln>
        </p:spPr>
      </p:sp>
      <p:sp>
        <p:nvSpPr>
          <p:cNvPr id="36" name="Text 34"/>
          <p:cNvSpPr txBox="1"/>
          <p:nvPr/>
        </p:nvSpPr>
        <p:spPr>
          <a:xfrm>
            <a:off x="8366760" y="3429000"/>
            <a:ext cx="731520" cy="731520"/>
          </a:xfrm>
          <a:prstGeom prst="rect">
            <a:avLst/>
          </a:prstGeom>
          <a:noFill/>
          <a:ln/>
        </p:spPr>
        <p:txBody>
          <a:bodyPr wrap="square" lIns="0" tIns="0" rIns="0" bIns="0" rtlCol="0" anchor="ctr"/>
          <a:lstStyle/>
          <a:p>
            <a:pPr algn="ctr" indent="0" marL="0">
              <a:buNone/>
            </a:pPr>
            <a:r>
              <a:rPr lang="en-US" sz="1700" b="1" dirty="0">
                <a:solidFill>
                  <a:srgbClr val="E07A3E"/>
                </a:solidFill>
                <a:latin typeface="Cambria" pitchFamily="34" charset="0"/>
                <a:ea typeface="Cambria" pitchFamily="34" charset="-122"/>
                <a:cs typeface="Cambria" pitchFamily="34" charset="-120"/>
              </a:rPr>
              <a:t>NE</a:t>
            </a:r>
            <a:endParaRPr lang="en-US" sz="1700" dirty="0"/>
          </a:p>
        </p:txBody>
      </p:sp>
      <p:sp>
        <p:nvSpPr>
          <p:cNvPr id="37" name="Text 35"/>
          <p:cNvSpPr txBox="1"/>
          <p:nvPr/>
        </p:nvSpPr>
        <p:spPr>
          <a:xfrm>
            <a:off x="9281160" y="3246120"/>
            <a:ext cx="2240280" cy="320040"/>
          </a:xfrm>
          <a:prstGeom prst="rect">
            <a:avLst/>
          </a:prstGeom>
          <a:noFill/>
          <a:ln/>
        </p:spPr>
        <p:txBody>
          <a:bodyPr wrap="square" lIns="0" tIns="0" rIns="0" bIns="0" rtlCol="0" anchor="t"/>
          <a:lstStyle/>
          <a:p>
            <a:pPr indent="0" marL="0">
              <a:buNone/>
            </a:pPr>
            <a:r>
              <a:rPr lang="en-US" sz="1400" b="1" dirty="0">
                <a:solidFill>
                  <a:srgbClr val="1F2A22"/>
                </a:solidFill>
                <a:latin typeface="Cambria" pitchFamily="34" charset="0"/>
                <a:ea typeface="Cambria" pitchFamily="34" charset="-122"/>
                <a:cs typeface="Cambria" pitchFamily="34" charset="-120"/>
              </a:rPr>
              <a:t>Niyonsaba Elina</a:t>
            </a:r>
            <a:endParaRPr lang="en-US" sz="1400" dirty="0"/>
          </a:p>
        </p:txBody>
      </p:sp>
      <p:sp>
        <p:nvSpPr>
          <p:cNvPr id="38" name="Text 36"/>
          <p:cNvSpPr txBox="1"/>
          <p:nvPr/>
        </p:nvSpPr>
        <p:spPr>
          <a:xfrm>
            <a:off x="9281160" y="3575304"/>
            <a:ext cx="2240280" cy="256032"/>
          </a:xfrm>
          <a:prstGeom prst="rect">
            <a:avLst/>
          </a:prstGeom>
          <a:noFill/>
          <a:ln/>
        </p:spPr>
        <p:txBody>
          <a:bodyPr wrap="square" lIns="0" tIns="0" rIns="0" bIns="0" rtlCol="0" anchor="t"/>
          <a:lstStyle/>
          <a:p>
            <a:pPr indent="0" marL="0">
              <a:buNone/>
            </a:pPr>
            <a:r>
              <a:rPr lang="en-US" sz="1050" b="1" spc="100" kern="0" dirty="0">
                <a:solidFill>
                  <a:srgbClr val="C7602A"/>
                </a:solidFill>
                <a:latin typeface="Calibri" pitchFamily="34" charset="0"/>
                <a:ea typeface="Calibri" pitchFamily="34" charset="-122"/>
                <a:cs typeface="Calibri" pitchFamily="34" charset="-120"/>
              </a:rPr>
              <a:t>OPERATIONS &amp; SALES</a:t>
            </a:r>
            <a:endParaRPr lang="en-US" sz="1050" dirty="0"/>
          </a:p>
        </p:txBody>
      </p:sp>
      <p:sp>
        <p:nvSpPr>
          <p:cNvPr id="39" name="Text 37"/>
          <p:cNvSpPr txBox="1"/>
          <p:nvPr/>
        </p:nvSpPr>
        <p:spPr>
          <a:xfrm>
            <a:off x="9281160" y="3849624"/>
            <a:ext cx="2240280" cy="594360"/>
          </a:xfrm>
          <a:prstGeom prst="rect">
            <a:avLst/>
          </a:prstGeom>
          <a:noFill/>
          <a:ln/>
        </p:spPr>
        <p:txBody>
          <a:bodyPr wrap="square" lIns="0" tIns="0" rIns="0" bIns="0" rtlCol="0" anchor="t"/>
          <a:lstStyle/>
          <a:p>
            <a:pPr indent="0" marL="0">
              <a:buNone/>
            </a:pPr>
            <a:r>
              <a:rPr lang="en-US" sz="1100" dirty="0">
                <a:solidFill>
                  <a:srgbClr val="5C6B60"/>
                </a:solidFill>
                <a:latin typeface="Calibri" pitchFamily="34" charset="0"/>
                <a:ea typeface="Calibri" pitchFamily="34" charset="-122"/>
                <a:cs typeface="Calibri" pitchFamily="34" charset="-120"/>
              </a:rPr>
              <a:t>Field operations: farmer and cooperative onboarding</a:t>
            </a:r>
            <a:endParaRPr lang="en-US" sz="1100" dirty="0"/>
          </a:p>
        </p:txBody>
      </p:sp>
      <p:sp>
        <p:nvSpPr>
          <p:cNvPr id="40" name="Shape 38"/>
          <p:cNvSpPr/>
          <p:nvPr/>
        </p:nvSpPr>
        <p:spPr>
          <a:xfrm>
            <a:off x="548640" y="4800600"/>
            <a:ext cx="5486400" cy="1280160"/>
          </a:xfrm>
          <a:prstGeom prst="roundRect">
            <a:avLst>
              <a:gd name="adj" fmla="val 5714"/>
            </a:avLst>
          </a:prstGeom>
          <a:solidFill>
            <a:srgbClr val="1B3B2F"/>
          </a:solidFill>
          <a:ln w="12700">
            <a:solidFill>
              <a:srgbClr val="1B3B2F"/>
            </a:solidFill>
            <a:prstDash val="solid"/>
          </a:ln>
        </p:spPr>
      </p:sp>
      <p:sp>
        <p:nvSpPr>
          <p:cNvPr id="41" name="Text 39"/>
          <p:cNvSpPr txBox="1"/>
          <p:nvPr/>
        </p:nvSpPr>
        <p:spPr>
          <a:xfrm>
            <a:off x="777240" y="4919472"/>
            <a:ext cx="5029200" cy="292608"/>
          </a:xfrm>
          <a:prstGeom prst="rect">
            <a:avLst/>
          </a:prstGeom>
          <a:noFill/>
          <a:ln/>
        </p:spPr>
        <p:txBody>
          <a:bodyPr wrap="square" lIns="0" tIns="0" rIns="0" bIns="0" rtlCol="0" anchor="t"/>
          <a:lstStyle/>
          <a:p>
            <a:pPr indent="0" marL="0">
              <a:buNone/>
            </a:pPr>
            <a:r>
              <a:rPr lang="en-US" sz="1300" b="1" dirty="0">
                <a:solidFill>
                  <a:srgbClr val="E07A3E"/>
                </a:solidFill>
                <a:latin typeface="Calibri" pitchFamily="34" charset="0"/>
                <a:ea typeface="Calibri" pitchFamily="34" charset="-122"/>
                <a:cs typeface="Calibri" pitchFamily="34" charset="-120"/>
              </a:rPr>
              <a:t>Gap: veterinary validation</a:t>
            </a:r>
            <a:endParaRPr lang="en-US" sz="1300" dirty="0"/>
          </a:p>
        </p:txBody>
      </p:sp>
      <p:sp>
        <p:nvSpPr>
          <p:cNvPr id="42" name="Text 40"/>
          <p:cNvSpPr txBox="1"/>
          <p:nvPr/>
        </p:nvSpPr>
        <p:spPr>
          <a:xfrm>
            <a:off x="777240" y="5239512"/>
            <a:ext cx="5029200" cy="77724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No veterinarian on the team yet. We will secure a veterinary adviser through RAB or the University of Rwanda before the pilot.</a:t>
            </a:r>
            <a:endParaRPr lang="en-US" sz="1150" dirty="0"/>
          </a:p>
        </p:txBody>
      </p:sp>
      <p:sp>
        <p:nvSpPr>
          <p:cNvPr id="43" name="Shape 41"/>
          <p:cNvSpPr/>
          <p:nvPr/>
        </p:nvSpPr>
        <p:spPr>
          <a:xfrm>
            <a:off x="6263640" y="4800600"/>
            <a:ext cx="5394960" cy="1280160"/>
          </a:xfrm>
          <a:prstGeom prst="roundRect">
            <a:avLst>
              <a:gd name="adj" fmla="val 5714"/>
            </a:avLst>
          </a:prstGeom>
          <a:solidFill>
            <a:srgbClr val="1B3B2F"/>
          </a:solidFill>
          <a:ln w="12700">
            <a:solidFill>
              <a:srgbClr val="1B3B2F"/>
            </a:solidFill>
            <a:prstDash val="solid"/>
          </a:ln>
        </p:spPr>
      </p:sp>
      <p:sp>
        <p:nvSpPr>
          <p:cNvPr id="44" name="Text 42"/>
          <p:cNvSpPr txBox="1"/>
          <p:nvPr/>
        </p:nvSpPr>
        <p:spPr>
          <a:xfrm>
            <a:off x="6492240" y="4919472"/>
            <a:ext cx="4937760" cy="292608"/>
          </a:xfrm>
          <a:prstGeom prst="rect">
            <a:avLst/>
          </a:prstGeom>
          <a:noFill/>
          <a:ln/>
        </p:spPr>
        <p:txBody>
          <a:bodyPr wrap="square" lIns="0" tIns="0" rIns="0" bIns="0" rtlCol="0" anchor="t"/>
          <a:lstStyle/>
          <a:p>
            <a:pPr indent="0" marL="0">
              <a:buNone/>
            </a:pPr>
            <a:r>
              <a:rPr lang="en-US" sz="1300" b="1" dirty="0">
                <a:solidFill>
                  <a:srgbClr val="E07A3E"/>
                </a:solidFill>
                <a:latin typeface="Calibri" pitchFamily="34" charset="0"/>
                <a:ea typeface="Calibri" pitchFamily="34" charset="-122"/>
                <a:cs typeface="Calibri" pitchFamily="34" charset="-120"/>
              </a:rPr>
              <a:t>Active partners: none signed yet</a:t>
            </a:r>
            <a:endParaRPr lang="en-US" sz="1300" dirty="0"/>
          </a:p>
        </p:txBody>
      </p:sp>
      <p:sp>
        <p:nvSpPr>
          <p:cNvPr id="45" name="Text 43"/>
          <p:cNvSpPr txBox="1"/>
          <p:nvPr/>
        </p:nvSpPr>
        <p:spPr>
          <a:xfrm>
            <a:off x="6492240" y="5239512"/>
            <a:ext cx="4937760" cy="77724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Targets: dairy cooperatives in five districts, Inyange and Mukamira, RAB and MINAGRI, University of Rwanda and ILRI, FAO and Smart Africa.</a:t>
            </a:r>
            <a:endParaRPr lang="en-US" sz="11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t"/>
          <a:lstStyle/>
          <a:p>
            <a:pPr indent="0" marL="0">
              <a:buNone/>
            </a:pPr>
            <a:r>
              <a:rPr lang="en-US" sz="1100" b="1" spc="200" kern="0" dirty="0">
                <a:solidFill>
                  <a:srgbClr val="E07A3E"/>
                </a:solidFill>
                <a:latin typeface="Calibri" pitchFamily="34" charset="0"/>
                <a:ea typeface="Calibri" pitchFamily="34" charset="-122"/>
                <a:cs typeface="Calibri" pitchFamily="34" charset="-120"/>
              </a:rPr>
              <a:t>10 · SCALING TO NEW COUNTRIES</a:t>
            </a:r>
            <a:endParaRPr lang="en-US" sz="1100" dirty="0"/>
          </a:p>
        </p:txBody>
      </p:sp>
      <p:sp>
        <p:nvSpPr>
          <p:cNvPr id="3" name="Text 1"/>
          <p:cNvSpPr txBox="1"/>
          <p:nvPr/>
        </p:nvSpPr>
        <p:spPr>
          <a:xfrm>
            <a:off x="548640" y="713232"/>
            <a:ext cx="1106424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Rwanda first, then Smart Africa member states</a:t>
            </a:r>
            <a:endParaRPr lang="en-US" sz="2800" dirty="0"/>
          </a:p>
        </p:txBody>
      </p:sp>
      <p:sp>
        <p:nvSpPr>
          <p:cNvPr id="4" name="Shape 2"/>
          <p:cNvSpPr/>
          <p:nvPr/>
        </p:nvSpPr>
        <p:spPr>
          <a:xfrm>
            <a:off x="548640" y="1417320"/>
            <a:ext cx="3520440" cy="1371600"/>
          </a:xfrm>
          <a:prstGeom prst="roundRect">
            <a:avLst>
              <a:gd name="adj" fmla="val 5333"/>
            </a:avLst>
          </a:prstGeom>
          <a:solidFill>
            <a:srgbClr val="11241C"/>
          </a:solidFill>
          <a:ln w="12700">
            <a:solidFill>
              <a:srgbClr val="11241C"/>
            </a:solidFill>
            <a:prstDash val="solid"/>
          </a:ln>
        </p:spPr>
      </p:sp>
      <p:sp>
        <p:nvSpPr>
          <p:cNvPr id="5" name="Shape 3"/>
          <p:cNvSpPr/>
          <p:nvPr/>
        </p:nvSpPr>
        <p:spPr>
          <a:xfrm>
            <a:off x="777240" y="1600200"/>
            <a:ext cx="502920" cy="502920"/>
          </a:xfrm>
          <a:prstGeom prst="ellipse">
            <a:avLst/>
          </a:prstGeom>
          <a:solidFill>
            <a:srgbClr val="E07A3E"/>
          </a:solidFill>
          <a:ln w="12700">
            <a:solidFill>
              <a:srgbClr val="E07A3E"/>
            </a:solidFill>
            <a:prstDash val="solid"/>
          </a:ln>
        </p:spPr>
      </p:sp>
      <p:pic>
        <p:nvPicPr>
          <p:cNvPr id="6" name="Image 0" descr="/home/nin2207257138/farmcare-render/build/icons/tools.png">    </p:cNvPr>
          <p:cNvPicPr>
            <a:picLocks noChangeAspect="1"/>
          </p:cNvPicPr>
          <p:nvPr/>
        </p:nvPicPr>
        <p:blipFill>
          <a:blip r:embed="rId1"/>
          <a:stretch>
            <a:fillRect/>
          </a:stretch>
        </p:blipFill>
        <p:spPr>
          <a:xfrm>
            <a:off x="897941" y="1720901"/>
            <a:ext cx="261518" cy="261518"/>
          </a:xfrm>
          <a:prstGeom prst="rect">
            <a:avLst/>
          </a:prstGeom>
        </p:spPr>
      </p:pic>
      <p:sp>
        <p:nvSpPr>
          <p:cNvPr id="7" name="Text 4"/>
          <p:cNvSpPr txBox="1"/>
          <p:nvPr/>
        </p:nvSpPr>
        <p:spPr>
          <a:xfrm>
            <a:off x="1417320" y="1645920"/>
            <a:ext cx="25146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Phase 1 · Build</a:t>
            </a:r>
            <a:endParaRPr lang="en-US" sz="1400" dirty="0"/>
          </a:p>
        </p:txBody>
      </p:sp>
      <p:sp>
        <p:nvSpPr>
          <p:cNvPr id="8" name="Text 5"/>
          <p:cNvSpPr txBox="1"/>
          <p:nvPr/>
        </p:nvSpPr>
        <p:spPr>
          <a:xfrm>
            <a:off x="777240" y="2194560"/>
            <a:ext cx="3108960" cy="54864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Small production run of field-ready kits: boards, sensors and enclosures</a:t>
            </a:r>
            <a:endParaRPr lang="en-US" sz="1150" dirty="0"/>
          </a:p>
        </p:txBody>
      </p:sp>
      <p:sp>
        <p:nvSpPr>
          <p:cNvPr id="9" name="Shape 6"/>
          <p:cNvSpPr/>
          <p:nvPr/>
        </p:nvSpPr>
        <p:spPr>
          <a:xfrm>
            <a:off x="4343400" y="1417320"/>
            <a:ext cx="3520440" cy="1371600"/>
          </a:xfrm>
          <a:prstGeom prst="roundRect">
            <a:avLst>
              <a:gd name="adj" fmla="val 5333"/>
            </a:avLst>
          </a:prstGeom>
          <a:solidFill>
            <a:srgbClr val="11241C"/>
          </a:solidFill>
          <a:ln w="12700">
            <a:solidFill>
              <a:srgbClr val="11241C"/>
            </a:solidFill>
            <a:prstDash val="solid"/>
          </a:ln>
        </p:spPr>
      </p:sp>
      <p:sp>
        <p:nvSpPr>
          <p:cNvPr id="10" name="Shape 7"/>
          <p:cNvSpPr/>
          <p:nvPr/>
        </p:nvSpPr>
        <p:spPr>
          <a:xfrm>
            <a:off x="4572000" y="1600200"/>
            <a:ext cx="502920" cy="502920"/>
          </a:xfrm>
          <a:prstGeom prst="ellipse">
            <a:avLst/>
          </a:prstGeom>
          <a:solidFill>
            <a:srgbClr val="E07A3E"/>
          </a:solidFill>
          <a:ln w="12700">
            <a:solidFill>
              <a:srgbClr val="E07A3E"/>
            </a:solidFill>
            <a:prstDash val="solid"/>
          </a:ln>
        </p:spPr>
      </p:sp>
      <p:pic>
        <p:nvPicPr>
          <p:cNvPr id="11" name="Image 1" descr="/home/nin2207257138/farmcare-render/build/icons/seedling.png">    </p:cNvPr>
          <p:cNvPicPr>
            <a:picLocks noChangeAspect="1"/>
          </p:cNvPicPr>
          <p:nvPr/>
        </p:nvPicPr>
        <p:blipFill>
          <a:blip r:embed="rId2"/>
          <a:stretch>
            <a:fillRect/>
          </a:stretch>
        </p:blipFill>
        <p:spPr>
          <a:xfrm>
            <a:off x="4692701" y="1720901"/>
            <a:ext cx="261518" cy="261518"/>
          </a:xfrm>
          <a:prstGeom prst="rect">
            <a:avLst/>
          </a:prstGeom>
        </p:spPr>
      </p:pic>
      <p:sp>
        <p:nvSpPr>
          <p:cNvPr id="12" name="Text 8"/>
          <p:cNvSpPr txBox="1"/>
          <p:nvPr/>
        </p:nvSpPr>
        <p:spPr>
          <a:xfrm>
            <a:off x="5212080" y="1645920"/>
            <a:ext cx="25146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Phase 2 · Pilot</a:t>
            </a:r>
            <a:endParaRPr lang="en-US" sz="1400" dirty="0"/>
          </a:p>
        </p:txBody>
      </p:sp>
      <p:sp>
        <p:nvSpPr>
          <p:cNvPr id="13" name="Text 9"/>
          <p:cNvSpPr txBox="1"/>
          <p:nvPr/>
        </p:nvSpPr>
        <p:spPr>
          <a:xfrm>
            <a:off x="4572000" y="2194560"/>
            <a:ext cx="3108960" cy="54864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First cooperative agreement; field test with a real herd; first trained models</a:t>
            </a:r>
            <a:endParaRPr lang="en-US" sz="1150" dirty="0"/>
          </a:p>
        </p:txBody>
      </p:sp>
      <p:sp>
        <p:nvSpPr>
          <p:cNvPr id="14" name="Shape 10"/>
          <p:cNvSpPr/>
          <p:nvPr/>
        </p:nvSpPr>
        <p:spPr>
          <a:xfrm>
            <a:off x="8138160" y="1417320"/>
            <a:ext cx="3520440" cy="1371600"/>
          </a:xfrm>
          <a:prstGeom prst="roundRect">
            <a:avLst>
              <a:gd name="adj" fmla="val 5333"/>
            </a:avLst>
          </a:prstGeom>
          <a:solidFill>
            <a:srgbClr val="11241C"/>
          </a:solidFill>
          <a:ln w="12700">
            <a:solidFill>
              <a:srgbClr val="11241C"/>
            </a:solidFill>
            <a:prstDash val="solid"/>
          </a:ln>
        </p:spPr>
      </p:sp>
      <p:sp>
        <p:nvSpPr>
          <p:cNvPr id="15" name="Shape 11"/>
          <p:cNvSpPr/>
          <p:nvPr/>
        </p:nvSpPr>
        <p:spPr>
          <a:xfrm>
            <a:off x="8366760" y="1600200"/>
            <a:ext cx="502920" cy="502920"/>
          </a:xfrm>
          <a:prstGeom prst="ellipse">
            <a:avLst/>
          </a:prstGeom>
          <a:solidFill>
            <a:srgbClr val="E07A3E"/>
          </a:solidFill>
          <a:ln w="12700">
            <a:solidFill>
              <a:srgbClr val="E07A3E"/>
            </a:solidFill>
            <a:prstDash val="solid"/>
          </a:ln>
        </p:spPr>
      </p:sp>
      <p:pic>
        <p:nvPicPr>
          <p:cNvPr id="16" name="Image 2" descr="/home/nin2207257138/farmcare-render/build/icons/globe.png">    </p:cNvPr>
          <p:cNvPicPr>
            <a:picLocks noChangeAspect="1"/>
          </p:cNvPicPr>
          <p:nvPr/>
        </p:nvPicPr>
        <p:blipFill>
          <a:blip r:embed="rId3"/>
          <a:stretch>
            <a:fillRect/>
          </a:stretch>
        </p:blipFill>
        <p:spPr>
          <a:xfrm>
            <a:off x="8487461" y="1720901"/>
            <a:ext cx="261518" cy="261518"/>
          </a:xfrm>
          <a:prstGeom prst="rect">
            <a:avLst/>
          </a:prstGeom>
        </p:spPr>
      </p:pic>
      <p:sp>
        <p:nvSpPr>
          <p:cNvPr id="17" name="Text 12"/>
          <p:cNvSpPr txBox="1"/>
          <p:nvPr/>
        </p:nvSpPr>
        <p:spPr>
          <a:xfrm>
            <a:off x="9006840" y="1645920"/>
            <a:ext cx="25146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Phase 3 · Scale</a:t>
            </a:r>
            <a:endParaRPr lang="en-US" sz="1400" dirty="0"/>
          </a:p>
        </p:txBody>
      </p:sp>
      <p:sp>
        <p:nvSpPr>
          <p:cNvPr id="18" name="Text 13"/>
          <p:cNvSpPr txBox="1"/>
          <p:nvPr/>
        </p:nvSpPr>
        <p:spPr>
          <a:xfrm>
            <a:off x="8366760" y="2194560"/>
            <a:ext cx="3108960" cy="54864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More Rwandan dairy zones, then other Smart Africa member states</a:t>
            </a:r>
            <a:endParaRPr lang="en-US" sz="1150" dirty="0"/>
          </a:p>
        </p:txBody>
      </p:sp>
      <p:sp>
        <p:nvSpPr>
          <p:cNvPr id="19" name="Shape 14"/>
          <p:cNvSpPr/>
          <p:nvPr/>
        </p:nvSpPr>
        <p:spPr>
          <a:xfrm>
            <a:off x="548640" y="3017520"/>
            <a:ext cx="11109960" cy="493776"/>
          </a:xfrm>
          <a:prstGeom prst="roundRect">
            <a:avLst>
              <a:gd name="adj" fmla="val 14815"/>
            </a:avLst>
          </a:prstGeom>
          <a:solidFill>
            <a:srgbClr val="11241C"/>
          </a:solidFill>
          <a:ln w="12700">
            <a:solidFill>
              <a:srgbClr val="11241C"/>
            </a:solidFill>
            <a:prstDash val="solid"/>
          </a:ln>
        </p:spPr>
      </p:sp>
      <p:sp>
        <p:nvSpPr>
          <p:cNvPr id="20" name="Shape 15"/>
          <p:cNvSpPr/>
          <p:nvPr/>
        </p:nvSpPr>
        <p:spPr>
          <a:xfrm>
            <a:off x="685800" y="3081528"/>
            <a:ext cx="365760" cy="365760"/>
          </a:xfrm>
          <a:prstGeom prst="ellipse">
            <a:avLst/>
          </a:prstGeom>
          <a:solidFill>
            <a:srgbClr val="E07A3E"/>
          </a:solidFill>
          <a:ln w="12700">
            <a:solidFill>
              <a:srgbClr val="E07A3E"/>
            </a:solidFill>
            <a:prstDash val="solid"/>
          </a:ln>
        </p:spPr>
      </p:sp>
      <p:pic>
        <p:nvPicPr>
          <p:cNvPr id="21" name="Image 3" descr="/home/nin2207257138/farmcare-render/build/icons/database.png">    </p:cNvPr>
          <p:cNvPicPr>
            <a:picLocks noChangeAspect="1"/>
          </p:cNvPicPr>
          <p:nvPr/>
        </p:nvPicPr>
        <p:blipFill>
          <a:blip r:embed="rId4"/>
          <a:stretch>
            <a:fillRect/>
          </a:stretch>
        </p:blipFill>
        <p:spPr>
          <a:xfrm>
            <a:off x="773582" y="3169310"/>
            <a:ext cx="190195" cy="190195"/>
          </a:xfrm>
          <a:prstGeom prst="rect">
            <a:avLst/>
          </a:prstGeom>
        </p:spPr>
      </p:pic>
      <p:sp>
        <p:nvSpPr>
          <p:cNvPr id="22" name="Text 16"/>
          <p:cNvSpPr txBox="1"/>
          <p:nvPr/>
        </p:nvSpPr>
        <p:spPr>
          <a:xfrm>
            <a:off x="1234440" y="3017520"/>
            <a:ext cx="201168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Local data</a:t>
            </a:r>
            <a:endParaRPr lang="en-US" sz="1300" dirty="0"/>
          </a:p>
        </p:txBody>
      </p:sp>
      <p:sp>
        <p:nvSpPr>
          <p:cNvPr id="23" name="Text 17"/>
          <p:cNvSpPr txBox="1"/>
          <p:nvPr/>
        </p:nvSpPr>
        <p:spPr>
          <a:xfrm>
            <a:off x="3291840" y="3017520"/>
            <a:ext cx="8229600" cy="493776"/>
          </a:xfrm>
          <a:prstGeom prst="rect">
            <a:avLst/>
          </a:prstGeom>
          <a:noFill/>
          <a:ln/>
        </p:spPr>
        <p:txBody>
          <a:bodyPr wrap="square" lIns="0" tIns="0" rIns="0" bIns="0" rtlCol="0" anchor="ctr"/>
          <a:lstStyle/>
          <a:p>
            <a:pPr indent="0" marL="0">
              <a:buNone/>
            </a:pPr>
            <a:r>
              <a:rPr lang="en-US" sz="1200" dirty="0">
                <a:solidFill>
                  <a:srgbClr val="CFE0D4"/>
                </a:solidFill>
                <a:latin typeface="Calibri" pitchFamily="34" charset="0"/>
                <a:ea typeface="Calibri" pitchFamily="34" charset="-122"/>
                <a:cs typeface="Calibri" pitchFamily="34" charset="-120"/>
              </a:rPr>
              <a:t>Recalibrate thresholds and retrain models on local breeds, climate and farm data</a:t>
            </a:r>
            <a:endParaRPr lang="en-US" sz="1200" dirty="0"/>
          </a:p>
        </p:txBody>
      </p:sp>
      <p:sp>
        <p:nvSpPr>
          <p:cNvPr id="24" name="Shape 18"/>
          <p:cNvSpPr/>
          <p:nvPr/>
        </p:nvSpPr>
        <p:spPr>
          <a:xfrm>
            <a:off x="548640" y="3602736"/>
            <a:ext cx="11109960" cy="493776"/>
          </a:xfrm>
          <a:prstGeom prst="roundRect">
            <a:avLst>
              <a:gd name="adj" fmla="val 14815"/>
            </a:avLst>
          </a:prstGeom>
          <a:solidFill>
            <a:srgbClr val="11241C"/>
          </a:solidFill>
          <a:ln w="12700">
            <a:solidFill>
              <a:srgbClr val="11241C"/>
            </a:solidFill>
            <a:prstDash val="solid"/>
          </a:ln>
        </p:spPr>
      </p:sp>
      <p:sp>
        <p:nvSpPr>
          <p:cNvPr id="25" name="Shape 19"/>
          <p:cNvSpPr/>
          <p:nvPr/>
        </p:nvSpPr>
        <p:spPr>
          <a:xfrm>
            <a:off x="685800" y="3666744"/>
            <a:ext cx="365760" cy="365760"/>
          </a:xfrm>
          <a:prstGeom prst="ellipse">
            <a:avLst/>
          </a:prstGeom>
          <a:solidFill>
            <a:srgbClr val="E07A3E"/>
          </a:solidFill>
          <a:ln w="12700">
            <a:solidFill>
              <a:srgbClr val="E07A3E"/>
            </a:solidFill>
            <a:prstDash val="solid"/>
          </a:ln>
        </p:spPr>
      </p:sp>
      <p:pic>
        <p:nvPicPr>
          <p:cNvPr id="26" name="Image 4" descr="/home/nin2207257138/farmcare-render/build/icons/language.png">    </p:cNvPr>
          <p:cNvPicPr>
            <a:picLocks noChangeAspect="1"/>
          </p:cNvPicPr>
          <p:nvPr/>
        </p:nvPicPr>
        <p:blipFill>
          <a:blip r:embed="rId5"/>
          <a:stretch>
            <a:fillRect/>
          </a:stretch>
        </p:blipFill>
        <p:spPr>
          <a:xfrm>
            <a:off x="773582" y="3754526"/>
            <a:ext cx="190195" cy="190195"/>
          </a:xfrm>
          <a:prstGeom prst="rect">
            <a:avLst/>
          </a:prstGeom>
        </p:spPr>
      </p:pic>
      <p:sp>
        <p:nvSpPr>
          <p:cNvPr id="27" name="Text 20"/>
          <p:cNvSpPr txBox="1"/>
          <p:nvPr/>
        </p:nvSpPr>
        <p:spPr>
          <a:xfrm>
            <a:off x="1234440" y="3602736"/>
            <a:ext cx="201168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Languages</a:t>
            </a:r>
            <a:endParaRPr lang="en-US" sz="1300" dirty="0"/>
          </a:p>
        </p:txBody>
      </p:sp>
      <p:sp>
        <p:nvSpPr>
          <p:cNvPr id="28" name="Text 21"/>
          <p:cNvSpPr txBox="1"/>
          <p:nvPr/>
        </p:nvSpPr>
        <p:spPr>
          <a:xfrm>
            <a:off x="3291840" y="3602736"/>
            <a:ext cx="8229600" cy="493776"/>
          </a:xfrm>
          <a:prstGeom prst="rect">
            <a:avLst/>
          </a:prstGeom>
          <a:noFill/>
          <a:ln/>
        </p:spPr>
        <p:txBody>
          <a:bodyPr wrap="square" lIns="0" tIns="0" rIns="0" bIns="0" rtlCol="0" anchor="ctr"/>
          <a:lstStyle/>
          <a:p>
            <a:pPr indent="0" marL="0">
              <a:buNone/>
            </a:pPr>
            <a:r>
              <a:rPr lang="en-US" sz="1200" dirty="0">
                <a:solidFill>
                  <a:srgbClr val="CFE0D4"/>
                </a:solidFill>
                <a:latin typeface="Calibri" pitchFamily="34" charset="0"/>
                <a:ea typeface="Calibri" pitchFamily="34" charset="-122"/>
                <a:cs typeface="Calibri" pitchFamily="34" charset="-120"/>
              </a:rPr>
              <a:t>English today; Kinyarwanda next, then a language pack per country for the dashboard, SMS and USSD</a:t>
            </a:r>
            <a:endParaRPr lang="en-US" sz="1200" dirty="0"/>
          </a:p>
        </p:txBody>
      </p:sp>
      <p:sp>
        <p:nvSpPr>
          <p:cNvPr id="29" name="Shape 22"/>
          <p:cNvSpPr/>
          <p:nvPr/>
        </p:nvSpPr>
        <p:spPr>
          <a:xfrm>
            <a:off x="548640" y="4187952"/>
            <a:ext cx="11109960" cy="493776"/>
          </a:xfrm>
          <a:prstGeom prst="roundRect">
            <a:avLst>
              <a:gd name="adj" fmla="val 14815"/>
            </a:avLst>
          </a:prstGeom>
          <a:solidFill>
            <a:srgbClr val="11241C"/>
          </a:solidFill>
          <a:ln w="12700">
            <a:solidFill>
              <a:srgbClr val="11241C"/>
            </a:solidFill>
            <a:prstDash val="solid"/>
          </a:ln>
        </p:spPr>
      </p:sp>
      <p:sp>
        <p:nvSpPr>
          <p:cNvPr id="30" name="Shape 23"/>
          <p:cNvSpPr/>
          <p:nvPr/>
        </p:nvSpPr>
        <p:spPr>
          <a:xfrm>
            <a:off x="685800" y="4251960"/>
            <a:ext cx="365760" cy="365760"/>
          </a:xfrm>
          <a:prstGeom prst="ellipse">
            <a:avLst/>
          </a:prstGeom>
          <a:solidFill>
            <a:srgbClr val="E07A3E"/>
          </a:solidFill>
          <a:ln w="12700">
            <a:solidFill>
              <a:srgbClr val="E07A3E"/>
            </a:solidFill>
            <a:prstDash val="solid"/>
          </a:ln>
        </p:spPr>
      </p:sp>
      <p:pic>
        <p:nvPicPr>
          <p:cNvPr id="31" name="Image 5" descr="/home/nin2207257138/farmcare-render/build/icons/wifi.png">    </p:cNvPr>
          <p:cNvPicPr>
            <a:picLocks noChangeAspect="1"/>
          </p:cNvPicPr>
          <p:nvPr/>
        </p:nvPicPr>
        <p:blipFill>
          <a:blip r:embed="rId6"/>
          <a:stretch>
            <a:fillRect/>
          </a:stretch>
        </p:blipFill>
        <p:spPr>
          <a:xfrm>
            <a:off x="773582" y="4339742"/>
            <a:ext cx="190195" cy="190195"/>
          </a:xfrm>
          <a:prstGeom prst="rect">
            <a:avLst/>
          </a:prstGeom>
        </p:spPr>
      </p:pic>
      <p:sp>
        <p:nvSpPr>
          <p:cNvPr id="32" name="Text 24"/>
          <p:cNvSpPr txBox="1"/>
          <p:nvPr/>
        </p:nvSpPr>
        <p:spPr>
          <a:xfrm>
            <a:off x="1234440" y="4187952"/>
            <a:ext cx="201168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Connectivity</a:t>
            </a:r>
            <a:endParaRPr lang="en-US" sz="1300" dirty="0"/>
          </a:p>
        </p:txBody>
      </p:sp>
      <p:sp>
        <p:nvSpPr>
          <p:cNvPr id="33" name="Text 25"/>
          <p:cNvSpPr txBox="1"/>
          <p:nvPr/>
        </p:nvSpPr>
        <p:spPr>
          <a:xfrm>
            <a:off x="3291840" y="4187952"/>
            <a:ext cx="8229600" cy="493776"/>
          </a:xfrm>
          <a:prstGeom prst="rect">
            <a:avLst/>
          </a:prstGeom>
          <a:noFill/>
          <a:ln/>
        </p:spPr>
        <p:txBody>
          <a:bodyPr wrap="square" lIns="0" tIns="0" rIns="0" bIns="0" rtlCol="0" anchor="ctr"/>
          <a:lstStyle/>
          <a:p>
            <a:pPr indent="0" marL="0">
              <a:buNone/>
            </a:pPr>
            <a:r>
              <a:rPr lang="en-US" sz="1200" dirty="0">
                <a:solidFill>
                  <a:srgbClr val="CFE0D4"/>
                </a:solidFill>
                <a:latin typeface="Calibri" pitchFamily="34" charset="0"/>
                <a:ea typeface="Calibri" pitchFamily="34" charset="-122"/>
                <a:cs typeface="Calibri" pitchFamily="34" charset="-120"/>
              </a:rPr>
              <a:t>Wi-Fi today; SMS and USSD for basic phones through a local telecom partner</a:t>
            </a:r>
            <a:endParaRPr lang="en-US" sz="1200" dirty="0"/>
          </a:p>
        </p:txBody>
      </p:sp>
      <p:sp>
        <p:nvSpPr>
          <p:cNvPr id="34" name="Shape 26"/>
          <p:cNvSpPr/>
          <p:nvPr/>
        </p:nvSpPr>
        <p:spPr>
          <a:xfrm>
            <a:off x="548640" y="4773168"/>
            <a:ext cx="11109960" cy="493776"/>
          </a:xfrm>
          <a:prstGeom prst="roundRect">
            <a:avLst>
              <a:gd name="adj" fmla="val 14815"/>
            </a:avLst>
          </a:prstGeom>
          <a:solidFill>
            <a:srgbClr val="11241C"/>
          </a:solidFill>
          <a:ln w="12700">
            <a:solidFill>
              <a:srgbClr val="11241C"/>
            </a:solidFill>
            <a:prstDash val="solid"/>
          </a:ln>
        </p:spPr>
      </p:sp>
      <p:sp>
        <p:nvSpPr>
          <p:cNvPr id="35" name="Shape 27"/>
          <p:cNvSpPr/>
          <p:nvPr/>
        </p:nvSpPr>
        <p:spPr>
          <a:xfrm>
            <a:off x="685800" y="4837176"/>
            <a:ext cx="365760" cy="365760"/>
          </a:xfrm>
          <a:prstGeom prst="ellipse">
            <a:avLst/>
          </a:prstGeom>
          <a:solidFill>
            <a:srgbClr val="E07A3E"/>
          </a:solidFill>
          <a:ln w="12700">
            <a:solidFill>
              <a:srgbClr val="E07A3E"/>
            </a:solidFill>
            <a:prstDash val="solid"/>
          </a:ln>
        </p:spPr>
      </p:sp>
      <p:pic>
        <p:nvPicPr>
          <p:cNvPr id="36" name="Image 6" descr="/home/nin2207257138/farmcare-render/build/icons/scale.png">    </p:cNvPr>
          <p:cNvPicPr>
            <a:picLocks noChangeAspect="1"/>
          </p:cNvPicPr>
          <p:nvPr/>
        </p:nvPicPr>
        <p:blipFill>
          <a:blip r:embed="rId7"/>
          <a:stretch>
            <a:fillRect/>
          </a:stretch>
        </p:blipFill>
        <p:spPr>
          <a:xfrm>
            <a:off x="773582" y="4924958"/>
            <a:ext cx="190195" cy="190195"/>
          </a:xfrm>
          <a:prstGeom prst="rect">
            <a:avLst/>
          </a:prstGeom>
        </p:spPr>
      </p:pic>
      <p:sp>
        <p:nvSpPr>
          <p:cNvPr id="37" name="Text 28"/>
          <p:cNvSpPr txBox="1"/>
          <p:nvPr/>
        </p:nvSpPr>
        <p:spPr>
          <a:xfrm>
            <a:off x="1234440" y="4773168"/>
            <a:ext cx="201168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Regulation</a:t>
            </a:r>
            <a:endParaRPr lang="en-US" sz="1300" dirty="0"/>
          </a:p>
        </p:txBody>
      </p:sp>
      <p:sp>
        <p:nvSpPr>
          <p:cNvPr id="38" name="Text 29"/>
          <p:cNvSpPr txBox="1"/>
          <p:nvPr/>
        </p:nvSpPr>
        <p:spPr>
          <a:xfrm>
            <a:off x="3291840" y="4773168"/>
            <a:ext cx="8229600" cy="493776"/>
          </a:xfrm>
          <a:prstGeom prst="rect">
            <a:avLst/>
          </a:prstGeom>
          <a:noFill/>
          <a:ln/>
        </p:spPr>
        <p:txBody>
          <a:bodyPr wrap="square" lIns="0" tIns="0" rIns="0" bIns="0" rtlCol="0" anchor="ctr"/>
          <a:lstStyle/>
          <a:p>
            <a:pPr indent="0" marL="0">
              <a:buNone/>
            </a:pPr>
            <a:r>
              <a:rPr lang="en-US" sz="1200" dirty="0">
                <a:solidFill>
                  <a:srgbClr val="CFE0D4"/>
                </a:solidFill>
                <a:latin typeface="Calibri" pitchFamily="34" charset="0"/>
                <a:ea typeface="Calibri" pitchFamily="34" charset="-122"/>
                <a:cs typeface="Calibri" pitchFamily="34" charset="-120"/>
              </a:rPr>
              <a:t>Check data-protection law and IoT import rules before the first kit ships</a:t>
            </a:r>
            <a:endParaRPr lang="en-US" sz="1200" dirty="0"/>
          </a:p>
        </p:txBody>
      </p:sp>
      <p:sp>
        <p:nvSpPr>
          <p:cNvPr id="39" name="Shape 30"/>
          <p:cNvSpPr/>
          <p:nvPr/>
        </p:nvSpPr>
        <p:spPr>
          <a:xfrm>
            <a:off x="548640" y="5358384"/>
            <a:ext cx="11109960" cy="493776"/>
          </a:xfrm>
          <a:prstGeom prst="roundRect">
            <a:avLst>
              <a:gd name="adj" fmla="val 14815"/>
            </a:avLst>
          </a:prstGeom>
          <a:solidFill>
            <a:srgbClr val="11241C"/>
          </a:solidFill>
          <a:ln w="12700">
            <a:solidFill>
              <a:srgbClr val="11241C"/>
            </a:solidFill>
            <a:prstDash val="solid"/>
          </a:ln>
        </p:spPr>
      </p:sp>
      <p:sp>
        <p:nvSpPr>
          <p:cNvPr id="40" name="Shape 31"/>
          <p:cNvSpPr/>
          <p:nvPr/>
        </p:nvSpPr>
        <p:spPr>
          <a:xfrm>
            <a:off x="685800" y="5422392"/>
            <a:ext cx="365760" cy="365760"/>
          </a:xfrm>
          <a:prstGeom prst="ellipse">
            <a:avLst/>
          </a:prstGeom>
          <a:solidFill>
            <a:srgbClr val="E07A3E"/>
          </a:solidFill>
          <a:ln w="12700">
            <a:solidFill>
              <a:srgbClr val="E07A3E"/>
            </a:solidFill>
            <a:prstDash val="solid"/>
          </a:ln>
        </p:spPr>
      </p:sp>
      <p:pic>
        <p:nvPicPr>
          <p:cNvPr id="41" name="Image 7" descr="/home/nin2207257138/farmcare-render/build/icons/landmark.png">    </p:cNvPr>
          <p:cNvPicPr>
            <a:picLocks noChangeAspect="1"/>
          </p:cNvPicPr>
          <p:nvPr/>
        </p:nvPicPr>
        <p:blipFill>
          <a:blip r:embed="rId8"/>
          <a:stretch>
            <a:fillRect/>
          </a:stretch>
        </p:blipFill>
        <p:spPr>
          <a:xfrm>
            <a:off x="773582" y="5510174"/>
            <a:ext cx="190195" cy="190195"/>
          </a:xfrm>
          <a:prstGeom prst="rect">
            <a:avLst/>
          </a:prstGeom>
        </p:spPr>
      </p:pic>
      <p:sp>
        <p:nvSpPr>
          <p:cNvPr id="42" name="Text 32"/>
          <p:cNvSpPr txBox="1"/>
          <p:nvPr/>
        </p:nvSpPr>
        <p:spPr>
          <a:xfrm>
            <a:off x="1234440" y="5358384"/>
            <a:ext cx="201168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Extension systems</a:t>
            </a:r>
            <a:endParaRPr lang="en-US" sz="1300" dirty="0"/>
          </a:p>
        </p:txBody>
      </p:sp>
      <p:sp>
        <p:nvSpPr>
          <p:cNvPr id="43" name="Text 33"/>
          <p:cNvSpPr txBox="1"/>
          <p:nvPr/>
        </p:nvSpPr>
        <p:spPr>
          <a:xfrm>
            <a:off x="3291840" y="5358384"/>
            <a:ext cx="8229600" cy="493776"/>
          </a:xfrm>
          <a:prstGeom prst="rect">
            <a:avLst/>
          </a:prstGeom>
          <a:noFill/>
          <a:ln/>
        </p:spPr>
        <p:txBody>
          <a:bodyPr wrap="square" lIns="0" tIns="0" rIns="0" bIns="0" rtlCol="0" anchor="ctr"/>
          <a:lstStyle/>
          <a:p>
            <a:pPr indent="0" marL="0">
              <a:buNone/>
            </a:pPr>
            <a:r>
              <a:rPr lang="en-US" sz="1200" dirty="0">
                <a:solidFill>
                  <a:srgbClr val="CFE0D4"/>
                </a:solidFill>
                <a:latin typeface="Calibri" pitchFamily="34" charset="0"/>
                <a:ea typeface="Calibri" pitchFamily="34" charset="-122"/>
                <a:cs typeface="Calibri" pitchFamily="34" charset="-120"/>
              </a:rPr>
              <a:t>Share herd, milk-quality and emission data with ministry and extension systems through our API</a:t>
            </a:r>
            <a:endParaRPr lang="en-US" sz="1200" dirty="0"/>
          </a:p>
        </p:txBody>
      </p:sp>
      <p:sp>
        <p:nvSpPr>
          <p:cNvPr id="44" name="Text 34"/>
          <p:cNvSpPr txBox="1"/>
          <p:nvPr/>
        </p:nvSpPr>
        <p:spPr>
          <a:xfrm>
            <a:off x="548640" y="6035040"/>
            <a:ext cx="10332720" cy="274320"/>
          </a:xfrm>
          <a:prstGeom prst="rect">
            <a:avLst/>
          </a:prstGeom>
          <a:noFill/>
          <a:ln/>
        </p:spPr>
        <p:txBody>
          <a:bodyPr wrap="square" lIns="0" tIns="0" rIns="0" bIns="0" rtlCol="0" anchor="t"/>
          <a:lstStyle/>
          <a:p>
            <a:pPr indent="0" marL="0">
              <a:buNone/>
            </a:pPr>
            <a:r>
              <a:rPr lang="en-US" sz="1150" i="1" dirty="0">
                <a:solidFill>
                  <a:srgbClr val="E07A3E"/>
                </a:solidFill>
                <a:latin typeface="Calibri" pitchFamily="34" charset="0"/>
                <a:ea typeface="Calibri" pitchFamily="34" charset="-122"/>
                <a:cs typeface="Calibri" pitchFamily="34" charset="-120"/>
              </a:rPr>
              <a:t>Status: not yet deployed beyond our pilot farm in Kanyinya, Nyarugenge. SMS, USSD and Kinyarwanda are planned, not built.</a:t>
            </a:r>
            <a:endParaRPr lang="en-US" sz="115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326880" y="-1463040"/>
            <a:ext cx="4206240" cy="4206240"/>
          </a:xfrm>
          <a:prstGeom prst="ellipse">
            <a:avLst/>
          </a:prstGeom>
          <a:solidFill>
            <a:srgbClr val="11241C"/>
          </a:solidFill>
          <a:ln w="12700">
            <a:solidFill>
              <a:srgbClr val="11241C"/>
            </a:solidFill>
            <a:prstDash val="solid"/>
          </a:ln>
        </p:spPr>
      </p:sp>
      <p:sp>
        <p:nvSpPr>
          <p:cNvPr id="3" name="Text 1"/>
          <p:cNvSpPr txBox="1"/>
          <p:nvPr/>
        </p:nvSpPr>
        <p:spPr>
          <a:xfrm>
            <a:off x="548640" y="548640"/>
            <a:ext cx="11064240" cy="77724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FarmCare</a:t>
            </a:r>
            <a:endParaRPr lang="en-US" sz="4400" dirty="0"/>
          </a:p>
        </p:txBody>
      </p:sp>
      <p:sp>
        <p:nvSpPr>
          <p:cNvPr id="4" name="Text 2"/>
          <p:cNvSpPr txBox="1"/>
          <p:nvPr/>
        </p:nvSpPr>
        <p:spPr>
          <a:xfrm>
            <a:off x="548640" y="1325880"/>
            <a:ext cx="11064240" cy="365760"/>
          </a:xfrm>
          <a:prstGeom prst="rect">
            <a:avLst/>
          </a:prstGeom>
          <a:noFill/>
          <a:ln/>
        </p:spPr>
        <p:txBody>
          <a:bodyPr wrap="square" lIns="0" tIns="0" rIns="0" bIns="0" rtlCol="0" anchor="t"/>
          <a:lstStyle/>
          <a:p>
            <a:pPr algn="ctr" indent="0" marL="0">
              <a:buNone/>
            </a:pPr>
            <a:r>
              <a:rPr lang="en-US" sz="1700" i="1" dirty="0">
                <a:solidFill>
                  <a:srgbClr val="E07A3E"/>
                </a:solidFill>
                <a:latin typeface="Cambria" pitchFamily="34" charset="0"/>
                <a:ea typeface="Cambria" pitchFamily="34" charset="-122"/>
                <a:cs typeface="Cambria" pitchFamily="34" charset="-120"/>
              </a:rPr>
              <a:t>AI and IoT for climate-smart dairy farming</a:t>
            </a:r>
            <a:endParaRPr lang="en-US" sz="1700" dirty="0"/>
          </a:p>
        </p:txBody>
      </p:sp>
      <p:sp>
        <p:nvSpPr>
          <p:cNvPr id="5" name="Shape 3"/>
          <p:cNvSpPr/>
          <p:nvPr/>
        </p:nvSpPr>
        <p:spPr>
          <a:xfrm>
            <a:off x="548640" y="2103120"/>
            <a:ext cx="2651760" cy="1965960"/>
          </a:xfrm>
          <a:prstGeom prst="roundRect">
            <a:avLst>
              <a:gd name="adj" fmla="val 3721"/>
            </a:avLst>
          </a:prstGeom>
          <a:solidFill>
            <a:srgbClr val="11241C"/>
          </a:solidFill>
          <a:ln w="12700">
            <a:solidFill>
              <a:srgbClr val="11241C"/>
            </a:solidFill>
            <a:prstDash val="solid"/>
          </a:ln>
        </p:spPr>
      </p:sp>
      <p:sp>
        <p:nvSpPr>
          <p:cNvPr id="6" name="Shape 4"/>
          <p:cNvSpPr/>
          <p:nvPr/>
        </p:nvSpPr>
        <p:spPr>
          <a:xfrm>
            <a:off x="731520" y="2286000"/>
            <a:ext cx="502920" cy="502920"/>
          </a:xfrm>
          <a:prstGeom prst="ellipse">
            <a:avLst/>
          </a:prstGeom>
          <a:solidFill>
            <a:srgbClr val="E07A3E"/>
          </a:solidFill>
          <a:ln w="12700">
            <a:solidFill>
              <a:srgbClr val="E07A3E"/>
            </a:solidFill>
            <a:prstDash val="solid"/>
          </a:ln>
        </p:spPr>
      </p:sp>
      <p:pic>
        <p:nvPicPr>
          <p:cNvPr id="7" name="Image 0" descr="/home/nin2207257138/farmcare-render/build/icons/check.png">    </p:cNvPr>
          <p:cNvPicPr>
            <a:picLocks noChangeAspect="1"/>
          </p:cNvPicPr>
          <p:nvPr/>
        </p:nvPicPr>
        <p:blipFill>
          <a:blip r:embed="rId1"/>
          <a:stretch>
            <a:fillRect/>
          </a:stretch>
        </p:blipFill>
        <p:spPr>
          <a:xfrm>
            <a:off x="852221" y="2406701"/>
            <a:ext cx="261518" cy="261518"/>
          </a:xfrm>
          <a:prstGeom prst="rect">
            <a:avLst/>
          </a:prstGeom>
        </p:spPr>
      </p:pic>
      <p:sp>
        <p:nvSpPr>
          <p:cNvPr id="8" name="Text 5"/>
          <p:cNvSpPr txBox="1"/>
          <p:nvPr/>
        </p:nvSpPr>
        <p:spPr>
          <a:xfrm>
            <a:off x="731520" y="2926080"/>
            <a:ext cx="22860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It already runs</a:t>
            </a:r>
            <a:endParaRPr lang="en-US" sz="1400" dirty="0"/>
          </a:p>
        </p:txBody>
      </p:sp>
      <p:sp>
        <p:nvSpPr>
          <p:cNvPr id="9" name="Text 6"/>
          <p:cNvSpPr txBox="1"/>
          <p:nvPr/>
        </p:nvSpPr>
        <p:spPr>
          <a:xfrm>
            <a:off x="731520" y="3273552"/>
            <a:ext cx="2286000" cy="59436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Three devices and a live platform, tested in a working cowshed</a:t>
            </a:r>
            <a:endParaRPr lang="en-US" sz="1150" dirty="0"/>
          </a:p>
        </p:txBody>
      </p:sp>
      <p:sp>
        <p:nvSpPr>
          <p:cNvPr id="10" name="Shape 7"/>
          <p:cNvSpPr/>
          <p:nvPr/>
        </p:nvSpPr>
        <p:spPr>
          <a:xfrm>
            <a:off x="3360420" y="2103120"/>
            <a:ext cx="2651760" cy="1965960"/>
          </a:xfrm>
          <a:prstGeom prst="roundRect">
            <a:avLst>
              <a:gd name="adj" fmla="val 3721"/>
            </a:avLst>
          </a:prstGeom>
          <a:solidFill>
            <a:srgbClr val="11241C"/>
          </a:solidFill>
          <a:ln w="12700">
            <a:solidFill>
              <a:srgbClr val="11241C"/>
            </a:solidFill>
            <a:prstDash val="solid"/>
          </a:ln>
        </p:spPr>
      </p:sp>
      <p:sp>
        <p:nvSpPr>
          <p:cNvPr id="11" name="Shape 8"/>
          <p:cNvSpPr/>
          <p:nvPr/>
        </p:nvSpPr>
        <p:spPr>
          <a:xfrm>
            <a:off x="3543300" y="2286000"/>
            <a:ext cx="502920" cy="502920"/>
          </a:xfrm>
          <a:prstGeom prst="ellipse">
            <a:avLst/>
          </a:prstGeom>
          <a:solidFill>
            <a:srgbClr val="E07A3E"/>
          </a:solidFill>
          <a:ln w="12700">
            <a:solidFill>
              <a:srgbClr val="E07A3E"/>
            </a:solidFill>
            <a:prstDash val="solid"/>
          </a:ln>
        </p:spPr>
      </p:sp>
      <p:pic>
        <p:nvPicPr>
          <p:cNvPr id="12" name="Image 1" descr="/home/nin2207257138/farmcare-render/build/icons/leaf.png">    </p:cNvPr>
          <p:cNvPicPr>
            <a:picLocks noChangeAspect="1"/>
          </p:cNvPicPr>
          <p:nvPr/>
        </p:nvPicPr>
        <p:blipFill>
          <a:blip r:embed="rId2"/>
          <a:stretch>
            <a:fillRect/>
          </a:stretch>
        </p:blipFill>
        <p:spPr>
          <a:xfrm>
            <a:off x="3664001" y="2406701"/>
            <a:ext cx="261518" cy="261518"/>
          </a:xfrm>
          <a:prstGeom prst="rect">
            <a:avLst/>
          </a:prstGeom>
        </p:spPr>
      </p:pic>
      <p:sp>
        <p:nvSpPr>
          <p:cNvPr id="13" name="Text 9"/>
          <p:cNvSpPr txBox="1"/>
          <p:nvPr/>
        </p:nvSpPr>
        <p:spPr>
          <a:xfrm>
            <a:off x="3543300" y="2926080"/>
            <a:ext cx="22860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Climate-smart</a:t>
            </a:r>
            <a:endParaRPr lang="en-US" sz="1400" dirty="0"/>
          </a:p>
        </p:txBody>
      </p:sp>
      <p:sp>
        <p:nvSpPr>
          <p:cNvPr id="14" name="Text 10"/>
          <p:cNvSpPr txBox="1"/>
          <p:nvPr/>
        </p:nvSpPr>
        <p:spPr>
          <a:xfrm>
            <a:off x="3543300" y="3273552"/>
            <a:ext cx="2286000" cy="59436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Cools barns in heat, tracks manure gases, more milk per cow</a:t>
            </a:r>
            <a:endParaRPr lang="en-US" sz="1150" dirty="0"/>
          </a:p>
        </p:txBody>
      </p:sp>
      <p:sp>
        <p:nvSpPr>
          <p:cNvPr id="15" name="Shape 11"/>
          <p:cNvSpPr/>
          <p:nvPr/>
        </p:nvSpPr>
        <p:spPr>
          <a:xfrm>
            <a:off x="6172200" y="2103120"/>
            <a:ext cx="2651760" cy="1965960"/>
          </a:xfrm>
          <a:prstGeom prst="roundRect">
            <a:avLst>
              <a:gd name="adj" fmla="val 3721"/>
            </a:avLst>
          </a:prstGeom>
          <a:solidFill>
            <a:srgbClr val="11241C"/>
          </a:solidFill>
          <a:ln w="12700">
            <a:solidFill>
              <a:srgbClr val="11241C"/>
            </a:solidFill>
            <a:prstDash val="solid"/>
          </a:ln>
        </p:spPr>
      </p:sp>
      <p:sp>
        <p:nvSpPr>
          <p:cNvPr id="16" name="Shape 12"/>
          <p:cNvSpPr/>
          <p:nvPr/>
        </p:nvSpPr>
        <p:spPr>
          <a:xfrm>
            <a:off x="6355080" y="2286000"/>
            <a:ext cx="502920" cy="502920"/>
          </a:xfrm>
          <a:prstGeom prst="ellipse">
            <a:avLst/>
          </a:prstGeom>
          <a:solidFill>
            <a:srgbClr val="E07A3E"/>
          </a:solidFill>
          <a:ln w="12700">
            <a:solidFill>
              <a:srgbClr val="E07A3E"/>
            </a:solidFill>
            <a:prstDash val="solid"/>
          </a:ln>
        </p:spPr>
      </p:sp>
      <p:pic>
        <p:nvPicPr>
          <p:cNvPr id="17" name="Image 2" descr="/home/nin2207257138/farmcare-render/build/icons/chart.png">    </p:cNvPr>
          <p:cNvPicPr>
            <a:picLocks noChangeAspect="1"/>
          </p:cNvPicPr>
          <p:nvPr/>
        </p:nvPicPr>
        <p:blipFill>
          <a:blip r:embed="rId3"/>
          <a:stretch>
            <a:fillRect/>
          </a:stretch>
        </p:blipFill>
        <p:spPr>
          <a:xfrm>
            <a:off x="6475781" y="2406701"/>
            <a:ext cx="261518" cy="261518"/>
          </a:xfrm>
          <a:prstGeom prst="rect">
            <a:avLst/>
          </a:prstGeom>
        </p:spPr>
      </p:pic>
      <p:sp>
        <p:nvSpPr>
          <p:cNvPr id="18" name="Text 13"/>
          <p:cNvSpPr txBox="1"/>
          <p:nvPr/>
        </p:nvSpPr>
        <p:spPr>
          <a:xfrm>
            <a:off x="6355080" y="2926080"/>
            <a:ext cx="22860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One connected view</a:t>
            </a:r>
            <a:endParaRPr lang="en-US" sz="1400" dirty="0"/>
          </a:p>
        </p:txBody>
      </p:sp>
      <p:sp>
        <p:nvSpPr>
          <p:cNvPr id="19" name="Text 14"/>
          <p:cNvSpPr txBox="1"/>
          <p:nvPr/>
        </p:nvSpPr>
        <p:spPr>
          <a:xfrm>
            <a:off x="6355080" y="3273552"/>
            <a:ext cx="2286000" cy="59436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Breeding, health, feed and milk quality, linked to the buyer</a:t>
            </a:r>
            <a:endParaRPr lang="en-US" sz="1150" dirty="0"/>
          </a:p>
        </p:txBody>
      </p:sp>
      <p:sp>
        <p:nvSpPr>
          <p:cNvPr id="20" name="Shape 15"/>
          <p:cNvSpPr/>
          <p:nvPr/>
        </p:nvSpPr>
        <p:spPr>
          <a:xfrm>
            <a:off x="8983980" y="2103120"/>
            <a:ext cx="2651760" cy="1965960"/>
          </a:xfrm>
          <a:prstGeom prst="roundRect">
            <a:avLst>
              <a:gd name="adj" fmla="val 3721"/>
            </a:avLst>
          </a:prstGeom>
          <a:solidFill>
            <a:srgbClr val="11241C"/>
          </a:solidFill>
          <a:ln w="12700">
            <a:solidFill>
              <a:srgbClr val="11241C"/>
            </a:solidFill>
            <a:prstDash val="solid"/>
          </a:ln>
        </p:spPr>
      </p:sp>
      <p:sp>
        <p:nvSpPr>
          <p:cNvPr id="21" name="Shape 16"/>
          <p:cNvSpPr/>
          <p:nvPr/>
        </p:nvSpPr>
        <p:spPr>
          <a:xfrm>
            <a:off x="9166860" y="2286000"/>
            <a:ext cx="502920" cy="502920"/>
          </a:xfrm>
          <a:prstGeom prst="ellipse">
            <a:avLst/>
          </a:prstGeom>
          <a:solidFill>
            <a:srgbClr val="E07A3E"/>
          </a:solidFill>
          <a:ln w="12700">
            <a:solidFill>
              <a:srgbClr val="E07A3E"/>
            </a:solidFill>
            <a:prstDash val="solid"/>
          </a:ln>
        </p:spPr>
      </p:sp>
      <p:pic>
        <p:nvPicPr>
          <p:cNvPr id="22" name="Image 3" descr="/home/nin2207257138/farmcare-render/build/icons/seedling.png">    </p:cNvPr>
          <p:cNvPicPr>
            <a:picLocks noChangeAspect="1"/>
          </p:cNvPicPr>
          <p:nvPr/>
        </p:nvPicPr>
        <p:blipFill>
          <a:blip r:embed="rId4"/>
          <a:stretch>
            <a:fillRect/>
          </a:stretch>
        </p:blipFill>
        <p:spPr>
          <a:xfrm>
            <a:off x="9287561" y="2406701"/>
            <a:ext cx="261518" cy="261518"/>
          </a:xfrm>
          <a:prstGeom prst="rect">
            <a:avLst/>
          </a:prstGeom>
        </p:spPr>
      </p:pic>
      <p:sp>
        <p:nvSpPr>
          <p:cNvPr id="23" name="Text 17"/>
          <p:cNvSpPr txBox="1"/>
          <p:nvPr/>
        </p:nvSpPr>
        <p:spPr>
          <a:xfrm>
            <a:off x="9166860" y="2926080"/>
            <a:ext cx="228600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Ready for the field</a:t>
            </a:r>
            <a:endParaRPr lang="en-US" sz="1400" dirty="0"/>
          </a:p>
        </p:txBody>
      </p:sp>
      <p:sp>
        <p:nvSpPr>
          <p:cNvPr id="24" name="Text 18"/>
          <p:cNvSpPr txBox="1"/>
          <p:nvPr/>
        </p:nvSpPr>
        <p:spPr>
          <a:xfrm>
            <a:off x="9166860" y="3273552"/>
            <a:ext cx="2286000" cy="594360"/>
          </a:xfrm>
          <a:prstGeom prst="rect">
            <a:avLst/>
          </a:prstGeom>
          <a:noFill/>
          <a:ln/>
        </p:spPr>
        <p:txBody>
          <a:bodyPr wrap="square" lIns="0" tIns="0" rIns="0" bIns="0" rtlCol="0" anchor="t"/>
          <a:lstStyle/>
          <a:p>
            <a:pPr indent="0" marL="0">
              <a:buNone/>
            </a:pPr>
            <a:r>
              <a:rPr lang="en-US" sz="1150" dirty="0">
                <a:solidFill>
                  <a:srgbClr val="CFE0D4"/>
                </a:solidFill>
                <a:latin typeface="Calibri" pitchFamily="34" charset="0"/>
                <a:ea typeface="Calibri" pitchFamily="34" charset="-122"/>
                <a:cs typeface="Calibri" pitchFamily="34" charset="-120"/>
              </a:rPr>
              <a:t>Your support takes FarmCare from prototype to a real herd</a:t>
            </a:r>
            <a:endParaRPr lang="en-US" sz="1150" dirty="0"/>
          </a:p>
        </p:txBody>
      </p:sp>
      <p:sp>
        <p:nvSpPr>
          <p:cNvPr id="25" name="Text 19"/>
          <p:cNvSpPr txBox="1"/>
          <p:nvPr/>
        </p:nvSpPr>
        <p:spPr>
          <a:xfrm>
            <a:off x="548640" y="4251960"/>
            <a:ext cx="11064240" cy="685800"/>
          </a:xfrm>
          <a:prstGeom prst="rect">
            <a:avLst/>
          </a:prstGeom>
          <a:noFill/>
          <a:ln/>
        </p:spPr>
        <p:txBody>
          <a:bodyPr wrap="square" lIns="0" tIns="0" rIns="0" bIns="0" rtlCol="0" anchor="t"/>
          <a:lstStyle/>
          <a:p>
            <a:pPr algn="ctr" indent="0" marL="0">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26" name="Text 20"/>
          <p:cNvSpPr txBox="1"/>
          <p:nvPr/>
        </p:nvSpPr>
        <p:spPr>
          <a:xfrm>
            <a:off x="548640" y="4937760"/>
            <a:ext cx="11064240" cy="320040"/>
          </a:xfrm>
          <a:prstGeom prst="rect">
            <a:avLst/>
          </a:prstGeom>
          <a:noFill/>
          <a:ln/>
        </p:spPr>
        <p:txBody>
          <a:bodyPr wrap="square" lIns="0" tIns="0" rIns="0" bIns="0" rtlCol="0" anchor="t"/>
          <a:lstStyle/>
          <a:p>
            <a:pPr algn="ctr" indent="0" marL="0">
              <a:buNone/>
            </a:pPr>
            <a:r>
              <a:rPr lang="en-US" sz="1500" i="1" dirty="0">
                <a:solidFill>
                  <a:srgbClr val="CFE0D4"/>
                </a:solidFill>
                <a:latin typeface="Calibri" pitchFamily="34" charset="0"/>
                <a:ea typeface="Calibri" pitchFamily="34" charset="-122"/>
                <a:cs typeface="Calibri" pitchFamily="34" charset="-120"/>
              </a:rPr>
              <a:t>Ready for your questions</a:t>
            </a:r>
            <a:endParaRPr lang="en-US" sz="1500" dirty="0"/>
          </a:p>
        </p:txBody>
      </p:sp>
      <p:sp>
        <p:nvSpPr>
          <p:cNvPr id="27" name="Text 21"/>
          <p:cNvSpPr txBox="1"/>
          <p:nvPr/>
        </p:nvSpPr>
        <p:spPr>
          <a:xfrm>
            <a:off x="548640" y="5623560"/>
            <a:ext cx="11064240" cy="548640"/>
          </a:xfrm>
          <a:prstGeom prst="rect">
            <a:avLst/>
          </a:prstGeom>
          <a:noFill/>
          <a:ln/>
        </p:spPr>
        <p:txBody>
          <a:bodyPr wrap="square" lIns="0" tIns="0" rIns="0" bIns="0" rtlCol="0" anchor="t"/>
          <a:lstStyle/>
          <a:p>
            <a:pPr algn="ctr" indent="0" marL="0">
              <a:buNone/>
            </a:pPr>
            <a:r>
              <a:rPr lang="en-US" sz="1200" dirty="0">
                <a:solidFill>
                  <a:srgbClr val="AFC4B5"/>
                </a:solidFill>
                <a:latin typeface="Calibri" pitchFamily="34" charset="0"/>
                <a:ea typeface="Calibri" pitchFamily="34" charset="-122"/>
                <a:cs typeface="Calibri" pitchFamily="34" charset="-120"/>
              </a:rPr>
              <a:t>Bikorimana Jean Claude · bikorimanajeanclaude12@gmail.com · +250 786 144 292</a:t>
            </a:r>
            <a:endParaRPr lang="en-US" sz="1200" dirty="0"/>
          </a:p>
          <a:p>
            <a:pPr algn="ctr" indent="0" marL="0">
              <a:buNone/>
            </a:pPr>
            <a:r>
              <a:rPr lang="en-US" sz="1200" dirty="0">
                <a:solidFill>
                  <a:srgbClr val="AFC4B5"/>
                </a:solidFill>
                <a:latin typeface="Calibri" pitchFamily="34" charset="0"/>
                <a:ea typeface="Calibri" pitchFamily="34" charset="-122"/>
                <a:cs typeface="Calibri" pitchFamily="34" charset="-120"/>
              </a:rPr>
              <a:t>Izere Egide · +250 787 979 145 · https://farmcareservices.com/ · ACTION FAMILY TECH LTD</a:t>
            </a:r>
            <a:endParaRPr lang="en-US" sz="1200" dirty="0"/>
          </a:p>
        </p:txBody>
      </p:sp>
      <p:sp>
        <p:nvSpPr>
          <p:cNvPr id="25" name="Slide Number Placeholder 0"/>
          <p:cNvSpPr>
            <a:spLocks noGrp="1"/>
          </p:cNvSpPr>
          <p:nvPr>
            <p:ph type="sldNum" sz="quarter" idx="4294967295"/>
          </p:nvPr>
        </p:nvSpPr>
        <p:spPr>
          <a:xfrm>
            <a:off x="11109960" y="643737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4B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FarmCare">
  <a:themeElements>
    <a:clrScheme name="FarmCare">
      <a:dk1>
        <a:srgbClr val="1F2A22"/>
      </a:dk1>
      <a:lt1>
        <a:srgbClr val="FFFFFF"/>
      </a:lt1>
      <a:dk2>
        <a:srgbClr val="1B3B2F"/>
      </a:dk2>
      <a:lt2>
        <a:srgbClr val="F3F7F1"/>
      </a:lt2>
      <a:accent1>
        <a:srgbClr val="E07A3E"/>
      </a:accent1>
      <a:accent2>
        <a:srgbClr val="C7602A"/>
      </a:accent2>
      <a:accent3>
        <a:srgbClr val="CFE0D4"/>
      </a:accent3>
      <a:accent4>
        <a:srgbClr val="5C6B60"/>
      </a:accent4>
      <a:accent5>
        <a:srgbClr val="11241C"/>
      </a:accent5>
      <a:accent6>
        <a:srgbClr val="AFC4B5"/>
      </a:accent6>
      <a:hlink>
        <a:srgbClr val="C7602A"/>
      </a:hlink>
      <a:folHlink>
        <a:srgbClr val="5C6B60"/>
      </a:folHlink>
    </a:clrScheme>
    <a:fontScheme name="FarmC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ACTION FAMILY TECH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FarmCare — Innovate Africa Challenge III</dc:title>
  <dc:subject>PptxGenJS Presentation</dc:subject>
  <dc:creator>ACTION FAMILY TECH LTD</dc:creator>
  <cp:lastModifiedBy>ACTION FAMILY TECH LTD</cp:lastModifiedBy>
  <cp:revision>1</cp:revision>
  <dcterms:created xsi:type="dcterms:W3CDTF">2026-10-24T20:38:33Z</dcterms:created>
  <dcterms:modified xsi:type="dcterms:W3CDTF">2026-10-24T20:38:33Z</dcterms:modified>
</cp:coreProperties>
</file>