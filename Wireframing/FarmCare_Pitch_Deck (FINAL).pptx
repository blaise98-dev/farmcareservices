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50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3769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packed/ppt/media/image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09360" y="0"/>
            <a:ext cx="5882335" cy="45719"/>
          </a:xfrm>
          <a:prstGeom prst="rect">
            <a:avLst/>
          </a:prstGeom>
          <a:solidFill>
            <a:srgbClr val="11241C">
              <a:alpha val="6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1B3B2F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371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FAMILY TECH LTD.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" y="178308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FarmCare</a:t>
            </a:r>
            <a:endParaRPr lang="en-US" sz="6000" dirty="0"/>
          </a:p>
        </p:txBody>
      </p:sp>
      <p:sp>
        <p:nvSpPr>
          <p:cNvPr id="7" name="Shape 4"/>
          <p:cNvSpPr/>
          <p:nvPr/>
        </p:nvSpPr>
        <p:spPr>
          <a:xfrm>
            <a:off x="658368" y="3063240"/>
            <a:ext cx="502920" cy="54864"/>
          </a:xfrm>
          <a:prstGeom prst="rect">
            <a:avLst/>
          </a:prstGeom>
          <a:solidFill>
            <a:srgbClr val="E07A3E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33756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digital platform for precision dairy farming — combining AI, IoT sensors, cloud computing and mobile technology to improve productivity, profitability and sustainability for every dairy farmer in Rwanda.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40080" y="5989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Shingiro Finverra Pitchfest · 2026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3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REALITY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Behind every glass of milk is a farmer fighting the odds.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Rwanda’s dairy sector is the backbone of rural livelihoods — but disease, poor breeding outcomes and lost milk quietly drain farmer income every day.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11241C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761488"/>
            <a:ext cx="566928" cy="566928"/>
          </a:xfrm>
          <a:prstGeom prst="ellipse">
            <a:avLst/>
          </a:prstGeom>
          <a:solidFill>
            <a:srgbClr val="E07A3E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pic>
        <p:nvPicPr>
          <p:cNvPr id="7" name="Image 0" descr="icons/p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482" y="2840858"/>
            <a:ext cx="408188" cy="4081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3520440"/>
            <a:ext cx="21396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1.45–1.73M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841248" y="4251960"/>
            <a:ext cx="213969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cattle nationwide across Rwanda’s dairy belt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38144" y="246888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11241C"/>
          </a:solidFill>
          <a:ln/>
        </p:spPr>
      </p:sp>
      <p:sp>
        <p:nvSpPr>
          <p:cNvPr id="11" name="Shape 8"/>
          <p:cNvSpPr/>
          <p:nvPr/>
        </p:nvSpPr>
        <p:spPr>
          <a:xfrm>
            <a:off x="3694176" y="2761488"/>
            <a:ext cx="566928" cy="566928"/>
          </a:xfrm>
          <a:prstGeom prst="ellipse">
            <a:avLst/>
          </a:prstGeom>
          <a:solidFill>
            <a:srgbClr val="E07A3E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pic>
        <p:nvPicPr>
          <p:cNvPr id="12" name="Image 1" descr="icons/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546" y="2840858"/>
            <a:ext cx="408188" cy="4081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3520440"/>
            <a:ext cx="21396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60–67%</a:t>
            </a:r>
            <a:endParaRPr lang="en-US" sz="2700" dirty="0"/>
          </a:p>
        </p:txBody>
      </p:sp>
      <p:sp>
        <p:nvSpPr>
          <p:cNvPr id="14" name="Text 10"/>
          <p:cNvSpPr/>
          <p:nvPr/>
        </p:nvSpPr>
        <p:spPr>
          <a:xfrm>
            <a:off x="3639312" y="4251960"/>
            <a:ext cx="213969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dairy cows suffer clinical or subclinical mastitis from poor hygiene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36208" y="246888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11241C"/>
          </a:solidFill>
          <a:ln/>
        </p:spPr>
      </p:sp>
      <p:sp>
        <p:nvSpPr>
          <p:cNvPr id="16" name="Shape 12"/>
          <p:cNvSpPr/>
          <p:nvPr/>
        </p:nvSpPr>
        <p:spPr>
          <a:xfrm>
            <a:off x="6492240" y="2761488"/>
            <a:ext cx="566928" cy="566928"/>
          </a:xfrm>
          <a:prstGeom prst="ellipse">
            <a:avLst/>
          </a:prstGeom>
          <a:solidFill>
            <a:srgbClr val="E07A3E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pic>
        <p:nvPicPr>
          <p:cNvPr id="17" name="Image 2" descr="icons/t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1610" y="2840858"/>
            <a:ext cx="408188" cy="4081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37376" y="3520440"/>
            <a:ext cx="21396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2700" dirty="0"/>
          </a:p>
        </p:txBody>
      </p:sp>
      <p:sp>
        <p:nvSpPr>
          <p:cNvPr id="19" name="Text 14"/>
          <p:cNvSpPr/>
          <p:nvPr/>
        </p:nvSpPr>
        <p:spPr>
          <a:xfrm>
            <a:off x="6437376" y="4251960"/>
            <a:ext cx="213969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milk rejected at collection centres in parts of the North &amp; West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34272" y="246888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11241C"/>
          </a:solidFill>
          <a:ln/>
        </p:spPr>
      </p:sp>
      <p:sp>
        <p:nvSpPr>
          <p:cNvPr id="21" name="Shape 16"/>
          <p:cNvSpPr/>
          <p:nvPr/>
        </p:nvSpPr>
        <p:spPr>
          <a:xfrm>
            <a:off x="9290304" y="2761488"/>
            <a:ext cx="566928" cy="566928"/>
          </a:xfrm>
          <a:prstGeom prst="ellipse">
            <a:avLst/>
          </a:prstGeom>
          <a:solidFill>
            <a:srgbClr val="E07A3E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pic>
        <p:nvPicPr>
          <p:cNvPr id="22" name="Image 3" descr="icons/heartbe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9674" y="2840858"/>
            <a:ext cx="408188" cy="4081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35440" y="3520440"/>
            <a:ext cx="21396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33–50%</a:t>
            </a:r>
            <a:endParaRPr lang="en-US" sz="2700" dirty="0"/>
          </a:p>
        </p:txBody>
      </p:sp>
      <p:sp>
        <p:nvSpPr>
          <p:cNvPr id="24" name="Text 18"/>
          <p:cNvSpPr/>
          <p:nvPr/>
        </p:nvSpPr>
        <p:spPr>
          <a:xfrm>
            <a:off x="9235440" y="4251960"/>
            <a:ext cx="213969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insemination success — over half of cows miss pregnancy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40080" y="5897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MINAGRI Annual Report 2024/25; RAB / MINAGRI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C76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gaps keep Rwandan dairy farms behind.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73352"/>
            <a:ext cx="566928" cy="566928"/>
          </a:xfrm>
          <a:prstGeom prst="ellipse">
            <a:avLst/>
          </a:prstGeom>
          <a:solidFill>
            <a:srgbClr val="E07A3E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pic>
        <p:nvPicPr>
          <p:cNvPr id="6" name="Image 0" descr="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42" y="1752722"/>
            <a:ext cx="408188" cy="4081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002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 Heat Detection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983480" y="1600200"/>
            <a:ext cx="6355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struggle to accurately detect estrus, missing breeding windows and lowering AI success rates.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04672" y="2514600"/>
            <a:ext cx="566928" cy="566928"/>
          </a:xfrm>
          <a:prstGeom prst="ellipse">
            <a:avLst/>
          </a:prstGeom>
          <a:solidFill>
            <a:srgbClr val="E07A3E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pic>
        <p:nvPicPr>
          <p:cNvPr id="10" name="Image 1" descr="icons/t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042" y="2593970"/>
            <a:ext cx="408188" cy="4081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44144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Milk Rejection &amp; Poor Quality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983480" y="2441448"/>
            <a:ext cx="6355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Mastitis, bacterial contamination and water adulteration push rejection rates up across the value chain.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3255264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04672" y="3355848"/>
            <a:ext cx="566928" cy="566928"/>
          </a:xfrm>
          <a:prstGeom prst="ellipse">
            <a:avLst/>
          </a:prstGeom>
          <a:solidFill>
            <a:srgbClr val="E07A3E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pic>
        <p:nvPicPr>
          <p:cNvPr id="15" name="Image 2" descr="icons/ale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042" y="3435218"/>
            <a:ext cx="408188" cy="4081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282696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Disease &amp; Environmental Burden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4983480" y="3282696"/>
            <a:ext cx="6355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Diseases are often caught only after visible symptoms; poor manure handling adds emissions and cost.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04672" y="4197096"/>
            <a:ext cx="566928" cy="566928"/>
          </a:xfrm>
          <a:prstGeom prst="ellipse">
            <a:avLst/>
          </a:prstGeom>
          <a:solidFill>
            <a:srgbClr val="E07A3E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pic>
        <p:nvPicPr>
          <p:cNvPr id="19" name="Image 3" descr="icons/clip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042" y="4276466"/>
            <a:ext cx="408188" cy="4081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00200" y="4123944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Records or Traceability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4983480" y="4123944"/>
            <a:ext cx="6355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95% of farmers keep no digital records of breeding, health, treatment or production — outbreaks can’t be traced.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40080" y="4937760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5038344"/>
            <a:ext cx="566928" cy="566928"/>
          </a:xfrm>
          <a:prstGeom prst="ellipse">
            <a:avLst/>
          </a:prstGeom>
          <a:solidFill>
            <a:srgbClr val="E07A3E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pic>
        <p:nvPicPr>
          <p:cNvPr id="24" name="Image 4" descr="icons/lea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042" y="5117714"/>
            <a:ext cx="408188" cy="40818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00200" y="496519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Unmanaged Feeding &amp; Water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4983480" y="4965192"/>
            <a:ext cx="6355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farmers rely on seasonal grass and crop residues with no conservation such as silage or hay making.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3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 Three connected devices.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FarmCare pairs wearable and barn sensors with AI analytics and a mobile dashboard — turning everyday farm activity into real-time decisions.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11241C"/>
          </a:solidFill>
          <a:ln/>
        </p:spPr>
      </p:sp>
      <p:sp>
        <p:nvSpPr>
          <p:cNvPr id="6" name="Shape 4"/>
          <p:cNvSpPr/>
          <p:nvPr/>
        </p:nvSpPr>
        <p:spPr>
          <a:xfrm>
            <a:off x="1970532" y="2514600"/>
            <a:ext cx="768096" cy="768096"/>
          </a:xfrm>
          <a:prstGeom prst="ellipse">
            <a:avLst/>
          </a:prstGeom>
          <a:solidFill>
            <a:srgbClr val="E07A3E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pic>
        <p:nvPicPr>
          <p:cNvPr id="7" name="Image 0" descr="icons/t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065" y="2622133"/>
            <a:ext cx="553029" cy="5530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5661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Milking Station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411480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milk monitoring &amp; traceability — RFID cow ID plus mobile &amp; USSD access replace paper records.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61688" y="2148840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11241C"/>
          </a:solidFill>
          <a:ln/>
        </p:spPr>
      </p:sp>
      <p:sp>
        <p:nvSpPr>
          <p:cNvPr id="11" name="Shape 8"/>
          <p:cNvSpPr/>
          <p:nvPr/>
        </p:nvSpPr>
        <p:spPr>
          <a:xfrm>
            <a:off x="5692140" y="2514600"/>
            <a:ext cx="768096" cy="768096"/>
          </a:xfrm>
          <a:prstGeom prst="ellipse">
            <a:avLst/>
          </a:prstGeom>
          <a:solidFill>
            <a:srgbClr val="E07A3E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pic>
        <p:nvPicPr>
          <p:cNvPr id="12" name="Image 1" descr="icons/gau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9673" y="2622133"/>
            <a:ext cx="553029" cy="55302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0288" y="35661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Barn Monitor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81728" y="411480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feed, water &amp; environment tracking via tank, pipeline and weight sensors with machine learning.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83296" y="2148840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11241C"/>
          </a:solidFill>
          <a:ln/>
        </p:spPr>
      </p:sp>
      <p:sp>
        <p:nvSpPr>
          <p:cNvPr id="16" name="Shape 12"/>
          <p:cNvSpPr/>
          <p:nvPr/>
        </p:nvSpPr>
        <p:spPr>
          <a:xfrm>
            <a:off x="9413748" y="2514600"/>
            <a:ext cx="768096" cy="768096"/>
          </a:xfrm>
          <a:prstGeom prst="ellipse">
            <a:avLst/>
          </a:prstGeom>
          <a:solidFill>
            <a:srgbClr val="E07A3E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pic>
        <p:nvPicPr>
          <p:cNvPr id="17" name="Image 2" descr="icons/heartbe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1281" y="2622133"/>
            <a:ext cx="553029" cy="55302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11896" y="35661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Collar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03336" y="411480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sensors for heat detection, reproductive and health monitoring, with instant SMS alerts.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0080" y="6172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data. Real farmers. Real results.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C76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device tracks — sensor by sensor.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3520440" cy="5257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554480"/>
            <a:ext cx="457200" cy="457200"/>
          </a:xfrm>
          <a:prstGeom prst="ellipse">
            <a:avLst/>
          </a:prstGeom>
          <a:solidFill>
            <a:srgbClr val="E07A3E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pic>
        <p:nvPicPr>
          <p:cNvPr id="6" name="Image 0" descr="icons/t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6184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99616" y="1554480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MILKING STATION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32688" y="2212848"/>
            <a:ext cx="2935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76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Milk Monitoring &amp; Traceability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32688" y="2468880"/>
            <a:ext cx="2935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7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paper farm records with a digital system accessible by mobile phone and USSD.</a:t>
            </a:r>
            <a:endParaRPr lang="en-US" sz="1070" dirty="0"/>
          </a:p>
        </p:txBody>
      </p:sp>
      <p:sp>
        <p:nvSpPr>
          <p:cNvPr id="10" name="Text 7"/>
          <p:cNvSpPr/>
          <p:nvPr/>
        </p:nvSpPr>
        <p:spPr>
          <a:xfrm>
            <a:off x="932688" y="3035808"/>
            <a:ext cx="2935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76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Milk Quality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32688" y="3291840"/>
            <a:ext cx="2935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7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contamination and adulteration before milk reaches the collection centre.</a:t>
            </a:r>
            <a:endParaRPr lang="en-US" sz="1070" dirty="0"/>
          </a:p>
        </p:txBody>
      </p:sp>
      <p:sp>
        <p:nvSpPr>
          <p:cNvPr id="12" name="Shape 9"/>
          <p:cNvSpPr/>
          <p:nvPr/>
        </p:nvSpPr>
        <p:spPr>
          <a:xfrm>
            <a:off x="932688" y="3803904"/>
            <a:ext cx="2935224" cy="0"/>
          </a:xfrm>
          <a:prstGeom prst="line">
            <a:avLst/>
          </a:prstGeom>
          <a:noFill/>
          <a:ln w="12700">
            <a:solidFill>
              <a:srgbClr val="DFE8D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3950208"/>
            <a:ext cx="2935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&amp; THEIR ROLE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32688" y="4242816"/>
            <a:ext cx="2935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6000"/>
              </a:lnSpc>
              <a:buSzPct val="100000"/>
              <a:buChar char="●"/>
            </a:pPr>
            <a:r>
              <a:rPr lang="en-US" sz="1030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Tag —  </a:t>
            </a:r>
            <a:r>
              <a:rPr lang="en-US" sz="103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each cow automatically at every milking.</a:t>
            </a:r>
            <a:endParaRPr lang="en-US" sz="1030" dirty="0"/>
          </a:p>
        </p:txBody>
      </p:sp>
      <p:sp>
        <p:nvSpPr>
          <p:cNvPr id="15" name="Text 12"/>
          <p:cNvSpPr/>
          <p:nvPr/>
        </p:nvSpPr>
        <p:spPr>
          <a:xfrm>
            <a:off x="932688" y="4681728"/>
            <a:ext cx="2935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6000"/>
              </a:lnSpc>
              <a:buSzPct val="100000"/>
              <a:buChar char="●"/>
            </a:pPr>
            <a:r>
              <a:rPr lang="en-US" sz="1030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 Sensor —  </a:t>
            </a:r>
            <a:r>
              <a:rPr lang="en-US" sz="103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electrical conductivity from dissolved sodium, potassium, calcium &amp; magnesium to catch adulteration.</a:t>
            </a:r>
            <a:endParaRPr lang="en-US" sz="1030" dirty="0"/>
          </a:p>
        </p:txBody>
      </p:sp>
      <p:sp>
        <p:nvSpPr>
          <p:cNvPr id="16" name="Shape 13"/>
          <p:cNvSpPr/>
          <p:nvPr/>
        </p:nvSpPr>
        <p:spPr>
          <a:xfrm>
            <a:off x="4379976" y="1298448"/>
            <a:ext cx="3520440" cy="5257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72584" y="1554480"/>
            <a:ext cx="457200" cy="457200"/>
          </a:xfrm>
          <a:prstGeom prst="ellipse">
            <a:avLst/>
          </a:prstGeom>
          <a:solidFill>
            <a:srgbClr val="E07A3E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pic>
        <p:nvPicPr>
          <p:cNvPr id="18" name="Image 1" descr="icons/gau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1618488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39512" y="1554480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BARN MONITOR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672584" y="2212848"/>
            <a:ext cx="2935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76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Feed &amp; Water Management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4672584" y="2468880"/>
            <a:ext cx="2935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7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feed consumption, water intake and environmental conditions using ML-driven analysis.</a:t>
            </a:r>
            <a:endParaRPr lang="en-US" sz="1070" dirty="0"/>
          </a:p>
        </p:txBody>
      </p:sp>
      <p:sp>
        <p:nvSpPr>
          <p:cNvPr id="22" name="Text 18"/>
          <p:cNvSpPr/>
          <p:nvPr/>
        </p:nvSpPr>
        <p:spPr>
          <a:xfrm>
            <a:off x="4672584" y="3035808"/>
            <a:ext cx="2935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76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Environmental Monitoring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4672584" y="3291840"/>
            <a:ext cx="2935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7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watches housing conditions and early animal-health indicators.</a:t>
            </a:r>
            <a:endParaRPr lang="en-US" sz="1070" dirty="0"/>
          </a:p>
        </p:txBody>
      </p:sp>
      <p:sp>
        <p:nvSpPr>
          <p:cNvPr id="24" name="Shape 20"/>
          <p:cNvSpPr/>
          <p:nvPr/>
        </p:nvSpPr>
        <p:spPr>
          <a:xfrm>
            <a:off x="4672584" y="3895344"/>
            <a:ext cx="2935224" cy="0"/>
          </a:xfrm>
          <a:prstGeom prst="line">
            <a:avLst/>
          </a:prstGeom>
          <a:noFill/>
          <a:ln w="12700">
            <a:solidFill>
              <a:srgbClr val="DFE8DE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672584" y="4041648"/>
            <a:ext cx="2935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&amp; THEIR ROLE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672584" y="4334256"/>
            <a:ext cx="2935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6000"/>
              </a:lnSpc>
              <a:buSzPct val="100000"/>
              <a:buChar char="●"/>
            </a:pPr>
            <a:r>
              <a:rPr lang="en-US" sz="1030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MQ135 —  </a:t>
            </a:r>
            <a:r>
              <a:rPr lang="en-US" sz="103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barn temperature &amp; humidity.</a:t>
            </a:r>
            <a:endParaRPr lang="en-US" sz="1030" dirty="0"/>
          </a:p>
        </p:txBody>
      </p:sp>
      <p:sp>
        <p:nvSpPr>
          <p:cNvPr id="27" name="Text 23"/>
          <p:cNvSpPr/>
          <p:nvPr/>
        </p:nvSpPr>
        <p:spPr>
          <a:xfrm>
            <a:off x="4672584" y="4773168"/>
            <a:ext cx="2935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6000"/>
              </a:lnSpc>
              <a:buSzPct val="100000"/>
              <a:buChar char="●"/>
            </a:pPr>
            <a:r>
              <a:rPr lang="en-US" sz="1030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MQ5 —  </a:t>
            </a:r>
            <a:r>
              <a:rPr lang="en-US" sz="103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gas build-up in the barn (mukiraro).</a:t>
            </a:r>
            <a:endParaRPr lang="en-US" sz="1030" dirty="0"/>
          </a:p>
        </p:txBody>
      </p:sp>
      <p:sp>
        <p:nvSpPr>
          <p:cNvPr id="28" name="Text 24"/>
          <p:cNvSpPr/>
          <p:nvPr/>
        </p:nvSpPr>
        <p:spPr>
          <a:xfrm>
            <a:off x="4672584" y="5212080"/>
            <a:ext cx="2935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6000"/>
              </a:lnSpc>
              <a:buSzPct val="100000"/>
              <a:buChar char="●"/>
            </a:pPr>
            <a:r>
              <a:rPr lang="en-US" sz="1030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Temp Sensor —  </a:t>
            </a:r>
            <a:r>
              <a:rPr lang="en-US" sz="103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body temperature without contact.</a:t>
            </a:r>
            <a:endParaRPr lang="en-US" sz="1030" dirty="0"/>
          </a:p>
        </p:txBody>
      </p:sp>
      <p:sp>
        <p:nvSpPr>
          <p:cNvPr id="29" name="Shape 25"/>
          <p:cNvSpPr/>
          <p:nvPr/>
        </p:nvSpPr>
        <p:spPr>
          <a:xfrm>
            <a:off x="8119872" y="1298448"/>
            <a:ext cx="3520440" cy="5257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8412480" y="1554480"/>
            <a:ext cx="457200" cy="457200"/>
          </a:xfrm>
          <a:prstGeom prst="ellipse">
            <a:avLst/>
          </a:prstGeom>
          <a:solidFill>
            <a:srgbClr val="E07A3E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pic>
        <p:nvPicPr>
          <p:cNvPr id="31" name="Image 2" descr="icons/heartbe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6488" y="1618488"/>
            <a:ext cx="329184" cy="32918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979408" y="1554480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COLLAR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8412480" y="2212848"/>
            <a:ext cx="2935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76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Heat Detection &amp; Reproductive Management</a:t>
            </a:r>
            <a:endParaRPr lang="en-US" sz="1250" dirty="0"/>
          </a:p>
        </p:txBody>
      </p:sp>
      <p:sp>
        <p:nvSpPr>
          <p:cNvPr id="34" name="Text 29"/>
          <p:cNvSpPr/>
          <p:nvPr/>
        </p:nvSpPr>
        <p:spPr>
          <a:xfrm>
            <a:off x="8412480" y="2468880"/>
            <a:ext cx="29352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7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activity, movement, temperature &amp; reproductive behaviour — sends SMS alerts, tracks insemination schedules and detects heat (estrus) with high accuracy.</a:t>
            </a:r>
            <a:endParaRPr lang="en-US" sz="1070" dirty="0"/>
          </a:p>
        </p:txBody>
      </p:sp>
      <p:sp>
        <p:nvSpPr>
          <p:cNvPr id="35" name="Shape 30"/>
          <p:cNvSpPr/>
          <p:nvPr/>
        </p:nvSpPr>
        <p:spPr>
          <a:xfrm>
            <a:off x="8412480" y="3438144"/>
            <a:ext cx="2935224" cy="0"/>
          </a:xfrm>
          <a:prstGeom prst="line">
            <a:avLst/>
          </a:prstGeom>
          <a:noFill/>
          <a:ln w="12700">
            <a:solidFill>
              <a:srgbClr val="DFE8DE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8412480" y="3584448"/>
            <a:ext cx="2935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&amp; THEIR ROLE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8412480" y="3877056"/>
            <a:ext cx="2935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6000"/>
              </a:lnSpc>
              <a:buSzPct val="100000"/>
              <a:buChar char="●"/>
            </a:pPr>
            <a:r>
              <a:rPr lang="en-US" sz="1030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Motion &amp; Temp Sensor —  </a:t>
            </a:r>
            <a:r>
              <a:rPr lang="en-US" sz="103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activity and body-temperature tracking for accurate, early heat detection.</a:t>
            </a:r>
            <a:endParaRPr lang="en-US" sz="1030" dirty="0"/>
          </a:p>
        </p:txBody>
      </p:sp>
      <p:sp>
        <p:nvSpPr>
          <p:cNvPr id="38" name="Text 33"/>
          <p:cNvSpPr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C76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PRODUCT TRACTION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it works — not just a pitch.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C7602A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pic>
        <p:nvPicPr>
          <p:cNvPr id="5" name="Image 0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9385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8470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web dashboard live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61872" y="2203704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live milking, barn monitor, cow health &amp; tracking, historical analytics.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C7602A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pic>
        <p:nvPicPr>
          <p:cNvPr id="9" name="Image 1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0815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1872" y="29900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3 hardware devices integrated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61872" y="3346704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Wired, coded, and confirmed flowing live into the dashboard.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4160520"/>
            <a:ext cx="457200" cy="457200"/>
          </a:xfrm>
          <a:prstGeom prst="ellipse">
            <a:avLst/>
          </a:prstGeom>
          <a:solidFill>
            <a:srgbClr val="C7602A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pic>
        <p:nvPicPr>
          <p:cNvPr id="13" name="Image 2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422452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61872" y="41330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prototype complete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61872" y="4489704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readings live and verified across all three devices.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63640" y="1600200"/>
            <a:ext cx="530352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pic>
        <p:nvPicPr>
          <p:cNvPr id="17" name="Image 3" descr="unpacked/ppt/media/image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82512" y="1719072"/>
            <a:ext cx="5065776" cy="255117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82512" y="4206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MooMe Smart Farm dashboard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6263640" y="4617720"/>
            <a:ext cx="53035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pic>
        <p:nvPicPr>
          <p:cNvPr id="20" name="Image 4" descr="unpacked/ppt/media/image3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82512" y="4736592"/>
            <a:ext cx="5065776" cy="15910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C76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MARKET OPPORTUNITY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market that starts with the smallholder farmer.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84248"/>
            <a:ext cx="621792" cy="621792"/>
          </a:xfrm>
          <a:prstGeom prst="ellipse">
            <a:avLst/>
          </a:prstGeom>
          <a:solidFill>
            <a:srgbClr val="E07A3E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pic>
        <p:nvPicPr>
          <p:cNvPr id="6" name="Image 0" descr="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451" y="2071299"/>
            <a:ext cx="447690" cy="4476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8892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76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914400" y="30632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Smallholder Farmers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384048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Intensive &amp; semi-intensive zero-grazing households (1–10 cows) across Nyagatare, Gatsibo, Gicumbi, Burera and Musanze.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79976" y="16916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54296" y="1984248"/>
            <a:ext cx="621792" cy="621792"/>
          </a:xfrm>
          <a:prstGeom prst="ellipse">
            <a:avLst/>
          </a:prstGeom>
          <a:solidFill>
            <a:srgbClr val="E07A3E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pic>
        <p:nvPicPr>
          <p:cNvPr id="12" name="Image 1" descr="icons/indust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1347" y="2071299"/>
            <a:ext cx="447690" cy="4476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54296" y="278892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76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654296" y="30632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Cooperatives &amp; Processors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54296" y="384048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cooperatives and milk collection centres absorbing rejection costs, plus processors and exporters needing traceable supply.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19872" y="16916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94192" y="1984248"/>
            <a:ext cx="621792" cy="621792"/>
          </a:xfrm>
          <a:prstGeom prst="ellipse">
            <a:avLst/>
          </a:prstGeom>
          <a:solidFill>
            <a:srgbClr val="E07A3E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pic>
        <p:nvPicPr>
          <p:cNvPr id="18" name="Image 2" descr="icons/land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1243" y="2071299"/>
            <a:ext cx="447690" cy="44769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94192" y="278892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76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8394192" y="30632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Institutions &amp; NGOs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394192" y="384048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bodies (MINAGRI, RAB) and NGOs such as FAO supporting sector-wide dairy programmes.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BUSINESS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revenue streams, one growing platform.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11241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3317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46120" y="2404872"/>
            <a:ext cx="548640" cy="548640"/>
          </a:xfrm>
          <a:prstGeom prst="ellipse">
            <a:avLst/>
          </a:prstGeom>
          <a:solidFill>
            <a:srgbClr val="E07A3E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pic>
        <p:nvPicPr>
          <p:cNvPr id="7" name="Image 0" descr="icons/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2930" y="2481682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2004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Kit Sale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purchase of the milking station, barn monitor and/or health collar, priced around low-cost ESP32 / NodeMCU components.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61688" y="214884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11241C"/>
          </a:solidFill>
          <a:ln/>
        </p:spPr>
      </p:sp>
      <p:sp>
        <p:nvSpPr>
          <p:cNvPr id="11" name="Text 8"/>
          <p:cNvSpPr/>
          <p:nvPr/>
        </p:nvSpPr>
        <p:spPr>
          <a:xfrm>
            <a:off x="4590288" y="23317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967728" y="2404872"/>
            <a:ext cx="548640" cy="548640"/>
          </a:xfrm>
          <a:prstGeom prst="ellipse">
            <a:avLst/>
          </a:prstGeom>
          <a:solidFill>
            <a:srgbClr val="E07A3E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pic>
        <p:nvPicPr>
          <p:cNvPr id="13" name="Image 1" descr="icons/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4538" y="2481682"/>
            <a:ext cx="395021" cy="3950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90288" y="32004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Subscription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590288" y="374904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 monthly fee per farm or cow for cooperatives and commercial farms — analytics, multi-farm view, alerts.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83296" y="214884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11241C"/>
          </a:solidFill>
          <a:ln/>
        </p:spPr>
      </p:sp>
      <p:sp>
        <p:nvSpPr>
          <p:cNvPr id="17" name="Text 13"/>
          <p:cNvSpPr/>
          <p:nvPr/>
        </p:nvSpPr>
        <p:spPr>
          <a:xfrm>
            <a:off x="8311896" y="23317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10689336" y="2404872"/>
            <a:ext cx="548640" cy="548640"/>
          </a:xfrm>
          <a:prstGeom prst="ellipse">
            <a:avLst/>
          </a:prstGeom>
          <a:solidFill>
            <a:srgbClr val="E07A3E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pic>
        <p:nvPicPr>
          <p:cNvPr id="19" name="Image 2" descr="icons/handsh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6146" y="2481682"/>
            <a:ext cx="395021" cy="39502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11896" y="32004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 Contracts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8311896" y="374904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pilot deployments with cooperatives, NGOs or government dairy programmes.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C76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COMPETITIVE LANDSCAPE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Others track one piece. FarmCare connects them all.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FE8DE"/>
            </a:solidFill>
            <a:prstDash val="solid"/>
          </a:ln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Agrotag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76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OFFER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Record-keeping &amp; traceability tagging only.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76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FARMCARE CLOSES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reproduction or feed integration.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79976" y="16916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FE8DE"/>
            </a:solidFill>
            <a:prstDash val="solid"/>
          </a:ln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54296" y="19659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Difarm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54296" y="25603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76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OFFER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54296" y="28346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Single-purpose monitoring tools.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54296" y="38404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76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FARMCARE CLOSES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54296" y="411480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link between farm data and collection-centre quality.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19872" y="16916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1B3B2F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94192" y="19659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FarmCare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94192" y="25603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OFFER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94192" y="28346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Breeding, health, feed, milk quality &amp; traceability in one connected platform.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94192" y="38404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WINS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94192" y="411480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linked to collection-centre outcomes and farmer income.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FUNDING STATUS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Self-funded to prototype. Seed funding to reach the field.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FarmCare has been built entirely with founder funds — no external investment to date. We are applying to the Shingiro Finverra Pitchfest for seed funding to move from working prototype to a real on-farm pilot.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11241C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971800"/>
            <a:ext cx="566928" cy="566928"/>
          </a:xfrm>
          <a:prstGeom prst="ellipse">
            <a:avLst/>
          </a:prstGeom>
          <a:solidFill>
            <a:srgbClr val="E07A3E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pic>
        <p:nvPicPr>
          <p:cNvPr id="7" name="Image 0" descr="icons/too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482" y="3051170"/>
            <a:ext cx="408188" cy="4081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703320"/>
            <a:ext cx="2916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Production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96112" y="4206240"/>
            <a:ext cx="291693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production run of ESP32 / NodeMCU boards, sensors and enclosures.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61688" y="269748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11241C"/>
          </a:solidFill>
          <a:ln/>
        </p:spPr>
      </p:sp>
      <p:sp>
        <p:nvSpPr>
          <p:cNvPr id="11" name="Shape 8"/>
          <p:cNvSpPr/>
          <p:nvPr/>
        </p:nvSpPr>
        <p:spPr>
          <a:xfrm>
            <a:off x="4617720" y="2971800"/>
            <a:ext cx="566928" cy="566928"/>
          </a:xfrm>
          <a:prstGeom prst="ellipse">
            <a:avLst/>
          </a:prstGeom>
          <a:solidFill>
            <a:srgbClr val="E07A3E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pic>
        <p:nvPicPr>
          <p:cNvPr id="12" name="Image 1" descr="icons/seedl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090" y="3051170"/>
            <a:ext cx="408188" cy="4081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3703320"/>
            <a:ext cx="2916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Testing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617720" y="4206240"/>
            <a:ext cx="291693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On-farm testing with a real herd to validate performance under daily conditions.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83296" y="269748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11241C"/>
          </a:solidFill>
          <a:ln/>
        </p:spPr>
      </p:sp>
      <p:sp>
        <p:nvSpPr>
          <p:cNvPr id="16" name="Shape 12"/>
          <p:cNvSpPr/>
          <p:nvPr/>
        </p:nvSpPr>
        <p:spPr>
          <a:xfrm>
            <a:off x="8339328" y="2971800"/>
            <a:ext cx="566928" cy="566928"/>
          </a:xfrm>
          <a:prstGeom prst="ellipse">
            <a:avLst/>
          </a:prstGeom>
          <a:solidFill>
            <a:srgbClr val="E07A3E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pic>
        <p:nvPicPr>
          <p:cNvPr id="17" name="Image 2" descr="icons/handsh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8698" y="3051170"/>
            <a:ext cx="408188" cy="4081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39328" y="3703320"/>
            <a:ext cx="2916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Cooperative Partnership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339328" y="4206240"/>
            <a:ext cx="291693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first signed cooperative partnership agreement to launch the pilot.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C76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THE TEAM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by two founders, one mission.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88720" y="196596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154680" y="2377440"/>
            <a:ext cx="1188720" cy="1188720"/>
          </a:xfrm>
          <a:prstGeom prst="ellipse">
            <a:avLst/>
          </a:prstGeom>
          <a:solidFill>
            <a:srgbClr val="1B3B2F"/>
          </a:solidFill>
          <a:ln/>
        </p:spPr>
      </p:sp>
      <p:sp>
        <p:nvSpPr>
          <p:cNvPr id="6" name="Text 4"/>
          <p:cNvSpPr/>
          <p:nvPr/>
        </p:nvSpPr>
        <p:spPr>
          <a:xfrm>
            <a:off x="3154680" y="23774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7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63040" y="37947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IZERE Egide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4206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kern="0" spc="200" dirty="0" err="1" smtClean="0">
                <a:solidFill>
                  <a:srgbClr val="C7602A"/>
                </a:solidFill>
                <a:latin typeface="Calibri" pitchFamily="34" charset="0"/>
                <a:cs typeface="Calibri" pitchFamily="34" charset="-120"/>
              </a:rPr>
              <a:t>Environmmentol</a:t>
            </a:r>
            <a:r>
              <a:rPr lang="en-US" sz="1200" b="1" kern="0" spc="200" dirty="0" smtClean="0">
                <a:solidFill>
                  <a:srgbClr val="C7602A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200" b="1" kern="0" spc="200" dirty="0">
                <a:solidFill>
                  <a:srgbClr val="C7602A"/>
                </a:solidFill>
                <a:latin typeface="Calibri" pitchFamily="34" charset="0"/>
                <a:cs typeface="Calibri" pitchFamily="34" charset="-120"/>
              </a:rPr>
              <a:t>expert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6304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0787 979 145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766560" y="196596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3B2F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732520" y="2377440"/>
            <a:ext cx="1188720" cy="1188720"/>
          </a:xfrm>
          <a:prstGeom prst="ellipse">
            <a:avLst/>
          </a:prstGeom>
          <a:solidFill>
            <a:srgbClr val="1B3B2F"/>
          </a:solidFill>
          <a:ln/>
        </p:spPr>
      </p:sp>
      <p:sp>
        <p:nvSpPr>
          <p:cNvPr id="12" name="Text 10"/>
          <p:cNvSpPr/>
          <p:nvPr/>
        </p:nvSpPr>
        <p:spPr>
          <a:xfrm>
            <a:off x="8732520" y="23774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7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BJ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040880" y="37947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BIKORIMANA Jean Claude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40880" y="4206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 smtClean="0">
                <a:solidFill>
                  <a:srgbClr val="C76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SPECIALIST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4088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0786 144 292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1241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33172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775808" y="3337560"/>
            <a:ext cx="640080" cy="45720"/>
          </a:xfrm>
          <a:prstGeom prst="rect">
            <a:avLst/>
          </a:prstGeom>
          <a:solidFill>
            <a:srgbClr val="E07A3E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35204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FarmCare · Action Family Tech Ltd.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630936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IZERE Egide, CEO · 0787 979 145      BIKORIMANA Jean Claude, Founder · 0786 144 292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1078</Words>
  <Application>Microsoft Office PowerPoint</Application>
  <PresentationFormat>Widescreen</PresentationFormat>
  <Paragraphs>155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uses</cp:lastModifiedBy>
  <cp:revision>4</cp:revision>
  <dcterms:created xsi:type="dcterms:W3CDTF">2026-08-11T07:31:57Z</dcterms:created>
  <dcterms:modified xsi:type="dcterms:W3CDTF">2026-08-11T10:50:39Z</dcterms:modified>
</cp:coreProperties>
</file>