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2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34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8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0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5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3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6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22EE4-BFA7-4A0E-9045-979127391CAB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11AC1-0036-44F3-8B87-08C1DD6E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3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26100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WORLD </a:t>
            </a:r>
            <a:r>
              <a:rPr lang="en-US" sz="3600" b="1" dirty="0"/>
              <a:t>RESOURCES EXCHANGE LTD 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(</a:t>
            </a:r>
            <a:r>
              <a:rPr lang="en-US" sz="3600" b="1" dirty="0"/>
              <a:t>WOREX)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WOREX Ltd – 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Registered</a:t>
            </a:r>
            <a:r>
              <a:rPr lang="en-US" dirty="0" smtClean="0"/>
              <a:t>: RDB (Tin</a:t>
            </a:r>
            <a:r>
              <a:rPr lang="en-US" dirty="0"/>
              <a:t>: 102167877</a:t>
            </a:r>
            <a:r>
              <a:rPr lang="en-US" dirty="0" smtClean="0"/>
              <a:t>)- Rwanda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Location: </a:t>
            </a:r>
            <a:r>
              <a:rPr lang="en-US" dirty="0" err="1"/>
              <a:t>Nyagatare</a:t>
            </a:r>
            <a:r>
              <a:rPr lang="en-US" dirty="0"/>
              <a:t> Industrial Area</a:t>
            </a:r>
            <a:br>
              <a:rPr lang="en-US" dirty="0"/>
            </a:br>
            <a:r>
              <a:rPr lang="en-US" dirty="0"/>
              <a:t>Founder 1: Mr. Remy </a:t>
            </a:r>
            <a:r>
              <a:rPr lang="en-US" dirty="0" err="1"/>
              <a:t>Titien</a:t>
            </a:r>
            <a:r>
              <a:rPr lang="en-US" dirty="0"/>
              <a:t> </a:t>
            </a:r>
            <a:r>
              <a:rPr lang="en-US" dirty="0" err="1"/>
              <a:t>Niyireba</a:t>
            </a:r>
            <a:r>
              <a:rPr lang="en-US" dirty="0"/>
              <a:t> </a:t>
            </a:r>
            <a:r>
              <a:rPr lang="en-US" dirty="0" smtClean="0"/>
              <a:t>: </a:t>
            </a:r>
            <a:r>
              <a:rPr lang="en-US" dirty="0"/>
              <a:t>Animal Scientist (livestock nutrition, feedlot)</a:t>
            </a:r>
            <a:br>
              <a:rPr lang="en-US" dirty="0"/>
            </a:br>
            <a:r>
              <a:rPr lang="en-US" dirty="0"/>
              <a:t>Founder 2: Mr. </a:t>
            </a:r>
            <a:r>
              <a:rPr lang="en-US" dirty="0" err="1"/>
              <a:t>Eugène</a:t>
            </a:r>
            <a:r>
              <a:rPr lang="en-US" dirty="0"/>
              <a:t> </a:t>
            </a:r>
            <a:r>
              <a:rPr lang="en-US" dirty="0" err="1"/>
              <a:t>Rusekampunzi</a:t>
            </a:r>
            <a:r>
              <a:rPr lang="en-US" dirty="0"/>
              <a:t> </a:t>
            </a:r>
            <a:r>
              <a:rPr lang="en-US" dirty="0" smtClean="0"/>
              <a:t>: Agricultural </a:t>
            </a:r>
            <a:r>
              <a:rPr lang="en-US" dirty="0"/>
              <a:t>Development (exotic fruit cultivation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Philosophy: "Resources are meant to be shared.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</a:t>
            </a:r>
            <a:r>
              <a:rPr lang="en-US" dirty="0"/>
              <a:t>shared, they become catalysts for development."</a:t>
            </a:r>
          </a:p>
        </p:txBody>
      </p:sp>
    </p:spTree>
    <p:extLst>
      <p:ext uri="{BB962C8B-B14F-4D97-AF65-F5344CB8AC3E}">
        <p14:creationId xmlns:p14="http://schemas.microsoft.com/office/powerpoint/2010/main" val="344180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Operating Context – </a:t>
            </a:r>
            <a:r>
              <a:rPr lang="en-US" dirty="0" err="1">
                <a:latin typeface="Tw Cen MT" panose="020B0602020104020603" pitchFamily="34" charset="0"/>
              </a:rPr>
              <a:t>Nyagatare</a:t>
            </a:r>
            <a:r>
              <a:rPr lang="en-US" dirty="0">
                <a:latin typeface="Tw Cen MT" panose="020B0602020104020603" pitchFamily="34" charset="0"/>
              </a:rPr>
              <a:t> District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000" dirty="0">
                <a:latin typeface="Tw Cen MT" panose="020B0602020104020603" pitchFamily="34" charset="0"/>
              </a:rPr>
              <a:t>Land &amp; </a:t>
            </a:r>
            <a:r>
              <a:rPr lang="en-US" sz="4000" dirty="0" smtClean="0">
                <a:latin typeface="Tw Cen MT" panose="020B0602020104020603" pitchFamily="34" charset="0"/>
              </a:rPr>
              <a:t>livestock :  </a:t>
            </a:r>
            <a:r>
              <a:rPr lang="en-US" sz="4000" dirty="0">
                <a:latin typeface="Tw Cen MT" panose="020B0602020104020603" pitchFamily="34" charset="0"/>
              </a:rPr>
              <a:t>Available</a:t>
            </a:r>
            <a:r>
              <a:rPr lang="en-US" sz="4000" dirty="0" smtClean="0">
                <a:latin typeface="Tw Cen MT" panose="020B0602020104020603" pitchFamily="34" charset="0"/>
              </a:rPr>
              <a:t/>
            </a:r>
            <a:br>
              <a:rPr lang="en-US" sz="4000" dirty="0" smtClean="0">
                <a:latin typeface="Tw Cen MT" panose="020B0602020104020603" pitchFamily="34" charset="0"/>
              </a:rPr>
            </a:br>
            <a:r>
              <a:rPr lang="en-US" sz="4000" dirty="0">
                <a:latin typeface="Tw Cen MT" panose="020B0602020104020603" pitchFamily="34" charset="0"/>
              </a:rPr>
              <a:t>Milk </a:t>
            </a:r>
            <a:r>
              <a:rPr lang="en-US" sz="4000" dirty="0" smtClean="0">
                <a:latin typeface="Tw Cen MT" panose="020B0602020104020603" pitchFamily="34" charset="0"/>
              </a:rPr>
              <a:t>yields :  </a:t>
            </a:r>
            <a:r>
              <a:rPr lang="en-US" sz="4000" dirty="0">
                <a:latin typeface="Tw Cen MT" panose="020B0602020104020603" pitchFamily="34" charset="0"/>
              </a:rPr>
              <a:t>Below potential</a:t>
            </a:r>
            <a:r>
              <a:rPr lang="en-US" sz="4000" dirty="0" smtClean="0">
                <a:latin typeface="Tw Cen MT" panose="020B0602020104020603" pitchFamily="34" charset="0"/>
              </a:rPr>
              <a:t/>
            </a:r>
            <a:br>
              <a:rPr lang="en-US" sz="4000" dirty="0" smtClean="0">
                <a:latin typeface="Tw Cen MT" panose="020B0602020104020603" pitchFamily="34" charset="0"/>
              </a:rPr>
            </a:br>
            <a:r>
              <a:rPr lang="en-US" sz="4000" dirty="0">
                <a:latin typeface="Tw Cen MT" panose="020B0602020104020603" pitchFamily="34" charset="0"/>
              </a:rPr>
              <a:t>Animal feed </a:t>
            </a:r>
            <a:r>
              <a:rPr lang="en-US" sz="4000" dirty="0" smtClean="0">
                <a:latin typeface="Tw Cen MT" panose="020B0602020104020603" pitchFamily="34" charset="0"/>
              </a:rPr>
              <a:t> : </a:t>
            </a:r>
            <a:r>
              <a:rPr lang="en-US" sz="4000" dirty="0">
                <a:latin typeface="Tw Cen MT" panose="020B0602020104020603" pitchFamily="34" charset="0"/>
              </a:rPr>
              <a:t>Reliance on costly imported concentrates</a:t>
            </a:r>
            <a:r>
              <a:rPr lang="en-US" sz="4000" dirty="0" smtClean="0">
                <a:latin typeface="Tw Cen MT" panose="020B0602020104020603" pitchFamily="34" charset="0"/>
              </a:rPr>
              <a:t/>
            </a:r>
            <a:br>
              <a:rPr lang="en-US" sz="4000" dirty="0" smtClean="0">
                <a:latin typeface="Tw Cen MT" panose="020B0602020104020603" pitchFamily="34" charset="0"/>
              </a:rPr>
            </a:br>
            <a:r>
              <a:rPr lang="en-US" sz="4000" dirty="0">
                <a:latin typeface="Tw Cen MT" panose="020B0602020104020603" pitchFamily="34" charset="0"/>
              </a:rPr>
              <a:t>Climate </a:t>
            </a:r>
            <a:r>
              <a:rPr lang="en-US" sz="4000" dirty="0" smtClean="0">
                <a:latin typeface="Tw Cen MT" panose="020B0602020104020603" pitchFamily="34" charset="0"/>
              </a:rPr>
              <a:t>: </a:t>
            </a:r>
            <a:r>
              <a:rPr lang="en-US" sz="4000" dirty="0">
                <a:latin typeface="Tw Cen MT" panose="020B0602020104020603" pitchFamily="34" charset="0"/>
              </a:rPr>
              <a:t>Dry spells affect productivity</a:t>
            </a:r>
            <a:r>
              <a:rPr lang="en-US" sz="4000" dirty="0" smtClean="0">
                <a:latin typeface="Tw Cen MT" panose="020B0602020104020603" pitchFamily="34" charset="0"/>
              </a:rPr>
              <a:t/>
            </a:r>
            <a:br>
              <a:rPr lang="en-US" sz="4000" dirty="0" smtClean="0">
                <a:latin typeface="Tw Cen MT" panose="020B0602020104020603" pitchFamily="34" charset="0"/>
              </a:rPr>
            </a:br>
            <a:r>
              <a:rPr lang="en-US" sz="4000" dirty="0">
                <a:latin typeface="Tw Cen MT" panose="020B0602020104020603" pitchFamily="34" charset="0"/>
              </a:rPr>
              <a:t>Digital </a:t>
            </a:r>
            <a:r>
              <a:rPr lang="en-US" sz="4000" dirty="0" smtClean="0">
                <a:latin typeface="Tw Cen MT" panose="020B0602020104020603" pitchFamily="34" charset="0"/>
              </a:rPr>
              <a:t>extension: </a:t>
            </a:r>
            <a:r>
              <a:rPr lang="en-US" sz="4000" dirty="0">
                <a:latin typeface="Tw Cen MT" panose="020B0602020104020603" pitchFamily="34" charset="0"/>
              </a:rPr>
              <a:t>Limited real-time data for </a:t>
            </a:r>
            <a:r>
              <a:rPr lang="en-US" sz="4000" dirty="0" smtClean="0">
                <a:latin typeface="Tw Cen MT" panose="020B0602020104020603" pitchFamily="34" charset="0"/>
              </a:rPr>
              <a:t>farmers</a:t>
            </a:r>
          </a:p>
          <a:p>
            <a:pPr marL="0" indent="0">
              <a:buNone/>
            </a:pPr>
            <a:r>
              <a:rPr lang="en-US" sz="3200" dirty="0" smtClean="0">
                <a:latin typeface="Tw Cen MT" panose="020B0602020104020603" pitchFamily="34" charset="0"/>
              </a:rPr>
              <a:t/>
            </a:r>
            <a:br>
              <a:rPr lang="en-US" sz="3200" dirty="0" smtClean="0">
                <a:latin typeface="Tw Cen MT" panose="020B0602020104020603" pitchFamily="34" charset="0"/>
              </a:rPr>
            </a:br>
            <a:endParaRPr lang="en-US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4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Feed plant </a:t>
            </a:r>
            <a:r>
              <a:rPr lang="en-US" dirty="0" smtClean="0"/>
              <a:t>:  </a:t>
            </a:r>
            <a:r>
              <a:rPr lang="en-US" dirty="0"/>
              <a:t>12,000 tons/year capacity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Proposed crop production : </a:t>
            </a:r>
            <a:r>
              <a:rPr lang="en-US" dirty="0"/>
              <a:t>300 ha (maize, soy, sunflower, beans, sweet potatoes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Proposed  horticulture : </a:t>
            </a:r>
            <a:r>
              <a:rPr lang="en-US" dirty="0"/>
              <a:t>200 ha (avocado, passion fruit, apple banana, olive, pomegranate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Proposed Dairy processing : </a:t>
            </a:r>
            <a:r>
              <a:rPr lang="en-US" dirty="0"/>
              <a:t>Cheese, ghee, butter (cooperative-led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Proposed renewable </a:t>
            </a:r>
            <a:r>
              <a:rPr lang="en-US" dirty="0"/>
              <a:t>energy </a:t>
            </a:r>
            <a:r>
              <a:rPr lang="en-US" dirty="0" smtClean="0"/>
              <a:t> : </a:t>
            </a:r>
            <a:r>
              <a:rPr lang="en-US" dirty="0"/>
              <a:t>Solar + </a:t>
            </a:r>
            <a:r>
              <a:rPr lang="en-US" dirty="0" smtClean="0"/>
              <a:t>biogas</a:t>
            </a:r>
          </a:p>
          <a:p>
            <a:pPr marL="0" indent="0">
              <a:buNone/>
            </a:pPr>
            <a:r>
              <a:rPr lang="en-US" dirty="0" smtClean="0"/>
              <a:t>Proposed </a:t>
            </a:r>
            <a:r>
              <a:rPr lang="en-US" dirty="0" err="1" smtClean="0"/>
              <a:t>MooMe</a:t>
            </a:r>
            <a:r>
              <a:rPr lang="en-US" dirty="0" smtClean="0"/>
              <a:t> </a:t>
            </a:r>
            <a:r>
              <a:rPr lang="en-US" dirty="0" err="1"/>
              <a:t>IoT</a:t>
            </a:r>
            <a:r>
              <a:rPr lang="en-US" dirty="0"/>
              <a:t>-AI </a:t>
            </a:r>
            <a:r>
              <a:rPr lang="en-US" dirty="0" smtClean="0"/>
              <a:t>platform : </a:t>
            </a:r>
            <a:r>
              <a:rPr lang="en-US" dirty="0"/>
              <a:t>Smart collars, sensors, mobile app – Piloted </a:t>
            </a:r>
            <a:r>
              <a:rPr lang="en-US" dirty="0" smtClean="0"/>
              <a:t>(</a:t>
            </a:r>
            <a:r>
              <a:rPr lang="en-US" dirty="0" err="1" smtClean="0"/>
              <a:t>Nyagatare</a:t>
            </a:r>
            <a:r>
              <a:rPr lang="en-US" dirty="0" smtClean="0"/>
              <a:t> district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16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MooMe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-AI Platform – Pilot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/>
              <a:t>What is </a:t>
            </a:r>
            <a:r>
              <a:rPr lang="en-US" sz="3600" dirty="0" err="1"/>
              <a:t>MooMe</a:t>
            </a:r>
            <a:r>
              <a:rPr lang="en-US" sz="3600" dirty="0"/>
              <a:t>? 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Mobile </a:t>
            </a:r>
            <a:r>
              <a:rPr lang="en-US" sz="3600" dirty="0"/>
              <a:t>monitoring &amp; measurement </a:t>
            </a:r>
            <a:r>
              <a:rPr lang="en-US" sz="3600" dirty="0" err="1"/>
              <a:t>IoT</a:t>
            </a:r>
            <a:r>
              <a:rPr lang="en-US" sz="3600" dirty="0"/>
              <a:t>-AI platform for Rwanda's dairy sector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District </a:t>
            </a:r>
            <a:r>
              <a:rPr lang="en-US" sz="3600" dirty="0"/>
              <a:t>piloted </a:t>
            </a:r>
            <a:r>
              <a:rPr lang="en-US" sz="3600" dirty="0" smtClean="0"/>
              <a:t>: </a:t>
            </a:r>
            <a:r>
              <a:rPr lang="en-US" sz="3600" dirty="0" err="1" smtClean="0"/>
              <a:t>Nyagatare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/>
              <a:t>Farmers equipped </a:t>
            </a:r>
            <a:r>
              <a:rPr lang="en-US" sz="3600" dirty="0" smtClean="0"/>
              <a:t>: 200</a:t>
            </a:r>
            <a:br>
              <a:rPr lang="en-US" sz="3600" dirty="0" smtClean="0"/>
            </a:br>
            <a:r>
              <a:rPr lang="en-US" sz="3600" dirty="0"/>
              <a:t>Facilitators </a:t>
            </a:r>
            <a:r>
              <a:rPr lang="en-US" sz="3600" dirty="0" smtClean="0"/>
              <a:t>trained :</a:t>
            </a:r>
            <a:r>
              <a:rPr lang="en-US" sz="3600" dirty="0" smtClean="0"/>
              <a:t>60Master </a:t>
            </a:r>
            <a:r>
              <a:rPr lang="en-US" sz="3600" dirty="0"/>
              <a:t>trainers </a:t>
            </a:r>
            <a:r>
              <a:rPr lang="en-US" sz="3600" dirty="0" smtClean="0"/>
              <a:t>:2</a:t>
            </a:r>
            <a:br>
              <a:rPr lang="en-US" sz="3600" dirty="0" smtClean="0"/>
            </a:br>
            <a:r>
              <a:rPr lang="en-US" sz="3600" dirty="0"/>
              <a:t>Women &amp; youth target </a:t>
            </a:r>
            <a:r>
              <a:rPr lang="en-US" sz="3600" dirty="0" smtClean="0"/>
              <a:t>:  </a:t>
            </a:r>
            <a:r>
              <a:rPr lang="en-US" sz="3600" dirty="0"/>
              <a:t>80</a:t>
            </a:r>
            <a:r>
              <a:rPr lang="en-US" sz="3600" dirty="0" smtClean="0"/>
              <a:t>%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1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w Cen MT" panose="020B0602020104020603" pitchFamily="34" charset="0"/>
              </a:rPr>
              <a:t>MooMe</a:t>
            </a:r>
            <a:r>
              <a:rPr lang="en-US" dirty="0">
                <a:latin typeface="Tw Cen MT" panose="020B0602020104020603" pitchFamily="34" charset="0"/>
              </a:rPr>
              <a:t> – Technical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w Cen MT" panose="020B0602020104020603" pitchFamily="34" charset="0"/>
              </a:rPr>
              <a:t>Smart collars (GPS + temp + activity) </a:t>
            </a:r>
            <a:endParaRPr lang="en-US" dirty="0" smtClean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Location</a:t>
            </a:r>
            <a:r>
              <a:rPr lang="en-US" dirty="0">
                <a:latin typeface="Tw Cen MT" panose="020B0602020104020603" pitchFamily="34" charset="0"/>
              </a:rPr>
              <a:t>, health, </a:t>
            </a:r>
            <a:r>
              <a:rPr lang="en-US" dirty="0" smtClean="0">
                <a:latin typeface="Tw Cen MT" panose="020B0602020104020603" pitchFamily="34" charset="0"/>
              </a:rPr>
              <a:t>behavior, Rumen/ear </a:t>
            </a:r>
            <a:r>
              <a:rPr lang="en-US" dirty="0">
                <a:latin typeface="Tw Cen MT" panose="020B0602020104020603" pitchFamily="34" charset="0"/>
              </a:rPr>
              <a:t>tag </a:t>
            </a:r>
            <a:r>
              <a:rPr lang="en-US" dirty="0" smtClean="0">
                <a:latin typeface="Tw Cen MT" panose="020B0602020104020603" pitchFamily="34" charset="0"/>
              </a:rPr>
              <a:t>sensors, </a:t>
            </a:r>
            <a:r>
              <a:rPr lang="en-US" dirty="0">
                <a:latin typeface="Tw Cen MT" panose="020B0602020104020603" pitchFamily="34" charset="0"/>
              </a:rPr>
              <a:t>Heat detection, rumination</a:t>
            </a:r>
            <a:r>
              <a:rPr lang="en-US" dirty="0" smtClean="0">
                <a:latin typeface="Tw Cen MT" panose="020B0602020104020603" pitchFamily="34" charset="0"/>
              </a:rPr>
              <a:t/>
            </a:r>
            <a:br>
              <a:rPr lang="en-US" dirty="0" smtClean="0">
                <a:latin typeface="Tw Cen MT" panose="020B0602020104020603" pitchFamily="34" charset="0"/>
              </a:rPr>
            </a:br>
            <a:r>
              <a:rPr lang="en-US" dirty="0" err="1">
                <a:latin typeface="Tw Cen MT" panose="020B0602020104020603" pitchFamily="34" charset="0"/>
              </a:rPr>
              <a:t>IoT</a:t>
            </a:r>
            <a:r>
              <a:rPr lang="en-US" dirty="0">
                <a:latin typeface="Tw Cen MT" panose="020B0602020104020603" pitchFamily="34" charset="0"/>
              </a:rPr>
              <a:t> gateways </a:t>
            </a:r>
            <a:r>
              <a:rPr lang="en-US" dirty="0" smtClean="0">
                <a:latin typeface="Tw Cen MT" panose="020B0602020104020603" pitchFamily="34" charset="0"/>
              </a:rPr>
              <a:t>: </a:t>
            </a:r>
            <a:r>
              <a:rPr lang="en-US" dirty="0">
                <a:latin typeface="Tw Cen MT" panose="020B0602020104020603" pitchFamily="34" charset="0"/>
              </a:rPr>
              <a:t>Data transmission</a:t>
            </a:r>
            <a:r>
              <a:rPr lang="en-US" dirty="0" smtClean="0">
                <a:latin typeface="Tw Cen MT" panose="020B0602020104020603" pitchFamily="34" charset="0"/>
              </a:rPr>
              <a:t/>
            </a:r>
            <a:br>
              <a:rPr lang="en-US" dirty="0" smtClean="0">
                <a:latin typeface="Tw Cen MT" panose="020B0602020104020603" pitchFamily="34" charset="0"/>
              </a:rPr>
            </a:br>
            <a:r>
              <a:rPr lang="en-US" dirty="0">
                <a:latin typeface="Tw Cen MT" panose="020B0602020104020603" pitchFamily="34" charset="0"/>
              </a:rPr>
              <a:t>Android tablets </a:t>
            </a:r>
            <a:r>
              <a:rPr lang="en-US" dirty="0" smtClean="0">
                <a:latin typeface="Tw Cen MT" panose="020B0602020104020603" pitchFamily="34" charset="0"/>
              </a:rPr>
              <a:t>: </a:t>
            </a:r>
            <a:r>
              <a:rPr lang="en-US" dirty="0">
                <a:latin typeface="Tw Cen MT" panose="020B0602020104020603" pitchFamily="34" charset="0"/>
              </a:rPr>
              <a:t>Master trainer interface</a:t>
            </a:r>
            <a:r>
              <a:rPr lang="en-US" dirty="0" smtClean="0">
                <a:latin typeface="Tw Cen MT" panose="020B0602020104020603" pitchFamily="34" charset="0"/>
              </a:rPr>
              <a:t/>
            </a:r>
            <a:br>
              <a:rPr lang="en-US" dirty="0" smtClean="0">
                <a:latin typeface="Tw Cen MT" panose="020B0602020104020603" pitchFamily="34" charset="0"/>
              </a:rPr>
            </a:br>
            <a:r>
              <a:rPr lang="en-US" dirty="0">
                <a:latin typeface="Tw Cen MT" panose="020B0602020104020603" pitchFamily="34" charset="0"/>
              </a:rPr>
              <a:t>Mobile app (Kinyarwanda + English) </a:t>
            </a:r>
            <a:r>
              <a:rPr lang="en-US" dirty="0" smtClean="0">
                <a:latin typeface="Tw Cen MT" panose="020B0602020104020603" pitchFamily="34" charset="0"/>
              </a:rPr>
              <a:t>: </a:t>
            </a:r>
            <a:r>
              <a:rPr lang="en-US" dirty="0">
                <a:latin typeface="Tw Cen MT" panose="020B0602020104020603" pitchFamily="34" charset="0"/>
              </a:rPr>
              <a:t>Farmer alerts, recommendations</a:t>
            </a:r>
            <a:r>
              <a:rPr lang="en-US" dirty="0" smtClean="0">
                <a:latin typeface="Tw Cen MT" panose="020B0602020104020603" pitchFamily="34" charset="0"/>
              </a:rPr>
              <a:t/>
            </a:r>
            <a:br>
              <a:rPr lang="en-US" dirty="0" smtClean="0">
                <a:latin typeface="Tw Cen MT" panose="020B0602020104020603" pitchFamily="34" charset="0"/>
              </a:rPr>
            </a:br>
            <a:r>
              <a:rPr lang="en-US" dirty="0">
                <a:latin typeface="Tw Cen MT" panose="020B0602020104020603" pitchFamily="34" charset="0"/>
              </a:rPr>
              <a:t>Web dashboard </a:t>
            </a:r>
            <a:r>
              <a:rPr lang="en-US" dirty="0" smtClean="0">
                <a:latin typeface="Tw Cen MT" panose="020B0602020104020603" pitchFamily="34" charset="0"/>
              </a:rPr>
              <a:t>: </a:t>
            </a:r>
            <a:r>
              <a:rPr lang="en-US" dirty="0">
                <a:latin typeface="Tw Cen MT" panose="020B0602020104020603" pitchFamily="34" charset="0"/>
              </a:rPr>
              <a:t>Cooperative management</a:t>
            </a:r>
            <a:r>
              <a:rPr lang="en-US" dirty="0" smtClean="0">
                <a:latin typeface="Tw Cen MT" panose="020B0602020104020603" pitchFamily="34" charset="0"/>
              </a:rPr>
              <a:t/>
            </a:r>
            <a:br>
              <a:rPr lang="en-US" dirty="0" smtClean="0">
                <a:latin typeface="Tw Cen MT" panose="020B0602020104020603" pitchFamily="34" charset="0"/>
              </a:rPr>
            </a:br>
            <a:r>
              <a:rPr lang="en-US" dirty="0">
                <a:latin typeface="Tw Cen MT" panose="020B0602020104020603" pitchFamily="34" charset="0"/>
              </a:rPr>
              <a:t>SMS/USSD gateway </a:t>
            </a:r>
            <a:r>
              <a:rPr lang="en-US" dirty="0" smtClean="0">
                <a:latin typeface="Tw Cen MT" panose="020B0602020104020603" pitchFamily="34" charset="0"/>
              </a:rPr>
              <a:t>: </a:t>
            </a:r>
            <a:r>
              <a:rPr lang="en-US" dirty="0">
                <a:latin typeface="Tw Cen MT" panose="020B0602020104020603" pitchFamily="34" charset="0"/>
              </a:rPr>
              <a:t>Text alerts for non-smartphone users</a:t>
            </a:r>
          </a:p>
        </p:txBody>
      </p:sp>
    </p:spTree>
    <p:extLst>
      <p:ext uri="{BB962C8B-B14F-4D97-AF65-F5344CB8AC3E}">
        <p14:creationId xmlns:p14="http://schemas.microsoft.com/office/powerpoint/2010/main" val="163254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GB" b="1" dirty="0"/>
              <a:t>MOOME – </a:t>
            </a:r>
            <a:r>
              <a:rPr lang="en-GB" b="1" dirty="0" smtClean="0"/>
              <a:t> </a:t>
            </a:r>
            <a:r>
              <a:rPr lang="en-GB" b="1" dirty="0"/>
              <a:t>BUDGET (NYAGATARE </a:t>
            </a:r>
            <a:r>
              <a:rPr lang="en-GB" b="1" dirty="0" smtClean="0"/>
              <a:t>)</a:t>
            </a:r>
            <a:r>
              <a:rPr lang="en-GB" b="1" dirty="0"/>
              <a:t/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Title:</a:t>
            </a:r>
            <a:r>
              <a:rPr lang="en-US" dirty="0"/>
              <a:t> Total Investment for </a:t>
            </a:r>
            <a:r>
              <a:rPr lang="en-US" dirty="0" err="1"/>
              <a:t>Nyagatare</a:t>
            </a:r>
            <a:r>
              <a:rPr lang="en-US" dirty="0"/>
              <a:t> – USD 620,000 </a:t>
            </a:r>
          </a:p>
          <a:p>
            <a:r>
              <a:rPr lang="en-US" b="1" dirty="0"/>
              <a:t>Category – % – Amount (USD)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Personnel &amp; HR </a:t>
            </a:r>
            <a:r>
              <a:rPr lang="en-US" dirty="0" smtClean="0"/>
              <a:t>– 26% – </a:t>
            </a:r>
            <a:r>
              <a:rPr lang="en-US" dirty="0"/>
              <a:t>160,000</a:t>
            </a:r>
            <a:br>
              <a:rPr lang="en-US" dirty="0"/>
            </a:br>
            <a:r>
              <a:rPr lang="en-US" dirty="0"/>
              <a:t>Devices &amp; Hardware </a:t>
            </a:r>
            <a:r>
              <a:rPr lang="en-US" dirty="0" smtClean="0"/>
              <a:t>– 15% </a:t>
            </a:r>
            <a:r>
              <a:rPr lang="en-US" dirty="0"/>
              <a:t>– 90,000</a:t>
            </a:r>
            <a:br>
              <a:rPr lang="en-US" dirty="0"/>
            </a:br>
            <a:r>
              <a:rPr lang="en-US" dirty="0"/>
              <a:t>Training &amp; Capacity </a:t>
            </a:r>
            <a:r>
              <a:rPr lang="en-US" dirty="0" smtClean="0"/>
              <a:t>– 15% </a:t>
            </a:r>
            <a:r>
              <a:rPr lang="en-US" dirty="0"/>
              <a:t>– 90,000</a:t>
            </a:r>
            <a:br>
              <a:rPr lang="en-US" dirty="0"/>
            </a:br>
            <a:r>
              <a:rPr lang="en-US" dirty="0"/>
              <a:t>Software &amp; Digital </a:t>
            </a:r>
            <a:r>
              <a:rPr lang="en-US" dirty="0" smtClean="0"/>
              <a:t>– 17% </a:t>
            </a:r>
            <a:r>
              <a:rPr lang="en-US" dirty="0"/>
              <a:t>– 105,000</a:t>
            </a:r>
            <a:br>
              <a:rPr lang="en-US" dirty="0"/>
            </a:br>
            <a:r>
              <a:rPr lang="en-US" dirty="0"/>
              <a:t>Research &amp; M&amp;E </a:t>
            </a:r>
            <a:r>
              <a:rPr lang="en-US" dirty="0" smtClean="0"/>
              <a:t>– 3% – </a:t>
            </a:r>
            <a:r>
              <a:rPr lang="en-US" dirty="0"/>
              <a:t>20,000</a:t>
            </a:r>
            <a:br>
              <a:rPr lang="en-US" dirty="0"/>
            </a:br>
            <a:r>
              <a:rPr lang="en-US" dirty="0"/>
              <a:t>Logistics &amp; Transport – 3% – 20,000</a:t>
            </a:r>
            <a:br>
              <a:rPr lang="en-US" dirty="0"/>
            </a:br>
            <a:r>
              <a:rPr lang="en-US" dirty="0"/>
              <a:t>Workshops – 2% – 10,000</a:t>
            </a:r>
            <a:br>
              <a:rPr lang="en-US" dirty="0"/>
            </a:br>
            <a:r>
              <a:rPr lang="en-US" dirty="0"/>
              <a:t>Administration – 2% – 15,000</a:t>
            </a:r>
            <a:br>
              <a:rPr lang="en-US" dirty="0"/>
            </a:br>
            <a:r>
              <a:rPr lang="en-US" dirty="0"/>
              <a:t>Contingency (10%) – 10% – 62,000</a:t>
            </a:r>
            <a:br>
              <a:rPr lang="en-US" dirty="0"/>
            </a:br>
            <a:r>
              <a:rPr lang="en-US" dirty="0"/>
              <a:t>Contingency – 7% – 48,000 (adjusted)</a:t>
            </a:r>
            <a:br>
              <a:rPr lang="en-US" dirty="0"/>
            </a:br>
            <a:r>
              <a:rPr lang="en-US" dirty="0"/>
              <a:t>Total – 100% – 620,000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57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RESULTS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Indicator – Target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Feed production annually – 12,000 metric </a:t>
            </a:r>
            <a:r>
              <a:rPr lang="en-GB" dirty="0" smtClean="0"/>
              <a:t>tons</a:t>
            </a:r>
            <a:br>
              <a:rPr lang="en-GB" dirty="0" smtClean="0"/>
            </a:br>
            <a:r>
              <a:rPr lang="en-GB" dirty="0"/>
              <a:t>Milk yield increase – 30-50%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Feed cost reduction – </a:t>
            </a:r>
            <a:r>
              <a:rPr lang="en-GB" dirty="0" smtClean="0"/>
              <a:t>20-40% </a:t>
            </a:r>
            <a:br>
              <a:rPr lang="en-GB" dirty="0" smtClean="0"/>
            </a:br>
            <a:r>
              <a:rPr lang="en-GB" dirty="0"/>
              <a:t>Farmers with +30% income – 750 (scaled from </a:t>
            </a:r>
            <a:r>
              <a:rPr lang="en-GB" dirty="0" smtClean="0"/>
              <a:t>4,500)</a:t>
            </a:r>
            <a:br>
              <a:rPr lang="en-GB" dirty="0" smtClean="0"/>
            </a:br>
            <a:r>
              <a:rPr lang="en-GB" dirty="0"/>
              <a:t>New jobs created – </a:t>
            </a:r>
            <a:r>
              <a:rPr lang="en-GB" dirty="0" smtClean="0"/>
              <a:t>35</a:t>
            </a:r>
            <a:br>
              <a:rPr lang="en-GB" dirty="0" smtClean="0"/>
            </a:br>
            <a:r>
              <a:rPr lang="en-GB" dirty="0"/>
              <a:t>Fruit exports (Year 3) – RWF </a:t>
            </a:r>
            <a:r>
              <a:rPr lang="en-GB" dirty="0" smtClean="0"/>
              <a:t>42M</a:t>
            </a:r>
            <a:br>
              <a:rPr lang="en-GB" dirty="0" smtClean="0"/>
            </a:br>
            <a:r>
              <a:rPr lang="en-GB" dirty="0"/>
              <a:t>Women &amp; youth beneficiaries – 80%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Waste reduction – </a:t>
            </a:r>
            <a:r>
              <a:rPr lang="en-GB" dirty="0" smtClean="0"/>
              <a:t>35%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97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/>
              <a:t>LOGICAL FRAMEWORK FOR 200 FARMERS 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Level         – Indicator     – Means of Verification – Assumption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Impact – Milk yield +30% – National dairy stats – Stable policy support</a:t>
            </a:r>
          </a:p>
          <a:p>
            <a:pPr marL="0" indent="0">
              <a:buNone/>
            </a:pPr>
            <a:r>
              <a:rPr lang="en-GB" dirty="0" smtClean="0"/>
              <a:t>Outcome – Adoption rate 80% – App usage data – Farmer willingness</a:t>
            </a:r>
          </a:p>
          <a:p>
            <a:pPr marL="0" indent="0">
              <a:buNone/>
            </a:pPr>
            <a:r>
              <a:rPr lang="en-GB" dirty="0" smtClean="0"/>
              <a:t>Output – 200 farmers trained – Training reports – Participation active</a:t>
            </a:r>
          </a:p>
          <a:p>
            <a:pPr marL="0" indent="0">
              <a:buNone/>
            </a:pPr>
            <a:r>
              <a:rPr lang="en-GB" dirty="0" smtClean="0"/>
              <a:t>Activities – Deploy </a:t>
            </a:r>
            <a:r>
              <a:rPr lang="en-GB" dirty="0" err="1" smtClean="0"/>
              <a:t>IoT</a:t>
            </a:r>
            <a:r>
              <a:rPr lang="en-GB" dirty="0" smtClean="0"/>
              <a:t> devices – Field reports – Timely procurement</a:t>
            </a:r>
          </a:p>
          <a:p>
            <a:pPr marL="0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47364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Risk – Likelihood – Mitigation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Low tech adoption – Medium – Training &amp; support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Device failure – Medium – Maintenance plan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Data privacy issues – Low – Secure systems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>Climate shocks – High – Adaptive AI alerts</a:t>
            </a:r>
          </a:p>
        </p:txBody>
      </p:sp>
    </p:spTree>
    <p:extLst>
      <p:ext uri="{BB962C8B-B14F-4D97-AF65-F5344CB8AC3E}">
        <p14:creationId xmlns:p14="http://schemas.microsoft.com/office/powerpoint/2010/main" val="56271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MONITORING &amp; EVALUATION PLAN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Activity </a:t>
            </a:r>
            <a:r>
              <a:rPr lang="en-US" b="1" dirty="0"/>
              <a:t>– </a:t>
            </a:r>
            <a:r>
              <a:rPr lang="en-US" b="1" dirty="0" smtClean="0"/>
              <a:t>Description</a:t>
            </a:r>
          </a:p>
          <a:p>
            <a:pPr marL="0" indent="0"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Baseline survey – Data before intervention (200 farmers)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Midline survey – Mid-term assessment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err="1"/>
              <a:t>Endline</a:t>
            </a:r>
            <a:r>
              <a:rPr lang="en-US" sz="3200" dirty="0"/>
              <a:t> survey – Final evaluation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Real-time </a:t>
            </a:r>
            <a:r>
              <a:rPr lang="en-US" sz="3200" dirty="0" err="1"/>
              <a:t>IoT</a:t>
            </a:r>
            <a:r>
              <a:rPr lang="en-US" sz="3200" dirty="0"/>
              <a:t> data tracking – Continuous monitoring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Monthly performance reviews – Internal review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KPI dashboards – Milk yield, health alerts, adoption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>Quarterly reporting – To FAO and partners</a:t>
            </a:r>
          </a:p>
        </p:txBody>
      </p:sp>
    </p:spTree>
    <p:extLst>
      <p:ext uri="{BB962C8B-B14F-4D97-AF65-F5344CB8AC3E}">
        <p14:creationId xmlns:p14="http://schemas.microsoft.com/office/powerpoint/2010/main" val="400566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GENDER &amp; YOUTH INCLUSION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Commitment – Target – </a:t>
            </a:r>
            <a:r>
              <a:rPr lang="en-GB" b="1" dirty="0" smtClean="0"/>
              <a:t>Source</a:t>
            </a:r>
          </a:p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Women &amp; youth in </a:t>
            </a:r>
            <a:r>
              <a:rPr lang="en-GB" dirty="0" err="1"/>
              <a:t>MooMe</a:t>
            </a:r>
            <a:r>
              <a:rPr lang="en-GB" dirty="0"/>
              <a:t> training – 80% – </a:t>
            </a:r>
            <a:r>
              <a:rPr lang="en-GB" dirty="0" err="1"/>
              <a:t>MooMe</a:t>
            </a:r>
            <a:r>
              <a:rPr lang="en-GB" dirty="0"/>
              <a:t> pitch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Women &amp; youth in WOREX beneficiaries – 40% minimum – WOREX concept note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Women-led fruit export cooperatives – 20% of exports – WOREX concept note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Leadership roles for women in </a:t>
            </a:r>
            <a:r>
              <a:rPr lang="en-GB" dirty="0" err="1"/>
              <a:t>ToT</a:t>
            </a:r>
            <a:r>
              <a:rPr lang="en-GB" dirty="0"/>
              <a:t> – Guaranteed – FAO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5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PARTNERSHIPS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Partner – Role – </a:t>
            </a:r>
            <a:r>
              <a:rPr lang="en-US" b="1" dirty="0" smtClean="0"/>
              <a:t>Status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FAO Rwanda – Technical &amp; funding support – Proposal to be submitted (adjusted)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RAB – Policy alignment – Engaged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MINAGRI – National dairy strategy – Consultation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Nyagatare</a:t>
            </a:r>
            <a:r>
              <a:rPr lang="en-US" dirty="0"/>
              <a:t> District – Local government – Engaged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University of Kigali – Research – Memorandum pending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Farmer cooperatives – Implementation – Active (</a:t>
            </a:r>
            <a:r>
              <a:rPr lang="en-US" dirty="0" err="1"/>
              <a:t>Nyagatare</a:t>
            </a:r>
            <a:r>
              <a:rPr lang="en-US" dirty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Women's agribusiness associations – Gender inclusion – Consultation</a:t>
            </a:r>
          </a:p>
        </p:txBody>
      </p:sp>
    </p:spTree>
    <p:extLst>
      <p:ext uri="{BB962C8B-B14F-4D97-AF65-F5344CB8AC3E}">
        <p14:creationId xmlns:p14="http://schemas.microsoft.com/office/powerpoint/2010/main" val="365434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IMPLEMENTATION TIMELINE – MOOME (NYAGATARE</a:t>
            </a:r>
            <a:r>
              <a:rPr lang="en-US" b="1" dirty="0" smtClean="0"/>
              <a:t>)</a:t>
            </a:r>
            <a:r>
              <a:rPr lang="en-GB" b="1" dirty="0" smtClean="0"/>
              <a:t> </a:t>
            </a:r>
            <a:r>
              <a:rPr lang="en-GB" dirty="0" smtClean="0"/>
              <a:t>12-Month Timeline</a:t>
            </a:r>
            <a:br>
              <a:rPr lang="en-GB" dirty="0" smtClean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Phase </a:t>
            </a:r>
            <a:r>
              <a:rPr lang="en-GB" b="1" dirty="0"/>
              <a:t>– Months – Activities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Phase 1 – Months 1-2 – Baseline survey (200 farmers), needs assessment, ethics approval</a:t>
            </a:r>
            <a:br>
              <a:rPr lang="en-GB" dirty="0"/>
            </a:br>
            <a:r>
              <a:rPr lang="en-GB" dirty="0"/>
              <a:t>Phase 2 – Months 3-5 – </a:t>
            </a:r>
            <a:r>
              <a:rPr lang="en-GB" dirty="0" err="1"/>
              <a:t>IoT</a:t>
            </a:r>
            <a:r>
              <a:rPr lang="en-GB" dirty="0"/>
              <a:t> procurement (200 units), app development, </a:t>
            </a:r>
            <a:r>
              <a:rPr lang="en-GB" dirty="0" err="1"/>
              <a:t>ToT</a:t>
            </a:r>
            <a:r>
              <a:rPr lang="en-GB" dirty="0"/>
              <a:t> training (2 master trainers, 20 facilitators)</a:t>
            </a:r>
            <a:br>
              <a:rPr lang="en-GB" dirty="0"/>
            </a:br>
            <a:r>
              <a:rPr lang="en-GB" dirty="0"/>
              <a:t>Phase 3 – Months 6-9 – Farmer training (200 farmers), device deployment, field testing</a:t>
            </a:r>
            <a:br>
              <a:rPr lang="en-GB" dirty="0"/>
            </a:br>
            <a:r>
              <a:rPr lang="en-GB" dirty="0"/>
              <a:t>Phase 4 – Months 10-12 – Data analysis, validation, reporting, dissemination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9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GB" dirty="0" smtClean="0"/>
              <a:t>WOREX Implementation </a:t>
            </a:r>
            <a:br>
              <a:rPr lang="en-GB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Phase </a:t>
            </a:r>
            <a:r>
              <a:rPr lang="en-GB" b="1" dirty="0"/>
              <a:t>– Duration – Activities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Phase 1 – 6 months – Feasibility study, stakeholder engagement, site preparation</a:t>
            </a:r>
            <a:br>
              <a:rPr lang="en-GB" dirty="0"/>
            </a:br>
            <a:r>
              <a:rPr lang="en-GB" dirty="0"/>
              <a:t>Phase 2 – 12 months – Feed plant construction, equipment, renewable energy</a:t>
            </a:r>
            <a:br>
              <a:rPr lang="en-GB" dirty="0"/>
            </a:br>
            <a:r>
              <a:rPr lang="en-GB" dirty="0"/>
              <a:t>Phase 3 – Ongoing – Farmer training, cooperative development</a:t>
            </a:r>
            <a:br>
              <a:rPr lang="en-GB" dirty="0"/>
            </a:br>
            <a:r>
              <a:rPr lang="en-GB" dirty="0"/>
              <a:t>Phase 4 – Year 2-3 – Scaling production, distribution, export readiness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76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SUSTAINABILITY </a:t>
            </a:r>
            <a:r>
              <a:rPr lang="en-US" b="1" dirty="0" smtClean="0"/>
              <a:t>MECHANISMS/</a:t>
            </a:r>
            <a:r>
              <a:rPr lang="en-US" dirty="0" smtClean="0"/>
              <a:t>Revenue Streams</a:t>
            </a:r>
            <a:br>
              <a:rPr lang="en-US" dirty="0" smtClean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Revenue </a:t>
            </a:r>
            <a:r>
              <a:rPr lang="en-US" b="1" dirty="0"/>
              <a:t>Stream – Mechanism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Feed sales – Direct farmer purchases</a:t>
            </a:r>
            <a:br>
              <a:rPr lang="en-US" dirty="0"/>
            </a:br>
            <a:r>
              <a:rPr lang="en-US" dirty="0"/>
              <a:t>Dairy processing – Cheese, ghee, butter sales</a:t>
            </a:r>
            <a:br>
              <a:rPr lang="en-US" dirty="0"/>
            </a:br>
            <a:r>
              <a:rPr lang="en-US" dirty="0"/>
              <a:t>Fruit exports – Regional &amp; international</a:t>
            </a:r>
            <a:br>
              <a:rPr lang="en-US" dirty="0"/>
            </a:br>
            <a:r>
              <a:rPr lang="en-US" dirty="0" err="1"/>
              <a:t>MooMe</a:t>
            </a:r>
            <a:r>
              <a:rPr lang="en-US" dirty="0"/>
              <a:t> platform – Subscription-based (post-pilot)</a:t>
            </a:r>
            <a:br>
              <a:rPr lang="en-US" dirty="0"/>
            </a:br>
            <a:r>
              <a:rPr lang="en-US" dirty="0"/>
              <a:t>Carbon credits – Potential future (biogas, pasture)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1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FUNDING REQUEST </a:t>
            </a:r>
            <a:r>
              <a:rPr lang="en-US" b="1" dirty="0" smtClean="0"/>
              <a:t>– NYAGATARE District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Title:</a:t>
            </a:r>
            <a:r>
              <a:rPr lang="en-GB" dirty="0"/>
              <a:t> Current Funding Status</a:t>
            </a:r>
          </a:p>
          <a:p>
            <a:r>
              <a:rPr lang="en-GB" b="1" dirty="0"/>
              <a:t>Component – Amount (USD) – Status</a:t>
            </a:r>
            <a:r>
              <a:rPr lang="en-GB" dirty="0"/>
              <a:t/>
            </a:r>
            <a:br>
              <a:rPr lang="en-GB" dirty="0"/>
            </a:br>
            <a:r>
              <a:rPr lang="en-GB" dirty="0" err="1"/>
              <a:t>MooMe</a:t>
            </a:r>
            <a:r>
              <a:rPr lang="en-GB" dirty="0"/>
              <a:t> </a:t>
            </a:r>
            <a:r>
              <a:rPr lang="en-GB" dirty="0" err="1"/>
              <a:t>Nyagatare</a:t>
            </a:r>
            <a:r>
              <a:rPr lang="en-GB" dirty="0"/>
              <a:t> pilot – 620,000 – Seeking funding</a:t>
            </a:r>
            <a:br>
              <a:rPr lang="en-GB" dirty="0"/>
            </a:br>
            <a:r>
              <a:rPr lang="en-GB" dirty="0"/>
              <a:t>WOREX integrated hub – To be determined – Under development</a:t>
            </a:r>
          </a:p>
          <a:p>
            <a:r>
              <a:rPr lang="en-GB" dirty="0"/>
              <a:t>We are seeking technical and financial partners to fund the </a:t>
            </a:r>
            <a:r>
              <a:rPr lang="en-GB" dirty="0" err="1"/>
              <a:t>Nyagatare</a:t>
            </a:r>
            <a:r>
              <a:rPr lang="en-GB" dirty="0"/>
              <a:t> pilot as a first step before national scale-up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5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DIPLOMATIC PARTNER REQUEST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Title:</a:t>
            </a:r>
            <a:r>
              <a:rPr lang="en-GB" dirty="0"/>
              <a:t> Request to Partners</a:t>
            </a:r>
          </a:p>
          <a:p>
            <a:r>
              <a:rPr lang="en-GB" b="1" dirty="0"/>
              <a:t>Request – Purpose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Technical review of WOREX integrated model – Validation and refinement</a:t>
            </a:r>
            <a:br>
              <a:rPr lang="en-GB" dirty="0"/>
            </a:br>
            <a:r>
              <a:rPr lang="en-GB" dirty="0"/>
              <a:t>Introduction to relevant funding mechanisms – Access to appropriate financing (USD 620,000 for </a:t>
            </a:r>
            <a:r>
              <a:rPr lang="en-GB" dirty="0" err="1"/>
              <a:t>MooMe</a:t>
            </a:r>
            <a:r>
              <a:rPr lang="en-GB" dirty="0"/>
              <a:t> </a:t>
            </a:r>
            <a:r>
              <a:rPr lang="en-GB" dirty="0" err="1"/>
              <a:t>Nyagatare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Site visit to </a:t>
            </a:r>
            <a:r>
              <a:rPr lang="en-GB" dirty="0" err="1"/>
              <a:t>Nyagatare</a:t>
            </a:r>
            <a:r>
              <a:rPr lang="en-GB" dirty="0"/>
              <a:t> – First-hand assessment</a:t>
            </a:r>
            <a:br>
              <a:rPr lang="en-GB" dirty="0"/>
            </a:br>
            <a:r>
              <a:rPr lang="en-GB" dirty="0"/>
              <a:t>Memorandum of understanding (MOU) – Framework for collaboration</a:t>
            </a:r>
          </a:p>
          <a:p>
            <a:r>
              <a:rPr lang="en-GB" dirty="0"/>
              <a:t>We are seeking dialogue, not immediate commitment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81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CONTACT INFORMATION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Title:</a:t>
            </a:r>
            <a:r>
              <a:rPr lang="en-US" dirty="0"/>
              <a:t> Contact</a:t>
            </a:r>
          </a:p>
          <a:p>
            <a:r>
              <a:rPr lang="en-US" dirty="0"/>
              <a:t>WORLD RESOURCES EXCHANGE LTD (WOREX)</a:t>
            </a:r>
            <a:br>
              <a:rPr lang="en-US" dirty="0"/>
            </a:br>
            <a:r>
              <a:rPr lang="en-US" dirty="0"/>
              <a:t>Tin: 102167877</a:t>
            </a:r>
            <a:br>
              <a:rPr lang="en-US" dirty="0"/>
            </a:br>
            <a:r>
              <a:rPr lang="en-US" dirty="0"/>
              <a:t>Address: </a:t>
            </a:r>
            <a:r>
              <a:rPr lang="en-US" dirty="0" err="1"/>
              <a:t>Nyagatare</a:t>
            </a:r>
            <a:r>
              <a:rPr lang="en-US" dirty="0"/>
              <a:t> Industrial Area, Rwanda</a:t>
            </a:r>
            <a:br>
              <a:rPr lang="en-US" dirty="0"/>
            </a:br>
            <a:r>
              <a:rPr lang="en-US" dirty="0"/>
              <a:t>Tel: +250788300975 / +250788587010</a:t>
            </a:r>
            <a:br>
              <a:rPr lang="en-US" dirty="0"/>
            </a:br>
            <a:r>
              <a:rPr lang="en-US" dirty="0"/>
              <a:t>Email: worexltd2010@gmail.com</a:t>
            </a:r>
          </a:p>
          <a:p>
            <a:r>
              <a:rPr lang="en-US" dirty="0"/>
              <a:t>Founders:</a:t>
            </a:r>
            <a:br>
              <a:rPr lang="en-US" dirty="0"/>
            </a:br>
            <a:r>
              <a:rPr lang="en-US" dirty="0"/>
              <a:t>Mr. Remy </a:t>
            </a:r>
            <a:r>
              <a:rPr lang="en-US" dirty="0" err="1"/>
              <a:t>Titien</a:t>
            </a:r>
            <a:r>
              <a:rPr lang="en-US" dirty="0"/>
              <a:t> </a:t>
            </a:r>
            <a:r>
              <a:rPr lang="en-US" dirty="0" err="1"/>
              <a:t>Niyireba</a:t>
            </a:r>
            <a:r>
              <a:rPr lang="en-US" dirty="0"/>
              <a:t> – Animal Scientist</a:t>
            </a:r>
            <a:br>
              <a:rPr lang="en-US" dirty="0"/>
            </a:br>
            <a:r>
              <a:rPr lang="en-US" dirty="0"/>
              <a:t>Mr. </a:t>
            </a:r>
            <a:r>
              <a:rPr lang="en-US" dirty="0" err="1"/>
              <a:t>Eugène</a:t>
            </a:r>
            <a:r>
              <a:rPr lang="en-US" dirty="0"/>
              <a:t> </a:t>
            </a:r>
            <a:r>
              <a:rPr lang="en-US" dirty="0" err="1"/>
              <a:t>Rusekampunzi</a:t>
            </a:r>
            <a:r>
              <a:rPr lang="en-US" dirty="0"/>
              <a:t> – Agricultural Development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4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CLOSING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r>
              <a:rPr lang="en-GB" b="1" dirty="0" smtClean="0"/>
              <a:t>Title</a:t>
            </a:r>
            <a:r>
              <a:rPr lang="en-GB" b="1" dirty="0"/>
              <a:t>:</a:t>
            </a:r>
            <a:r>
              <a:rPr lang="en-GB" dirty="0"/>
              <a:t> Thank You</a:t>
            </a:r>
          </a:p>
          <a:p>
            <a:pPr marL="0" indent="0">
              <a:buNone/>
            </a:pPr>
            <a:r>
              <a:rPr lang="en-GB" dirty="0"/>
              <a:t>"Resources are meant to be shared. We invite you to share your expertise, your network, </a:t>
            </a:r>
            <a:r>
              <a:rPr lang="en-GB" dirty="0" smtClean="0"/>
              <a:t>and </a:t>
            </a:r>
            <a:r>
              <a:rPr lang="en-GB" dirty="0"/>
              <a:t>where </a:t>
            </a:r>
            <a:r>
              <a:rPr lang="en-GB" dirty="0" smtClean="0"/>
              <a:t>appropriate </a:t>
            </a:r>
            <a:r>
              <a:rPr lang="en-GB" dirty="0"/>
              <a:t>your funding to help us build a resilient, climate-smart, gender-inclusive, and circular agribusiness ecosystem in </a:t>
            </a:r>
            <a:r>
              <a:rPr lang="en-GB" dirty="0" err="1"/>
              <a:t>Nyagatare</a:t>
            </a:r>
            <a:r>
              <a:rPr lang="en-GB" dirty="0"/>
              <a:t> District</a:t>
            </a:r>
            <a:r>
              <a:rPr lang="en-GB" dirty="0" smtClean="0"/>
              <a:t>.“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Q&amp;A </a:t>
            </a:r>
            <a:r>
              <a:rPr lang="en-GB" dirty="0"/>
              <a:t>| Technical Discussion | Partnership Exploration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2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4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298</Words>
  <Application>Microsoft Office PowerPoint</Application>
  <PresentationFormat>Widescreen</PresentationFormat>
  <Paragraphs>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Tw Cen MT</vt:lpstr>
      <vt:lpstr>Office Theme</vt:lpstr>
      <vt:lpstr> WORLD RESOURCES EXCHANGE LTD  (WOREX) </vt:lpstr>
      <vt:lpstr>WOREX Ltd – Company Overview</vt:lpstr>
      <vt:lpstr>Operating Context – Nyagatare District</vt:lpstr>
      <vt:lpstr>Proposed Components</vt:lpstr>
      <vt:lpstr>MooMe IoT-AI Platform – Pilot Status</vt:lpstr>
      <vt:lpstr>MooMe – Technical Components</vt:lpstr>
      <vt:lpstr> MOOME –  BUDGET (NYAGATARE ) </vt:lpstr>
      <vt:lpstr>EXPECTED RESULTS </vt:lpstr>
      <vt:lpstr>LOGICAL FRAMEWORK FOR 200 FARMERS </vt:lpstr>
      <vt:lpstr>RISK ANALYSIS </vt:lpstr>
      <vt:lpstr>MONITORING &amp; EVALUATION PLAN </vt:lpstr>
      <vt:lpstr>GENDER &amp; YOUTH INCLUSION </vt:lpstr>
      <vt:lpstr>PARTNERSHIPS </vt:lpstr>
      <vt:lpstr>IMPLEMENTATION TIMELINE – MOOME (NYAGATARE) 12-Month Timeline  </vt:lpstr>
      <vt:lpstr> WOREX Implementation  </vt:lpstr>
      <vt:lpstr>SUSTAINABILITY MECHANISMS/Revenue Streams  </vt:lpstr>
      <vt:lpstr>FUNDING REQUEST – NYAGATARE District  </vt:lpstr>
      <vt:lpstr>DIPLOMATIC PARTNER REQUEST </vt:lpstr>
      <vt:lpstr>CONTACT INFORMATION </vt:lpstr>
      <vt:lpstr>CLOSING STATEMENT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RESOURCES EXCHANGE LTD  (WOREX)</dc:title>
  <dc:creator>Microsoft account</dc:creator>
  <cp:lastModifiedBy>Microsoft account</cp:lastModifiedBy>
  <cp:revision>13</cp:revision>
  <dcterms:created xsi:type="dcterms:W3CDTF">2026-04-06T18:49:53Z</dcterms:created>
  <dcterms:modified xsi:type="dcterms:W3CDTF">2026-04-09T06:29:51Z</dcterms:modified>
</cp:coreProperties>
</file>